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 want to show you a platform that solves a problem every company has — bad data. Most businesses are making decisions every day based on spreadsheets and databases that have errors, missing information, and duplicates. Nobody is checking. That is exactly what DataQuality AI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reality. Every company has data — customer lists, sales records, product catalogs, supplier contacts. But most of that data has hidden errors. Phone numbers that do not work. Duplicate customers. Blank fields. Files nobody has opened in a month. The scary part — business decisions are being made on this bad data every single day. Reports are wrong. Campaigns fail. Orders get missed. And nobody knows because nobody is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DataQuality AI. Think of it as a quality control expert living inside your computer. You give it a file — any spreadsheet or CSV — and it tells you everything that is wrong with it in under a minute. It does this automatically. No setup. No coding. No technical knowledge needed. Then the AI tells you exactly how to fix every single issue it finds.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the first page you see every time you open the platform. Think of it like the dashboard of a car — at a glance you can see if everything is fine or if something needs attention. You see your overall quality score, how many issues exist across all your files, and whether things are improving or getting worse compared to last week. It is your morning briefing in under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is as simple as dragging and dropping a file. That is it. You pick your spreadsheet or CSV file, drop it onto the page, and the platform takes over. It automatically checks for six types of problems: missing values, duplicate records, bad email or phone formats, wrong date formats, unusual numbers, and inconsistencies between columns. The whole thing takes under 30 seconds. You do not need to set anything up or know anything technical.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scan, you land here — the full analysis report. It is like a doctor giving you a check-up report for your data. At the top left you see an overall score out of 100. Then below, you can see every single column in your file listed individually — each one gets its own score and a status label. You can see which columns are healthy and which ones need work. You can also switch between different files at the top to compare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useful page in the platform. Instead of just showing what is wrong, it tells you how to fix it — in plain, simple language. Every issue gets its own card. You can see how serious it is, which column it affects, a plain description of the problem, and a clear suggested fix. When you have made the fix, you click Apply — and the platform saves a record of it. You can undo anything at any time. There is also an AI chat built in where you can type any question and get an instant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History page is like a fitness tracker for your data. Every time you scan a file the result is saved automatically. You can come back at any time to see how your data quality has changed over time. In this example the score went from 71 in January up to 92 in July — a 21 point improvement. That is the kind of story you want to be able to show your manager or your team. Here is the proof that we have been fixing our data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Governance answers three simple questions for every file in your organisation. One — who is the person responsible for keeping this file accurate? Two — when was it last reviewed? Three — is it meeting the quality standard your team agreed on? We call that standard an SLA. If a file is above the standard, it shows Met in green. If it is slipping, it shows At Risk in orange. If it has fallen below the standard, it shows Breached in red. No more guessing who to call when something is wrong — this page tells you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Settings page has four tabs. Profile is where you keep your personal details up to date. Security lets you change your password and review which devices are logged in. Alerts is where you choose how you want to be notified — you can set it to email you, message you on Slack, or send a weekly summary report. You also set the quality score that triggers a warning. And Integrations connects the platform to tools your team already uses — Power BI for dashboards, Slack for alerts, Jira for creating tickets automatically from data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 picture in one view. Five steps take you from raw, broken data to clean, trustworthy data. Upload your file. The platform scans it automatically. You review the full analysis report. The AI tells you exactly how to fix every issue. You apply the fixes with one click. And then Governance, History, and Settings keep the whole team aligned and the improvements lasting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 most companies only find out their data is broken when something has already gone wrong. A report gives the wrong number. A campaign fails. A supplier does not get paid. DataQuality AI finds those problems before they cause damage. It is like having a data quality expert on your team, working around the clock, on every file, automatically. Thank you — I am very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F1E"/>
          </a:solidFill>
          <a:ln w="12700">
            <a:solidFill>
              <a:srgbClr val="0A0F1E"/>
            </a:solidFill>
            <a:prstDash val="solid"/>
          </a:ln>
        </p:spPr>
      </p:sp>
      <p:sp>
        <p:nvSpPr>
          <p:cNvPr id="3" name="Shape 1"/>
          <p:cNvSpPr/>
          <p:nvPr/>
        </p:nvSpPr>
        <p:spPr>
          <a:xfrm>
            <a:off x="-914400" y="-457200"/>
            <a:ext cx="4572000" cy="4572000"/>
          </a:xfrm>
          <a:prstGeom prst="ellipse">
            <a:avLst/>
          </a:prstGeom>
          <a:solidFill>
            <a:srgbClr val="4F46E5">
              <a:alpha val="12000"/>
            </a:srgbClr>
          </a:solidFill>
          <a:ln w="12700">
            <a:solidFill>
              <a:srgbClr val="4F46E5">
                <a:alpha val="12000"/>
              </a:srgbClr>
            </a:solidFill>
            <a:prstDash val="solid"/>
          </a:ln>
        </p:spPr>
      </p:sp>
      <p:sp>
        <p:nvSpPr>
          <p:cNvPr id="4" name="Shape 2"/>
          <p:cNvSpPr/>
          <p:nvPr/>
        </p:nvSpPr>
        <p:spPr>
          <a:xfrm>
            <a:off x="6400800" y="2286000"/>
            <a:ext cx="4114800" cy="4114800"/>
          </a:xfrm>
          <a:prstGeom prst="ellipse">
            <a:avLst/>
          </a:prstGeom>
          <a:solidFill>
            <a:srgbClr val="06B6D4">
              <a:alpha val="10000"/>
            </a:srgbClr>
          </a:solidFill>
          <a:ln w="12700">
            <a:solidFill>
              <a:srgbClr val="06B6D4">
                <a:alpha val="10000"/>
              </a:srgbClr>
            </a:solidFill>
            <a:prstDash val="solid"/>
          </a:ln>
        </p:spPr>
      </p:sp>
      <p:sp>
        <p:nvSpPr>
          <p:cNvPr id="5" name="Shape 3"/>
          <p:cNvSpPr/>
          <p:nvPr/>
        </p:nvSpPr>
        <p:spPr>
          <a:xfrm>
            <a:off x="548640" y="411480"/>
            <a:ext cx="438912" cy="438912"/>
          </a:xfrm>
          <a:prstGeom prst="roundRect">
            <a:avLst>
              <a:gd name="adj" fmla="val 16667"/>
            </a:avLst>
          </a:prstGeom>
          <a:solidFill>
            <a:srgbClr val="4F46E5"/>
          </a:solidFill>
          <a:ln w="12700">
            <a:solidFill>
              <a:srgbClr val="4F46E5"/>
            </a:solidFill>
            <a:prstDash val="solid"/>
          </a:ln>
        </p:spPr>
      </p:sp>
      <p:sp>
        <p:nvSpPr>
          <p:cNvPr id="6" name="Text 4"/>
          <p:cNvSpPr/>
          <p:nvPr/>
        </p:nvSpPr>
        <p:spPr>
          <a:xfrm>
            <a:off x="548640" y="411480"/>
            <a:ext cx="438912" cy="438912"/>
          </a:xfrm>
          <a:prstGeom prst="rect">
            <a:avLst/>
          </a:prstGeom>
          <a:noFill/>
          <a:ln/>
        </p:spPr>
        <p:txBody>
          <a:bodyPr wrap="square" rtlCol="0" anchor="ctr"/>
          <a:lstStyle/>
          <a:p>
            <a:pPr algn="ctr" indent="0" marL="0">
              <a:buNone/>
            </a:pPr>
            <a:r>
              <a:rPr lang="en-US" sz="2000" dirty="0">
                <a:solidFill>
                  <a:srgbClr val="F8FAFC"/>
                </a:solidFill>
              </a:rPr>
              <a:t>✦</a:t>
            </a:r>
            <a:endParaRPr lang="en-US" sz="2000" dirty="0"/>
          </a:p>
        </p:txBody>
      </p:sp>
      <p:sp>
        <p:nvSpPr>
          <p:cNvPr id="7" name="Text 5"/>
          <p:cNvSpPr/>
          <p:nvPr/>
        </p:nvSpPr>
        <p:spPr>
          <a:xfrm>
            <a:off x="1078992" y="457200"/>
            <a:ext cx="2743200" cy="256032"/>
          </a:xfrm>
          <a:prstGeom prst="rect">
            <a:avLst/>
          </a:prstGeom>
          <a:noFill/>
          <a:ln/>
        </p:spPr>
        <p:txBody>
          <a:bodyPr wrap="square" lIns="0" tIns="0" rIns="0" bIns="0" rtlCol="0" anchor="ctr"/>
          <a:lstStyle/>
          <a:p>
            <a:pPr indent="0" marL="0">
              <a:buNone/>
            </a:pPr>
            <a:r>
              <a:rPr lang="en-US" sz="1400" b="1" dirty="0">
                <a:solidFill>
                  <a:srgbClr val="F8FAFC"/>
                </a:solidFill>
              </a:rPr>
              <a:t>DataQuality AI</a:t>
            </a:r>
            <a:endParaRPr lang="en-US" sz="1400" dirty="0"/>
          </a:p>
        </p:txBody>
      </p:sp>
      <p:sp>
        <p:nvSpPr>
          <p:cNvPr id="8" name="Text 6"/>
          <p:cNvSpPr/>
          <p:nvPr/>
        </p:nvSpPr>
        <p:spPr>
          <a:xfrm>
            <a:off x="1078992" y="694944"/>
            <a:ext cx="2743200" cy="201168"/>
          </a:xfrm>
          <a:prstGeom prst="rect">
            <a:avLst/>
          </a:prstGeom>
          <a:noFill/>
          <a:ln/>
        </p:spPr>
        <p:txBody>
          <a:bodyPr wrap="square" lIns="0" tIns="0" rIns="0" bIns="0" rtlCol="0" anchor="ctr"/>
          <a:lstStyle/>
          <a:p>
            <a:pPr indent="0" marL="0">
              <a:buNone/>
            </a:pPr>
            <a:r>
              <a:rPr lang="en-US" sz="1000" spc="100" kern="0" dirty="0">
                <a:solidFill>
                  <a:srgbClr val="94A3B8"/>
                </a:solidFill>
              </a:rPr>
              <a:t>Enterprise Platform</a:t>
            </a:r>
            <a:endParaRPr lang="en-US" sz="1000" dirty="0"/>
          </a:p>
        </p:txBody>
      </p:sp>
      <p:sp>
        <p:nvSpPr>
          <p:cNvPr id="9" name="Text 7"/>
          <p:cNvSpPr/>
          <p:nvPr/>
        </p:nvSpPr>
        <p:spPr>
          <a:xfrm>
            <a:off x="548640" y="1325880"/>
            <a:ext cx="7772400" cy="822960"/>
          </a:xfrm>
          <a:prstGeom prst="rect">
            <a:avLst/>
          </a:prstGeom>
          <a:noFill/>
          <a:ln/>
        </p:spPr>
        <p:txBody>
          <a:bodyPr wrap="square" lIns="0" tIns="0" rIns="0" bIns="0" rtlCol="0" anchor="ctr"/>
          <a:lstStyle/>
          <a:p>
            <a:pPr indent="0" marL="0">
              <a:buNone/>
            </a:pPr>
            <a:r>
              <a:rPr lang="en-US" sz="5200" b="1" dirty="0">
                <a:solidFill>
                  <a:srgbClr val="F8FAFC"/>
                </a:solidFill>
              </a:rPr>
              <a:t>Your Data is Broken.</a:t>
            </a:r>
            <a:endParaRPr lang="en-US" sz="5200" dirty="0"/>
          </a:p>
        </p:txBody>
      </p:sp>
      <p:sp>
        <p:nvSpPr>
          <p:cNvPr id="10" name="Text 8"/>
          <p:cNvSpPr/>
          <p:nvPr/>
        </p:nvSpPr>
        <p:spPr>
          <a:xfrm>
            <a:off x="548640" y="2212848"/>
            <a:ext cx="7772400" cy="822960"/>
          </a:xfrm>
          <a:prstGeom prst="rect">
            <a:avLst/>
          </a:prstGeom>
          <a:noFill/>
          <a:ln/>
        </p:spPr>
        <p:txBody>
          <a:bodyPr wrap="square" lIns="0" tIns="0" rIns="0" bIns="0" rtlCol="0" anchor="ctr"/>
          <a:lstStyle/>
          <a:p>
            <a:pPr indent="0" marL="0">
              <a:buNone/>
            </a:pPr>
            <a:r>
              <a:rPr lang="en-US" sz="5200" b="1" dirty="0">
                <a:solidFill>
                  <a:srgbClr val="06B6D4"/>
                </a:solidFill>
              </a:rPr>
              <a:t>Do You Know?</a:t>
            </a:r>
            <a:endParaRPr lang="en-US" sz="5200" dirty="0"/>
          </a:p>
        </p:txBody>
      </p:sp>
      <p:sp>
        <p:nvSpPr>
          <p:cNvPr id="11" name="Text 9"/>
          <p:cNvSpPr/>
          <p:nvPr/>
        </p:nvSpPr>
        <p:spPr>
          <a:xfrm>
            <a:off x="548640" y="3246120"/>
            <a:ext cx="6858000" cy="548640"/>
          </a:xfrm>
          <a:prstGeom prst="rect">
            <a:avLst/>
          </a:prstGeom>
          <a:noFill/>
          <a:ln/>
        </p:spPr>
        <p:txBody>
          <a:bodyPr wrap="square" lIns="0" tIns="0" rIns="0" bIns="0" rtlCol="0" anchor="ctr"/>
          <a:lstStyle/>
          <a:p>
            <a:pPr indent="0" marL="0">
              <a:lnSpc>
                <a:spcPts val="2000"/>
              </a:lnSpc>
              <a:buNone/>
            </a:pPr>
            <a:r>
              <a:rPr lang="en-US" sz="1300" dirty="0">
                <a:solidFill>
                  <a:srgbClr val="94A3B8"/>
                </a:solidFill>
              </a:rPr>
              <a:t>A plain-English walkthrough of DataQuality AI — what it does, why it matters, and how it helps your business.</a:t>
            </a:r>
            <a:endParaRPr lang="en-US" sz="1300" dirty="0"/>
          </a:p>
        </p:txBody>
      </p:sp>
      <p:sp>
        <p:nvSpPr>
          <p:cNvPr id="12" name="Text 10"/>
          <p:cNvSpPr/>
          <p:nvPr/>
        </p:nvSpPr>
        <p:spPr>
          <a:xfrm>
            <a:off x="548640" y="4160520"/>
            <a:ext cx="2560320" cy="402336"/>
          </a:xfrm>
          <a:prstGeom prst="rect">
            <a:avLst/>
          </a:prstGeom>
          <a:noFill/>
          <a:ln/>
        </p:spPr>
        <p:txBody>
          <a:bodyPr wrap="square" lIns="0" tIns="0" rIns="0" bIns="0" rtlCol="0" anchor="ctr"/>
          <a:lstStyle/>
          <a:p>
            <a:pPr algn="ctr" indent="0" marL="0">
              <a:buNone/>
            </a:pPr>
            <a:r>
              <a:rPr lang="en-US" sz="2200" b="1" dirty="0">
                <a:solidFill>
                  <a:srgbClr val="4F46E5"/>
                </a:solidFill>
              </a:rPr>
              <a:t>500+</a:t>
            </a:r>
            <a:endParaRPr lang="en-US" sz="2200" dirty="0"/>
          </a:p>
        </p:txBody>
      </p:sp>
      <p:sp>
        <p:nvSpPr>
          <p:cNvPr id="13" name="Text 11"/>
          <p:cNvSpPr/>
          <p:nvPr/>
        </p:nvSpPr>
        <p:spPr>
          <a:xfrm>
            <a:off x="548640" y="4544568"/>
            <a:ext cx="2560320" cy="256032"/>
          </a:xfrm>
          <a:prstGeom prst="rect">
            <a:avLst/>
          </a:prstGeom>
          <a:noFill/>
          <a:ln/>
        </p:spPr>
        <p:txBody>
          <a:bodyPr wrap="square" lIns="0" tIns="0" rIns="0" bIns="0" rtlCol="0" anchor="ctr"/>
          <a:lstStyle/>
          <a:p>
            <a:pPr algn="ctr" indent="0" marL="0">
              <a:buNone/>
            </a:pPr>
            <a:r>
              <a:rPr lang="en-US" sz="1000" dirty="0">
                <a:solidFill>
                  <a:srgbClr val="94A3B8"/>
                </a:solidFill>
              </a:rPr>
              <a:t>Companies using it</a:t>
            </a:r>
            <a:endParaRPr lang="en-US" sz="1000" dirty="0"/>
          </a:p>
        </p:txBody>
      </p:sp>
      <p:sp>
        <p:nvSpPr>
          <p:cNvPr id="14" name="Text 12"/>
          <p:cNvSpPr/>
          <p:nvPr/>
        </p:nvSpPr>
        <p:spPr>
          <a:xfrm>
            <a:off x="3383280" y="4160520"/>
            <a:ext cx="2560320" cy="402336"/>
          </a:xfrm>
          <a:prstGeom prst="rect">
            <a:avLst/>
          </a:prstGeom>
          <a:noFill/>
          <a:ln/>
        </p:spPr>
        <p:txBody>
          <a:bodyPr wrap="square" lIns="0" tIns="0" rIns="0" bIns="0" rtlCol="0" anchor="ctr"/>
          <a:lstStyle/>
          <a:p>
            <a:pPr algn="ctr" indent="0" marL="0">
              <a:buNone/>
            </a:pPr>
            <a:r>
              <a:rPr lang="en-US" sz="2200" b="1" dirty="0">
                <a:solidFill>
                  <a:srgbClr val="4F46E5"/>
                </a:solidFill>
              </a:rPr>
              <a:t>2.1B+</a:t>
            </a:r>
            <a:endParaRPr lang="en-US" sz="2200" dirty="0"/>
          </a:p>
        </p:txBody>
      </p:sp>
      <p:sp>
        <p:nvSpPr>
          <p:cNvPr id="15" name="Text 13"/>
          <p:cNvSpPr/>
          <p:nvPr/>
        </p:nvSpPr>
        <p:spPr>
          <a:xfrm>
            <a:off x="3383280" y="4544568"/>
            <a:ext cx="2560320" cy="256032"/>
          </a:xfrm>
          <a:prstGeom prst="rect">
            <a:avLst/>
          </a:prstGeom>
          <a:noFill/>
          <a:ln/>
        </p:spPr>
        <p:txBody>
          <a:bodyPr wrap="square" lIns="0" tIns="0" rIns="0" bIns="0" rtlCol="0" anchor="ctr"/>
          <a:lstStyle/>
          <a:p>
            <a:pPr algn="ctr" indent="0" marL="0">
              <a:buNone/>
            </a:pPr>
            <a:r>
              <a:rPr lang="en-US" sz="1000" dirty="0">
                <a:solidFill>
                  <a:srgbClr val="94A3B8"/>
                </a:solidFill>
              </a:rPr>
              <a:t>Records scanned</a:t>
            </a:r>
            <a:endParaRPr lang="en-US" sz="1000" dirty="0"/>
          </a:p>
        </p:txBody>
      </p:sp>
      <p:sp>
        <p:nvSpPr>
          <p:cNvPr id="16" name="Text 14"/>
          <p:cNvSpPr/>
          <p:nvPr/>
        </p:nvSpPr>
        <p:spPr>
          <a:xfrm>
            <a:off x="6217920" y="4160520"/>
            <a:ext cx="2560320" cy="402336"/>
          </a:xfrm>
          <a:prstGeom prst="rect">
            <a:avLst/>
          </a:prstGeom>
          <a:noFill/>
          <a:ln/>
        </p:spPr>
        <p:txBody>
          <a:bodyPr wrap="square" lIns="0" tIns="0" rIns="0" bIns="0" rtlCol="0" anchor="ctr"/>
          <a:lstStyle/>
          <a:p>
            <a:pPr algn="ctr" indent="0" marL="0">
              <a:buNone/>
            </a:pPr>
            <a:r>
              <a:rPr lang="en-US" sz="2200" b="1" dirty="0">
                <a:solidFill>
                  <a:srgbClr val="4F46E5"/>
                </a:solidFill>
              </a:rPr>
              <a:t>99.9%</a:t>
            </a:r>
            <a:endParaRPr lang="en-US" sz="2200" dirty="0"/>
          </a:p>
        </p:txBody>
      </p:sp>
      <p:sp>
        <p:nvSpPr>
          <p:cNvPr id="17" name="Text 15"/>
          <p:cNvSpPr/>
          <p:nvPr/>
        </p:nvSpPr>
        <p:spPr>
          <a:xfrm>
            <a:off x="6217920" y="4544568"/>
            <a:ext cx="2560320" cy="256032"/>
          </a:xfrm>
          <a:prstGeom prst="rect">
            <a:avLst/>
          </a:prstGeom>
          <a:noFill/>
          <a:ln/>
        </p:spPr>
        <p:txBody>
          <a:bodyPr wrap="square" lIns="0" tIns="0" rIns="0" bIns="0" rtlCol="0" anchor="ctr"/>
          <a:lstStyle/>
          <a:p>
            <a:pPr algn="ctr" indent="0" marL="0">
              <a:buNone/>
            </a:pPr>
            <a:r>
              <a:rPr lang="en-US" sz="1000" dirty="0">
                <a:solidFill>
                  <a:srgbClr val="94A3B8"/>
                </a:solidFill>
              </a:rPr>
              <a:t>Platform uptime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F1E"/>
          </a:solidFill>
          <a:ln w="12700">
            <a:solidFill>
              <a:srgbClr val="0A0F1E"/>
            </a:solidFill>
            <a:prstDash val="solid"/>
          </a:ln>
        </p:spPr>
      </p:sp>
      <p:sp>
        <p:nvSpPr>
          <p:cNvPr id="3" name="Shape 1"/>
          <p:cNvSpPr/>
          <p:nvPr/>
        </p:nvSpPr>
        <p:spPr>
          <a:xfrm>
            <a:off x="0" y="0"/>
            <a:ext cx="45720" cy="5143500"/>
          </a:xfrm>
          <a:prstGeom prst="rect">
            <a:avLst/>
          </a:prstGeom>
          <a:solidFill>
            <a:srgbClr val="F43F5E"/>
          </a:solidFill>
          <a:ln w="12700">
            <a:solidFill>
              <a:srgbClr val="F43F5E"/>
            </a:solidFill>
            <a:prstDash val="solid"/>
          </a:ln>
        </p:spPr>
      </p:sp>
      <p:sp>
        <p:nvSpPr>
          <p:cNvPr id="4" name="Text 2"/>
          <p:cNvSpPr/>
          <p:nvPr/>
        </p:nvSpPr>
        <p:spPr>
          <a:xfrm>
            <a:off x="502920" y="274320"/>
            <a:ext cx="8229600" cy="347472"/>
          </a:xfrm>
          <a:prstGeom prst="rect">
            <a:avLst/>
          </a:prstGeom>
          <a:noFill/>
          <a:ln/>
        </p:spPr>
        <p:txBody>
          <a:bodyPr wrap="square" lIns="0" tIns="0" rIns="0" bIns="0" rtlCol="0" anchor="ctr"/>
          <a:lstStyle/>
          <a:p>
            <a:pPr indent="0" marL="0">
              <a:buNone/>
            </a:pPr>
            <a:r>
              <a:rPr lang="en-US" sz="1100" b="1" spc="200" kern="0" dirty="0">
                <a:solidFill>
                  <a:srgbClr val="F43F5E"/>
                </a:solidFill>
              </a:rPr>
              <a:t>The Problem</a:t>
            </a:r>
            <a:endParaRPr lang="en-US" sz="1100" dirty="0"/>
          </a:p>
        </p:txBody>
      </p:sp>
      <p:sp>
        <p:nvSpPr>
          <p:cNvPr id="5" name="Text 3"/>
          <p:cNvSpPr/>
          <p:nvPr/>
        </p:nvSpPr>
        <p:spPr>
          <a:xfrm>
            <a:off x="502920" y="685800"/>
            <a:ext cx="8229600" cy="502920"/>
          </a:xfrm>
          <a:prstGeom prst="rect">
            <a:avLst/>
          </a:prstGeom>
          <a:noFill/>
          <a:ln/>
        </p:spPr>
        <p:txBody>
          <a:bodyPr wrap="square" lIns="0" tIns="0" rIns="0" bIns="0" rtlCol="0" anchor="ctr"/>
          <a:lstStyle/>
          <a:p>
            <a:pPr indent="0" marL="0">
              <a:buNone/>
            </a:pPr>
            <a:r>
              <a:rPr lang="en-US" sz="3300" b="1" dirty="0">
                <a:solidFill>
                  <a:srgbClr val="F8FAFC"/>
                </a:solidFill>
              </a:rPr>
              <a:t>Every company runs on data.</a:t>
            </a:r>
            <a:endParaRPr lang="en-US" sz="3300" dirty="0"/>
          </a:p>
        </p:txBody>
      </p:sp>
      <p:sp>
        <p:nvSpPr>
          <p:cNvPr id="6" name="Text 4"/>
          <p:cNvSpPr/>
          <p:nvPr/>
        </p:nvSpPr>
        <p:spPr>
          <a:xfrm>
            <a:off x="502920" y="1170432"/>
            <a:ext cx="8229600" cy="411480"/>
          </a:xfrm>
          <a:prstGeom prst="rect">
            <a:avLst/>
          </a:prstGeom>
          <a:noFill/>
          <a:ln/>
        </p:spPr>
        <p:txBody>
          <a:bodyPr wrap="square" lIns="0" tIns="0" rIns="0" bIns="0" rtlCol="0" anchor="ctr"/>
          <a:lstStyle/>
          <a:p>
            <a:pPr indent="0" marL="0">
              <a:buNone/>
            </a:pPr>
            <a:r>
              <a:rPr lang="en-US" sz="2000" dirty="0">
                <a:solidFill>
                  <a:srgbClr val="94A3B8"/>
                </a:solidFill>
              </a:rPr>
              <a:t>Most of it has errors that nobody is catching.</a:t>
            </a:r>
            <a:endParaRPr lang="en-US" sz="2000" dirty="0"/>
          </a:p>
        </p:txBody>
      </p:sp>
      <p:sp>
        <p:nvSpPr>
          <p:cNvPr id="7" name="Shape 5"/>
          <p:cNvSpPr/>
          <p:nvPr/>
        </p:nvSpPr>
        <p:spPr>
          <a:xfrm>
            <a:off x="502920" y="1828800"/>
            <a:ext cx="2011680" cy="2743200"/>
          </a:xfrm>
          <a:prstGeom prst="roundRect">
            <a:avLst>
              <a:gd name="adj" fmla="val 3182"/>
            </a:avLst>
          </a:prstGeom>
          <a:solidFill>
            <a:srgbClr val="161D2F"/>
          </a:solidFill>
          <a:ln w="12700">
            <a:solidFill>
              <a:srgbClr val="1E293B"/>
            </a:solidFill>
            <a:prstDash val="solid"/>
          </a:ln>
        </p:spPr>
      </p:sp>
      <p:sp>
        <p:nvSpPr>
          <p:cNvPr id="8" name="Text 6"/>
          <p:cNvSpPr/>
          <p:nvPr/>
        </p:nvSpPr>
        <p:spPr>
          <a:xfrm>
            <a:off x="502920" y="1965960"/>
            <a:ext cx="2011680" cy="5029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9" name="Text 7"/>
          <p:cNvSpPr/>
          <p:nvPr/>
        </p:nvSpPr>
        <p:spPr>
          <a:xfrm>
            <a:off x="594360" y="2578608"/>
            <a:ext cx="1828800" cy="347472"/>
          </a:xfrm>
          <a:prstGeom prst="rect">
            <a:avLst/>
          </a:prstGeom>
          <a:noFill/>
          <a:ln/>
        </p:spPr>
        <p:txBody>
          <a:bodyPr wrap="square" lIns="0" tIns="0" rIns="0" bIns="0" rtlCol="0" anchor="ctr"/>
          <a:lstStyle/>
          <a:p>
            <a:pPr algn="ctr" indent="0" marL="0">
              <a:buNone/>
            </a:pPr>
            <a:r>
              <a:rPr lang="en-US" sz="1200" b="1" dirty="0">
                <a:solidFill>
                  <a:srgbClr val="F8FAFC"/>
                </a:solidFill>
              </a:rPr>
              <a:t>Wrong contact details</a:t>
            </a:r>
            <a:endParaRPr lang="en-US" sz="1200" dirty="0"/>
          </a:p>
        </p:txBody>
      </p:sp>
      <p:sp>
        <p:nvSpPr>
          <p:cNvPr id="10" name="Text 8"/>
          <p:cNvSpPr/>
          <p:nvPr/>
        </p:nvSpPr>
        <p:spPr>
          <a:xfrm>
            <a:off x="594360" y="2999232"/>
            <a:ext cx="1828800" cy="1280160"/>
          </a:xfrm>
          <a:prstGeom prst="rect">
            <a:avLst/>
          </a:prstGeom>
          <a:noFill/>
          <a:ln/>
        </p:spPr>
        <p:txBody>
          <a:bodyPr wrap="square" lIns="0" tIns="0" rIns="0" bIns="0" rtlCol="0" anchor="ctr"/>
          <a:lstStyle/>
          <a:p>
            <a:pPr algn="ctr" indent="0" marL="0">
              <a:lnSpc>
                <a:spcPts val="1600"/>
              </a:lnSpc>
              <a:buNone/>
            </a:pPr>
            <a:r>
              <a:rPr lang="en-US" sz="1050" dirty="0">
                <a:solidFill>
                  <a:srgbClr val="94A3B8"/>
                </a:solidFill>
              </a:rPr>
              <a:t>Phone numbers and emails are invalid, so customers cannot be reached at all.</a:t>
            </a:r>
            <a:endParaRPr lang="en-US" sz="1050" dirty="0"/>
          </a:p>
        </p:txBody>
      </p:sp>
      <p:sp>
        <p:nvSpPr>
          <p:cNvPr id="11" name="Shape 9"/>
          <p:cNvSpPr/>
          <p:nvPr/>
        </p:nvSpPr>
        <p:spPr>
          <a:xfrm>
            <a:off x="2679192" y="1828800"/>
            <a:ext cx="2011680" cy="2743200"/>
          </a:xfrm>
          <a:prstGeom prst="roundRect">
            <a:avLst>
              <a:gd name="adj" fmla="val 3182"/>
            </a:avLst>
          </a:prstGeom>
          <a:solidFill>
            <a:srgbClr val="161D2F"/>
          </a:solidFill>
          <a:ln w="12700">
            <a:solidFill>
              <a:srgbClr val="1E293B"/>
            </a:solidFill>
            <a:prstDash val="solid"/>
          </a:ln>
        </p:spPr>
      </p:sp>
      <p:sp>
        <p:nvSpPr>
          <p:cNvPr id="12" name="Text 10"/>
          <p:cNvSpPr/>
          <p:nvPr/>
        </p:nvSpPr>
        <p:spPr>
          <a:xfrm>
            <a:off x="2679192" y="1965960"/>
            <a:ext cx="2011680" cy="5029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3" name="Text 11"/>
          <p:cNvSpPr/>
          <p:nvPr/>
        </p:nvSpPr>
        <p:spPr>
          <a:xfrm>
            <a:off x="2770632" y="2578608"/>
            <a:ext cx="1828800" cy="347472"/>
          </a:xfrm>
          <a:prstGeom prst="rect">
            <a:avLst/>
          </a:prstGeom>
          <a:noFill/>
          <a:ln/>
        </p:spPr>
        <p:txBody>
          <a:bodyPr wrap="square" lIns="0" tIns="0" rIns="0" bIns="0" rtlCol="0" anchor="ctr"/>
          <a:lstStyle/>
          <a:p>
            <a:pPr algn="ctr" indent="0" marL="0">
              <a:buNone/>
            </a:pPr>
            <a:r>
              <a:rPr lang="en-US" sz="1200" b="1" dirty="0">
                <a:solidFill>
                  <a:srgbClr val="F8FAFC"/>
                </a:solidFill>
              </a:rPr>
              <a:t>Duplicate records</a:t>
            </a:r>
            <a:endParaRPr lang="en-US" sz="1200" dirty="0"/>
          </a:p>
        </p:txBody>
      </p:sp>
      <p:sp>
        <p:nvSpPr>
          <p:cNvPr id="14" name="Text 12"/>
          <p:cNvSpPr/>
          <p:nvPr/>
        </p:nvSpPr>
        <p:spPr>
          <a:xfrm>
            <a:off x="2770632" y="2999232"/>
            <a:ext cx="1828800" cy="1280160"/>
          </a:xfrm>
          <a:prstGeom prst="rect">
            <a:avLst/>
          </a:prstGeom>
          <a:noFill/>
          <a:ln/>
        </p:spPr>
        <p:txBody>
          <a:bodyPr wrap="square" lIns="0" tIns="0" rIns="0" bIns="0" rtlCol="0" anchor="ctr"/>
          <a:lstStyle/>
          <a:p>
            <a:pPr algn="ctr" indent="0" marL="0">
              <a:lnSpc>
                <a:spcPts val="1600"/>
              </a:lnSpc>
              <a:buNone/>
            </a:pPr>
            <a:r>
              <a:rPr lang="en-US" sz="1050" dirty="0">
                <a:solidFill>
                  <a:srgbClr val="94A3B8"/>
                </a:solidFill>
              </a:rPr>
              <a:t>The same customer appears multiple times, making reports show inflated numbers.</a:t>
            </a:r>
            <a:endParaRPr lang="en-US" sz="1050" dirty="0"/>
          </a:p>
        </p:txBody>
      </p:sp>
      <p:sp>
        <p:nvSpPr>
          <p:cNvPr id="15" name="Shape 13"/>
          <p:cNvSpPr/>
          <p:nvPr/>
        </p:nvSpPr>
        <p:spPr>
          <a:xfrm>
            <a:off x="4855464" y="1828800"/>
            <a:ext cx="2011680" cy="2743200"/>
          </a:xfrm>
          <a:prstGeom prst="roundRect">
            <a:avLst>
              <a:gd name="adj" fmla="val 3182"/>
            </a:avLst>
          </a:prstGeom>
          <a:solidFill>
            <a:srgbClr val="161D2F"/>
          </a:solidFill>
          <a:ln w="12700">
            <a:solidFill>
              <a:srgbClr val="1E293B"/>
            </a:solidFill>
            <a:prstDash val="solid"/>
          </a:ln>
        </p:spPr>
      </p:sp>
      <p:sp>
        <p:nvSpPr>
          <p:cNvPr id="16" name="Text 14"/>
          <p:cNvSpPr/>
          <p:nvPr/>
        </p:nvSpPr>
        <p:spPr>
          <a:xfrm>
            <a:off x="4855464" y="1965960"/>
            <a:ext cx="2011680" cy="5029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7" name="Text 15"/>
          <p:cNvSpPr/>
          <p:nvPr/>
        </p:nvSpPr>
        <p:spPr>
          <a:xfrm>
            <a:off x="4946904" y="2578608"/>
            <a:ext cx="1828800" cy="347472"/>
          </a:xfrm>
          <a:prstGeom prst="rect">
            <a:avLst/>
          </a:prstGeom>
          <a:noFill/>
          <a:ln/>
        </p:spPr>
        <p:txBody>
          <a:bodyPr wrap="square" lIns="0" tIns="0" rIns="0" bIns="0" rtlCol="0" anchor="ctr"/>
          <a:lstStyle/>
          <a:p>
            <a:pPr algn="ctr" indent="0" marL="0">
              <a:buNone/>
            </a:pPr>
            <a:r>
              <a:rPr lang="en-US" sz="1200" b="1" dirty="0">
                <a:solidFill>
                  <a:srgbClr val="F8FAFC"/>
                </a:solidFill>
              </a:rPr>
              <a:t>Reports are wrong</a:t>
            </a:r>
            <a:endParaRPr lang="en-US" sz="1200" dirty="0"/>
          </a:p>
        </p:txBody>
      </p:sp>
      <p:sp>
        <p:nvSpPr>
          <p:cNvPr id="18" name="Text 16"/>
          <p:cNvSpPr/>
          <p:nvPr/>
        </p:nvSpPr>
        <p:spPr>
          <a:xfrm>
            <a:off x="4946904" y="2999232"/>
            <a:ext cx="1828800" cy="1280160"/>
          </a:xfrm>
          <a:prstGeom prst="rect">
            <a:avLst/>
          </a:prstGeom>
          <a:noFill/>
          <a:ln/>
        </p:spPr>
        <p:txBody>
          <a:bodyPr wrap="square" lIns="0" tIns="0" rIns="0" bIns="0" rtlCol="0" anchor="ctr"/>
          <a:lstStyle/>
          <a:p>
            <a:pPr algn="ctr" indent="0" marL="0">
              <a:lnSpc>
                <a:spcPts val="1600"/>
              </a:lnSpc>
              <a:buNone/>
            </a:pPr>
            <a:r>
              <a:rPr lang="en-US" sz="1050" dirty="0">
                <a:solidFill>
                  <a:srgbClr val="94A3B8"/>
                </a:solidFill>
              </a:rPr>
              <a:t>Business decisions are made on numbers that are simply incorrect.</a:t>
            </a:r>
            <a:endParaRPr lang="en-US" sz="1050" dirty="0"/>
          </a:p>
        </p:txBody>
      </p:sp>
      <p:sp>
        <p:nvSpPr>
          <p:cNvPr id="19" name="Shape 17"/>
          <p:cNvSpPr/>
          <p:nvPr/>
        </p:nvSpPr>
        <p:spPr>
          <a:xfrm>
            <a:off x="7031736" y="1828800"/>
            <a:ext cx="2011680" cy="2743200"/>
          </a:xfrm>
          <a:prstGeom prst="roundRect">
            <a:avLst>
              <a:gd name="adj" fmla="val 3182"/>
            </a:avLst>
          </a:prstGeom>
          <a:solidFill>
            <a:srgbClr val="161D2F"/>
          </a:solidFill>
          <a:ln w="12700">
            <a:solidFill>
              <a:srgbClr val="1E293B"/>
            </a:solidFill>
            <a:prstDash val="solid"/>
          </a:ln>
        </p:spPr>
      </p:sp>
      <p:sp>
        <p:nvSpPr>
          <p:cNvPr id="20" name="Text 18"/>
          <p:cNvSpPr/>
          <p:nvPr/>
        </p:nvSpPr>
        <p:spPr>
          <a:xfrm>
            <a:off x="7031736" y="1965960"/>
            <a:ext cx="2011680" cy="5029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1" name="Text 19"/>
          <p:cNvSpPr/>
          <p:nvPr/>
        </p:nvSpPr>
        <p:spPr>
          <a:xfrm>
            <a:off x="7123176" y="2578608"/>
            <a:ext cx="1828800" cy="347472"/>
          </a:xfrm>
          <a:prstGeom prst="rect">
            <a:avLst/>
          </a:prstGeom>
          <a:noFill/>
          <a:ln/>
        </p:spPr>
        <p:txBody>
          <a:bodyPr wrap="square" lIns="0" tIns="0" rIns="0" bIns="0" rtlCol="0" anchor="ctr"/>
          <a:lstStyle/>
          <a:p>
            <a:pPr algn="ctr" indent="0" marL="0">
              <a:buNone/>
            </a:pPr>
            <a:r>
              <a:rPr lang="en-US" sz="1200" b="1" dirty="0">
                <a:solidFill>
                  <a:srgbClr val="F8FAFC"/>
                </a:solidFill>
              </a:rPr>
              <a:t>Nobody is checking</a:t>
            </a:r>
            <a:endParaRPr lang="en-US" sz="1200" dirty="0"/>
          </a:p>
        </p:txBody>
      </p:sp>
      <p:sp>
        <p:nvSpPr>
          <p:cNvPr id="22" name="Text 20"/>
          <p:cNvSpPr/>
          <p:nvPr/>
        </p:nvSpPr>
        <p:spPr>
          <a:xfrm>
            <a:off x="7123176" y="2999232"/>
            <a:ext cx="1828800" cy="1280160"/>
          </a:xfrm>
          <a:prstGeom prst="rect">
            <a:avLst/>
          </a:prstGeom>
          <a:noFill/>
          <a:ln/>
        </p:spPr>
        <p:txBody>
          <a:bodyPr wrap="square" lIns="0" tIns="0" rIns="0" bIns="0" rtlCol="0" anchor="ctr"/>
          <a:lstStyle/>
          <a:p>
            <a:pPr algn="ctr" indent="0" marL="0">
              <a:lnSpc>
                <a:spcPts val="1600"/>
              </a:lnSpc>
              <a:buNone/>
            </a:pPr>
            <a:r>
              <a:rPr lang="en-US" sz="1050" dirty="0">
                <a:solidFill>
                  <a:srgbClr val="94A3B8"/>
                </a:solidFill>
              </a:rPr>
              <a:t>Files go unchecked for weeks. Problems grow silently in the background.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F1E"/>
          </a:solidFill>
          <a:ln w="12700">
            <a:solidFill>
              <a:srgbClr val="0A0F1E"/>
            </a:solidFill>
            <a:prstDash val="solid"/>
          </a:ln>
        </p:spPr>
      </p:sp>
      <p:sp>
        <p:nvSpPr>
          <p:cNvPr id="3" name="Shape 1"/>
          <p:cNvSpPr/>
          <p:nvPr/>
        </p:nvSpPr>
        <p:spPr>
          <a:xfrm>
            <a:off x="0" y="0"/>
            <a:ext cx="45720" cy="5143500"/>
          </a:xfrm>
          <a:prstGeom prst="rect">
            <a:avLst/>
          </a:prstGeom>
          <a:solidFill>
            <a:srgbClr val="10B981"/>
          </a:solidFill>
          <a:ln w="12700">
            <a:solidFill>
              <a:srgbClr val="10B981"/>
            </a:solidFill>
            <a:prstDash val="solid"/>
          </a:ln>
        </p:spPr>
      </p:sp>
      <p:sp>
        <p:nvSpPr>
          <p:cNvPr id="4" name="Text 2"/>
          <p:cNvSpPr/>
          <p:nvPr/>
        </p:nvSpPr>
        <p:spPr>
          <a:xfrm>
            <a:off x="502920" y="274320"/>
            <a:ext cx="8229600" cy="347472"/>
          </a:xfrm>
          <a:prstGeom prst="rect">
            <a:avLst/>
          </a:prstGeom>
          <a:noFill/>
          <a:ln/>
        </p:spPr>
        <p:txBody>
          <a:bodyPr wrap="square" lIns="0" tIns="0" rIns="0" bIns="0" rtlCol="0" anchor="ctr"/>
          <a:lstStyle/>
          <a:p>
            <a:pPr indent="0" marL="0">
              <a:buNone/>
            </a:pPr>
            <a:r>
              <a:rPr lang="en-US" sz="1100" b="1" spc="200" kern="0" dirty="0">
                <a:solidFill>
                  <a:srgbClr val="10B981"/>
                </a:solidFill>
              </a:rPr>
              <a:t>The Solution</a:t>
            </a:r>
            <a:endParaRPr lang="en-US" sz="1100" dirty="0"/>
          </a:p>
        </p:txBody>
      </p:sp>
      <p:sp>
        <p:nvSpPr>
          <p:cNvPr id="5" name="Text 3"/>
          <p:cNvSpPr/>
          <p:nvPr/>
        </p:nvSpPr>
        <p:spPr>
          <a:xfrm>
            <a:off x="502920" y="685800"/>
            <a:ext cx="8229600" cy="548640"/>
          </a:xfrm>
          <a:prstGeom prst="rect">
            <a:avLst/>
          </a:prstGeom>
          <a:noFill/>
          <a:ln/>
        </p:spPr>
        <p:txBody>
          <a:bodyPr wrap="square" lIns="0" tIns="0" rIns="0" bIns="0" rtlCol="0" anchor="ctr"/>
          <a:lstStyle/>
          <a:p>
            <a:pPr indent="0" marL="0">
              <a:buNone/>
            </a:pPr>
            <a:r>
              <a:rPr lang="en-US" sz="3600" b="1" dirty="0">
                <a:solidFill>
                  <a:srgbClr val="F8FAFC"/>
                </a:solidFill>
              </a:rPr>
              <a:t>Meet DataQuality AI</a:t>
            </a:r>
            <a:endParaRPr lang="en-US" sz="3600" dirty="0"/>
          </a:p>
        </p:txBody>
      </p:sp>
      <p:sp>
        <p:nvSpPr>
          <p:cNvPr id="6" name="Text 4"/>
          <p:cNvSpPr/>
          <p:nvPr/>
        </p:nvSpPr>
        <p:spPr>
          <a:xfrm>
            <a:off x="502920" y="1261872"/>
            <a:ext cx="8229600" cy="384048"/>
          </a:xfrm>
          <a:prstGeom prst="rect">
            <a:avLst/>
          </a:prstGeom>
          <a:noFill/>
          <a:ln/>
        </p:spPr>
        <p:txBody>
          <a:bodyPr wrap="square" lIns="0" tIns="0" rIns="0" bIns="0" rtlCol="0" anchor="ctr"/>
          <a:lstStyle/>
          <a:p>
            <a:pPr indent="0" marL="0">
              <a:buNone/>
            </a:pPr>
            <a:r>
              <a:rPr lang="en-US" sz="1300" dirty="0">
                <a:solidFill>
                  <a:srgbClr val="94A3B8"/>
                </a:solidFill>
              </a:rPr>
              <a:t>One platform that scans your data, finds every problem, and tells you exactly how to fix it — in plain English.</a:t>
            </a:r>
            <a:endParaRPr lang="en-US" sz="1300" dirty="0"/>
          </a:p>
        </p:txBody>
      </p:sp>
      <p:sp>
        <p:nvSpPr>
          <p:cNvPr id="7" name="Shape 5"/>
          <p:cNvSpPr/>
          <p:nvPr/>
        </p:nvSpPr>
        <p:spPr>
          <a:xfrm>
            <a:off x="457200" y="1828800"/>
            <a:ext cx="1508760" cy="2331720"/>
          </a:xfrm>
          <a:prstGeom prst="roundRect">
            <a:avLst>
              <a:gd name="adj" fmla="val 4242"/>
            </a:avLst>
          </a:prstGeom>
          <a:solidFill>
            <a:srgbClr val="161D2F"/>
          </a:solidFill>
          <a:ln w="12700">
            <a:solidFill>
              <a:srgbClr val="1E293B"/>
            </a:solidFill>
            <a:prstDash val="solid"/>
          </a:ln>
        </p:spPr>
      </p:sp>
      <p:sp>
        <p:nvSpPr>
          <p:cNvPr id="8" name="Shape 6"/>
          <p:cNvSpPr/>
          <p:nvPr/>
        </p:nvSpPr>
        <p:spPr>
          <a:xfrm>
            <a:off x="978408" y="1956816"/>
            <a:ext cx="475488" cy="475488"/>
          </a:xfrm>
          <a:prstGeom prst="ellipse">
            <a:avLst/>
          </a:prstGeom>
          <a:solidFill>
            <a:srgbClr val="334155"/>
          </a:solidFill>
          <a:ln w="25400">
            <a:solidFill>
              <a:srgbClr val="4F46E5"/>
            </a:solidFill>
            <a:prstDash val="solid"/>
          </a:ln>
        </p:spPr>
      </p:sp>
      <p:sp>
        <p:nvSpPr>
          <p:cNvPr id="9" name="Text 7"/>
          <p:cNvSpPr/>
          <p:nvPr/>
        </p:nvSpPr>
        <p:spPr>
          <a:xfrm>
            <a:off x="978408" y="1956816"/>
            <a:ext cx="475488" cy="47548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0" name="Text 8"/>
          <p:cNvSpPr/>
          <p:nvPr/>
        </p:nvSpPr>
        <p:spPr>
          <a:xfrm>
            <a:off x="502920" y="2523744"/>
            <a:ext cx="1417320" cy="310896"/>
          </a:xfrm>
          <a:prstGeom prst="rect">
            <a:avLst/>
          </a:prstGeom>
          <a:noFill/>
          <a:ln/>
        </p:spPr>
        <p:txBody>
          <a:bodyPr wrap="square" lIns="0" tIns="0" rIns="0" bIns="0" rtlCol="0" anchor="ctr"/>
          <a:lstStyle/>
          <a:p>
            <a:pPr algn="ctr" indent="0" marL="0">
              <a:buNone/>
            </a:pPr>
            <a:r>
              <a:rPr lang="en-US" sz="1300" b="1" dirty="0">
                <a:solidFill>
                  <a:srgbClr val="F8FAFC"/>
                </a:solidFill>
              </a:rPr>
              <a:t>Upload</a:t>
            </a:r>
            <a:endParaRPr lang="en-US" sz="1300" dirty="0"/>
          </a:p>
        </p:txBody>
      </p:sp>
      <p:sp>
        <p:nvSpPr>
          <p:cNvPr id="11" name="Text 9"/>
          <p:cNvSpPr/>
          <p:nvPr/>
        </p:nvSpPr>
        <p:spPr>
          <a:xfrm>
            <a:off x="502920" y="2862072"/>
            <a:ext cx="1417320" cy="457200"/>
          </a:xfrm>
          <a:prstGeom prst="rect">
            <a:avLst/>
          </a:prstGeom>
          <a:noFill/>
          <a:ln/>
        </p:spPr>
        <p:txBody>
          <a:bodyPr wrap="square" lIns="0" tIns="0" rIns="0" bIns="0" rtlCol="0" anchor="ctr"/>
          <a:lstStyle/>
          <a:p>
            <a:pPr algn="ctr" indent="0" marL="0">
              <a:lnSpc>
                <a:spcPts val="1400"/>
              </a:lnSpc>
              <a:buNone/>
            </a:pPr>
            <a:r>
              <a:rPr lang="en-US" sz="1000" dirty="0">
                <a:solidFill>
                  <a:srgbClr val="94A3B8"/>
                </a:solidFill>
              </a:rPr>
              <a:t>Drop any file</a:t>
            </a:r>
            <a:endParaRPr lang="en-US" sz="1000" dirty="0"/>
          </a:p>
        </p:txBody>
      </p:sp>
      <p:sp>
        <p:nvSpPr>
          <p:cNvPr id="12" name="Text 10"/>
          <p:cNvSpPr/>
          <p:nvPr/>
        </p:nvSpPr>
        <p:spPr>
          <a:xfrm>
            <a:off x="1965960" y="2697480"/>
            <a:ext cx="155448" cy="320040"/>
          </a:xfrm>
          <a:prstGeom prst="rect">
            <a:avLst/>
          </a:prstGeom>
          <a:noFill/>
          <a:ln/>
        </p:spPr>
        <p:txBody>
          <a:bodyPr wrap="square" lIns="0" tIns="0" rIns="0" bIns="0" rtlCol="0" anchor="ctr"/>
          <a:lstStyle/>
          <a:p>
            <a:pPr algn="ctr" indent="0" marL="0">
              <a:buNone/>
            </a:pPr>
            <a:r>
              <a:rPr lang="en-US" sz="1600" dirty="0">
                <a:solidFill>
                  <a:srgbClr val="334155"/>
                </a:solidFill>
              </a:rPr>
              <a:t>→</a:t>
            </a:r>
            <a:endParaRPr lang="en-US" sz="1600" dirty="0"/>
          </a:p>
        </p:txBody>
      </p:sp>
      <p:sp>
        <p:nvSpPr>
          <p:cNvPr id="13" name="Shape 11"/>
          <p:cNvSpPr/>
          <p:nvPr/>
        </p:nvSpPr>
        <p:spPr>
          <a:xfrm>
            <a:off x="2121408" y="1828800"/>
            <a:ext cx="1508760" cy="2331720"/>
          </a:xfrm>
          <a:prstGeom prst="roundRect">
            <a:avLst>
              <a:gd name="adj" fmla="val 4242"/>
            </a:avLst>
          </a:prstGeom>
          <a:solidFill>
            <a:srgbClr val="161D2F"/>
          </a:solidFill>
          <a:ln w="12700">
            <a:solidFill>
              <a:srgbClr val="1E293B"/>
            </a:solidFill>
            <a:prstDash val="solid"/>
          </a:ln>
        </p:spPr>
      </p:sp>
      <p:sp>
        <p:nvSpPr>
          <p:cNvPr id="14" name="Shape 12"/>
          <p:cNvSpPr/>
          <p:nvPr/>
        </p:nvSpPr>
        <p:spPr>
          <a:xfrm>
            <a:off x="2642616" y="1956816"/>
            <a:ext cx="475488" cy="475488"/>
          </a:xfrm>
          <a:prstGeom prst="ellipse">
            <a:avLst/>
          </a:prstGeom>
          <a:solidFill>
            <a:srgbClr val="334155"/>
          </a:solidFill>
          <a:ln w="25400">
            <a:solidFill>
              <a:srgbClr val="06B6D4"/>
            </a:solidFill>
            <a:prstDash val="solid"/>
          </a:ln>
        </p:spPr>
      </p:sp>
      <p:sp>
        <p:nvSpPr>
          <p:cNvPr id="15" name="Text 13"/>
          <p:cNvSpPr/>
          <p:nvPr/>
        </p:nvSpPr>
        <p:spPr>
          <a:xfrm>
            <a:off x="2642616" y="1956816"/>
            <a:ext cx="475488" cy="47548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ext 14"/>
          <p:cNvSpPr/>
          <p:nvPr/>
        </p:nvSpPr>
        <p:spPr>
          <a:xfrm>
            <a:off x="2167128" y="2523744"/>
            <a:ext cx="1417320" cy="310896"/>
          </a:xfrm>
          <a:prstGeom prst="rect">
            <a:avLst/>
          </a:prstGeom>
          <a:noFill/>
          <a:ln/>
        </p:spPr>
        <p:txBody>
          <a:bodyPr wrap="square" lIns="0" tIns="0" rIns="0" bIns="0" rtlCol="0" anchor="ctr"/>
          <a:lstStyle/>
          <a:p>
            <a:pPr algn="ctr" indent="0" marL="0">
              <a:buNone/>
            </a:pPr>
            <a:r>
              <a:rPr lang="en-US" sz="1300" b="1" dirty="0">
                <a:solidFill>
                  <a:srgbClr val="F8FAFC"/>
                </a:solidFill>
              </a:rPr>
              <a:t>Scan</a:t>
            </a:r>
            <a:endParaRPr lang="en-US" sz="1300" dirty="0"/>
          </a:p>
        </p:txBody>
      </p:sp>
      <p:sp>
        <p:nvSpPr>
          <p:cNvPr id="17" name="Text 15"/>
          <p:cNvSpPr/>
          <p:nvPr/>
        </p:nvSpPr>
        <p:spPr>
          <a:xfrm>
            <a:off x="2167128" y="2862072"/>
            <a:ext cx="1417320" cy="457200"/>
          </a:xfrm>
          <a:prstGeom prst="rect">
            <a:avLst/>
          </a:prstGeom>
          <a:noFill/>
          <a:ln/>
        </p:spPr>
        <p:txBody>
          <a:bodyPr wrap="square" lIns="0" tIns="0" rIns="0" bIns="0" rtlCol="0" anchor="ctr"/>
          <a:lstStyle/>
          <a:p>
            <a:pPr algn="ctr" indent="0" marL="0">
              <a:lnSpc>
                <a:spcPts val="1400"/>
              </a:lnSpc>
              <a:buNone/>
            </a:pPr>
            <a:r>
              <a:rPr lang="en-US" sz="1000" dirty="0">
                <a:solidFill>
                  <a:srgbClr val="94A3B8"/>
                </a:solidFill>
              </a:rPr>
              <a:t>Auto analysis</a:t>
            </a:r>
            <a:endParaRPr lang="en-US" sz="1000" dirty="0"/>
          </a:p>
        </p:txBody>
      </p:sp>
      <p:sp>
        <p:nvSpPr>
          <p:cNvPr id="18" name="Text 16"/>
          <p:cNvSpPr/>
          <p:nvPr/>
        </p:nvSpPr>
        <p:spPr>
          <a:xfrm>
            <a:off x="3630168" y="2697480"/>
            <a:ext cx="155448" cy="320040"/>
          </a:xfrm>
          <a:prstGeom prst="rect">
            <a:avLst/>
          </a:prstGeom>
          <a:noFill/>
          <a:ln/>
        </p:spPr>
        <p:txBody>
          <a:bodyPr wrap="square" lIns="0" tIns="0" rIns="0" bIns="0" rtlCol="0" anchor="ctr"/>
          <a:lstStyle/>
          <a:p>
            <a:pPr algn="ctr" indent="0" marL="0">
              <a:buNone/>
            </a:pPr>
            <a:r>
              <a:rPr lang="en-US" sz="1600" dirty="0">
                <a:solidFill>
                  <a:srgbClr val="334155"/>
                </a:solidFill>
              </a:rPr>
              <a:t>→</a:t>
            </a:r>
            <a:endParaRPr lang="en-US" sz="1600" dirty="0"/>
          </a:p>
        </p:txBody>
      </p:sp>
      <p:sp>
        <p:nvSpPr>
          <p:cNvPr id="19" name="Shape 17"/>
          <p:cNvSpPr/>
          <p:nvPr/>
        </p:nvSpPr>
        <p:spPr>
          <a:xfrm>
            <a:off x="3785616" y="1828800"/>
            <a:ext cx="1508760" cy="2331720"/>
          </a:xfrm>
          <a:prstGeom prst="roundRect">
            <a:avLst>
              <a:gd name="adj" fmla="val 4242"/>
            </a:avLst>
          </a:prstGeom>
          <a:solidFill>
            <a:srgbClr val="161D2F"/>
          </a:solidFill>
          <a:ln w="12700">
            <a:solidFill>
              <a:srgbClr val="1E293B"/>
            </a:solidFill>
            <a:prstDash val="solid"/>
          </a:ln>
        </p:spPr>
      </p:sp>
      <p:sp>
        <p:nvSpPr>
          <p:cNvPr id="20" name="Shape 18"/>
          <p:cNvSpPr/>
          <p:nvPr/>
        </p:nvSpPr>
        <p:spPr>
          <a:xfrm>
            <a:off x="4306824" y="1956816"/>
            <a:ext cx="475488" cy="475488"/>
          </a:xfrm>
          <a:prstGeom prst="ellipse">
            <a:avLst/>
          </a:prstGeom>
          <a:solidFill>
            <a:srgbClr val="334155"/>
          </a:solidFill>
          <a:ln w="25400">
            <a:solidFill>
              <a:srgbClr val="8B5CF6"/>
            </a:solidFill>
            <a:prstDash val="solid"/>
          </a:ln>
        </p:spPr>
      </p:sp>
      <p:sp>
        <p:nvSpPr>
          <p:cNvPr id="21" name="Text 19"/>
          <p:cNvSpPr/>
          <p:nvPr/>
        </p:nvSpPr>
        <p:spPr>
          <a:xfrm>
            <a:off x="4306824" y="1956816"/>
            <a:ext cx="475488" cy="47548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3831336" y="2523744"/>
            <a:ext cx="1417320" cy="310896"/>
          </a:xfrm>
          <a:prstGeom prst="rect">
            <a:avLst/>
          </a:prstGeom>
          <a:noFill/>
          <a:ln/>
        </p:spPr>
        <p:txBody>
          <a:bodyPr wrap="square" lIns="0" tIns="0" rIns="0" bIns="0" rtlCol="0" anchor="ctr"/>
          <a:lstStyle/>
          <a:p>
            <a:pPr algn="ctr" indent="0" marL="0">
              <a:buNone/>
            </a:pPr>
            <a:r>
              <a:rPr lang="en-US" sz="1300" b="1" dirty="0">
                <a:solidFill>
                  <a:srgbClr val="F8FAFC"/>
                </a:solidFill>
              </a:rPr>
              <a:t>Review</a:t>
            </a:r>
            <a:endParaRPr lang="en-US" sz="1300" dirty="0"/>
          </a:p>
        </p:txBody>
      </p:sp>
      <p:sp>
        <p:nvSpPr>
          <p:cNvPr id="23" name="Text 21"/>
          <p:cNvSpPr/>
          <p:nvPr/>
        </p:nvSpPr>
        <p:spPr>
          <a:xfrm>
            <a:off x="3831336" y="2862072"/>
            <a:ext cx="1417320" cy="457200"/>
          </a:xfrm>
          <a:prstGeom prst="rect">
            <a:avLst/>
          </a:prstGeom>
          <a:noFill/>
          <a:ln/>
        </p:spPr>
        <p:txBody>
          <a:bodyPr wrap="square" lIns="0" tIns="0" rIns="0" bIns="0" rtlCol="0" anchor="ctr"/>
          <a:lstStyle/>
          <a:p>
            <a:pPr algn="ctr" indent="0" marL="0">
              <a:lnSpc>
                <a:spcPts val="1400"/>
              </a:lnSpc>
              <a:buNone/>
            </a:pPr>
            <a:r>
              <a:rPr lang="en-US" sz="1000" dirty="0">
                <a:solidFill>
                  <a:srgbClr val="94A3B8"/>
                </a:solidFill>
              </a:rPr>
              <a:t>See what is wrong</a:t>
            </a:r>
            <a:endParaRPr lang="en-US" sz="1000" dirty="0"/>
          </a:p>
        </p:txBody>
      </p:sp>
      <p:sp>
        <p:nvSpPr>
          <p:cNvPr id="24" name="Text 22"/>
          <p:cNvSpPr/>
          <p:nvPr/>
        </p:nvSpPr>
        <p:spPr>
          <a:xfrm>
            <a:off x="5294376" y="2697480"/>
            <a:ext cx="155448" cy="320040"/>
          </a:xfrm>
          <a:prstGeom prst="rect">
            <a:avLst/>
          </a:prstGeom>
          <a:noFill/>
          <a:ln/>
        </p:spPr>
        <p:txBody>
          <a:bodyPr wrap="square" lIns="0" tIns="0" rIns="0" bIns="0" rtlCol="0" anchor="ctr"/>
          <a:lstStyle/>
          <a:p>
            <a:pPr algn="ctr" indent="0" marL="0">
              <a:buNone/>
            </a:pPr>
            <a:r>
              <a:rPr lang="en-US" sz="1600" dirty="0">
                <a:solidFill>
                  <a:srgbClr val="334155"/>
                </a:solidFill>
              </a:rPr>
              <a:t>→</a:t>
            </a:r>
            <a:endParaRPr lang="en-US" sz="1600" dirty="0"/>
          </a:p>
        </p:txBody>
      </p:sp>
      <p:sp>
        <p:nvSpPr>
          <p:cNvPr id="25" name="Shape 23"/>
          <p:cNvSpPr/>
          <p:nvPr/>
        </p:nvSpPr>
        <p:spPr>
          <a:xfrm>
            <a:off x="5449824" y="1828800"/>
            <a:ext cx="1508760" cy="2331720"/>
          </a:xfrm>
          <a:prstGeom prst="roundRect">
            <a:avLst>
              <a:gd name="adj" fmla="val 4242"/>
            </a:avLst>
          </a:prstGeom>
          <a:solidFill>
            <a:srgbClr val="161D2F"/>
          </a:solidFill>
          <a:ln w="12700">
            <a:solidFill>
              <a:srgbClr val="1E293B"/>
            </a:solidFill>
            <a:prstDash val="solid"/>
          </a:ln>
        </p:spPr>
      </p:sp>
      <p:sp>
        <p:nvSpPr>
          <p:cNvPr id="26" name="Shape 24"/>
          <p:cNvSpPr/>
          <p:nvPr/>
        </p:nvSpPr>
        <p:spPr>
          <a:xfrm>
            <a:off x="5971032" y="1956816"/>
            <a:ext cx="475488" cy="475488"/>
          </a:xfrm>
          <a:prstGeom prst="ellipse">
            <a:avLst/>
          </a:prstGeom>
          <a:solidFill>
            <a:srgbClr val="334155"/>
          </a:solidFill>
          <a:ln w="25400">
            <a:solidFill>
              <a:srgbClr val="F59E0B"/>
            </a:solidFill>
            <a:prstDash val="solid"/>
          </a:ln>
        </p:spPr>
      </p:sp>
      <p:sp>
        <p:nvSpPr>
          <p:cNvPr id="27" name="Text 25"/>
          <p:cNvSpPr/>
          <p:nvPr/>
        </p:nvSpPr>
        <p:spPr>
          <a:xfrm>
            <a:off x="5971032" y="1956816"/>
            <a:ext cx="475488" cy="47548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ext 26"/>
          <p:cNvSpPr/>
          <p:nvPr/>
        </p:nvSpPr>
        <p:spPr>
          <a:xfrm>
            <a:off x="5495544" y="2523744"/>
            <a:ext cx="1417320" cy="310896"/>
          </a:xfrm>
          <a:prstGeom prst="rect">
            <a:avLst/>
          </a:prstGeom>
          <a:noFill/>
          <a:ln/>
        </p:spPr>
        <p:txBody>
          <a:bodyPr wrap="square" lIns="0" tIns="0" rIns="0" bIns="0" rtlCol="0" anchor="ctr"/>
          <a:lstStyle/>
          <a:p>
            <a:pPr algn="ctr" indent="0" marL="0">
              <a:buNone/>
            </a:pPr>
            <a:r>
              <a:rPr lang="en-US" sz="1300" b="1" dirty="0">
                <a:solidFill>
                  <a:srgbClr val="F8FAFC"/>
                </a:solidFill>
              </a:rPr>
              <a:t>AI Fix</a:t>
            </a:r>
            <a:endParaRPr lang="en-US" sz="1300" dirty="0"/>
          </a:p>
        </p:txBody>
      </p:sp>
      <p:sp>
        <p:nvSpPr>
          <p:cNvPr id="29" name="Text 27"/>
          <p:cNvSpPr/>
          <p:nvPr/>
        </p:nvSpPr>
        <p:spPr>
          <a:xfrm>
            <a:off x="5495544" y="2862072"/>
            <a:ext cx="1417320" cy="457200"/>
          </a:xfrm>
          <a:prstGeom prst="rect">
            <a:avLst/>
          </a:prstGeom>
          <a:noFill/>
          <a:ln/>
        </p:spPr>
        <p:txBody>
          <a:bodyPr wrap="square" lIns="0" tIns="0" rIns="0" bIns="0" rtlCol="0" anchor="ctr"/>
          <a:lstStyle/>
          <a:p>
            <a:pPr algn="ctr" indent="0" marL="0">
              <a:lnSpc>
                <a:spcPts val="1400"/>
              </a:lnSpc>
              <a:buNone/>
            </a:pPr>
            <a:r>
              <a:rPr lang="en-US" sz="1000" dirty="0">
                <a:solidFill>
                  <a:srgbClr val="94A3B8"/>
                </a:solidFill>
              </a:rPr>
              <a:t>Plain English advice</a:t>
            </a:r>
            <a:endParaRPr lang="en-US" sz="1000" dirty="0"/>
          </a:p>
        </p:txBody>
      </p:sp>
      <p:sp>
        <p:nvSpPr>
          <p:cNvPr id="30" name="Text 28"/>
          <p:cNvSpPr/>
          <p:nvPr/>
        </p:nvSpPr>
        <p:spPr>
          <a:xfrm>
            <a:off x="6958584" y="2697480"/>
            <a:ext cx="155448" cy="320040"/>
          </a:xfrm>
          <a:prstGeom prst="rect">
            <a:avLst/>
          </a:prstGeom>
          <a:noFill/>
          <a:ln/>
        </p:spPr>
        <p:txBody>
          <a:bodyPr wrap="square" lIns="0" tIns="0" rIns="0" bIns="0" rtlCol="0" anchor="ctr"/>
          <a:lstStyle/>
          <a:p>
            <a:pPr algn="ctr" indent="0" marL="0">
              <a:buNone/>
            </a:pPr>
            <a:r>
              <a:rPr lang="en-US" sz="1600" dirty="0">
                <a:solidFill>
                  <a:srgbClr val="334155"/>
                </a:solidFill>
              </a:rPr>
              <a:t>→</a:t>
            </a:r>
            <a:endParaRPr lang="en-US" sz="1600" dirty="0"/>
          </a:p>
        </p:txBody>
      </p:sp>
      <p:sp>
        <p:nvSpPr>
          <p:cNvPr id="31" name="Shape 29"/>
          <p:cNvSpPr/>
          <p:nvPr/>
        </p:nvSpPr>
        <p:spPr>
          <a:xfrm>
            <a:off x="7114032" y="1828800"/>
            <a:ext cx="1508760" cy="2331720"/>
          </a:xfrm>
          <a:prstGeom prst="roundRect">
            <a:avLst>
              <a:gd name="adj" fmla="val 4242"/>
            </a:avLst>
          </a:prstGeom>
          <a:solidFill>
            <a:srgbClr val="161D2F"/>
          </a:solidFill>
          <a:ln w="12700">
            <a:solidFill>
              <a:srgbClr val="1E293B"/>
            </a:solidFill>
            <a:prstDash val="solid"/>
          </a:ln>
        </p:spPr>
      </p:sp>
      <p:sp>
        <p:nvSpPr>
          <p:cNvPr id="32" name="Shape 30"/>
          <p:cNvSpPr/>
          <p:nvPr/>
        </p:nvSpPr>
        <p:spPr>
          <a:xfrm>
            <a:off x="7635240" y="1956816"/>
            <a:ext cx="475488" cy="475488"/>
          </a:xfrm>
          <a:prstGeom prst="ellipse">
            <a:avLst/>
          </a:prstGeom>
          <a:solidFill>
            <a:srgbClr val="334155"/>
          </a:solidFill>
          <a:ln w="25400">
            <a:solidFill>
              <a:srgbClr val="10B981"/>
            </a:solidFill>
            <a:prstDash val="solid"/>
          </a:ln>
        </p:spPr>
      </p:sp>
      <p:sp>
        <p:nvSpPr>
          <p:cNvPr id="33" name="Text 31"/>
          <p:cNvSpPr/>
          <p:nvPr/>
        </p:nvSpPr>
        <p:spPr>
          <a:xfrm>
            <a:off x="7635240" y="1956816"/>
            <a:ext cx="475488" cy="47548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4" name="Text 32"/>
          <p:cNvSpPr/>
          <p:nvPr/>
        </p:nvSpPr>
        <p:spPr>
          <a:xfrm>
            <a:off x="7159752" y="2523744"/>
            <a:ext cx="1417320" cy="310896"/>
          </a:xfrm>
          <a:prstGeom prst="rect">
            <a:avLst/>
          </a:prstGeom>
          <a:noFill/>
          <a:ln/>
        </p:spPr>
        <p:txBody>
          <a:bodyPr wrap="square" lIns="0" tIns="0" rIns="0" bIns="0" rtlCol="0" anchor="ctr"/>
          <a:lstStyle/>
          <a:p>
            <a:pPr algn="ctr" indent="0" marL="0">
              <a:buNone/>
            </a:pPr>
            <a:r>
              <a:rPr lang="en-US" sz="1300" b="1" dirty="0">
                <a:solidFill>
                  <a:srgbClr val="F8FAFC"/>
                </a:solidFill>
              </a:rPr>
              <a:t>Apply</a:t>
            </a:r>
            <a:endParaRPr lang="en-US" sz="1300" dirty="0"/>
          </a:p>
        </p:txBody>
      </p:sp>
      <p:sp>
        <p:nvSpPr>
          <p:cNvPr id="35" name="Text 33"/>
          <p:cNvSpPr/>
          <p:nvPr/>
        </p:nvSpPr>
        <p:spPr>
          <a:xfrm>
            <a:off x="7159752" y="2862072"/>
            <a:ext cx="1417320" cy="457200"/>
          </a:xfrm>
          <a:prstGeom prst="rect">
            <a:avLst/>
          </a:prstGeom>
          <a:noFill/>
          <a:ln/>
        </p:spPr>
        <p:txBody>
          <a:bodyPr wrap="square" lIns="0" tIns="0" rIns="0" bIns="0" rtlCol="0" anchor="ctr"/>
          <a:lstStyle/>
          <a:p>
            <a:pPr algn="ctr" indent="0" marL="0">
              <a:lnSpc>
                <a:spcPts val="1400"/>
              </a:lnSpc>
              <a:buNone/>
            </a:pPr>
            <a:r>
              <a:rPr lang="en-US" sz="1000" dirty="0">
                <a:solidFill>
                  <a:srgbClr val="94A3B8"/>
                </a:solidFill>
              </a:rPr>
              <a:t>One click done</a:t>
            </a:r>
            <a:endParaRPr lang="en-US" sz="1000" dirty="0"/>
          </a:p>
        </p:txBody>
      </p:sp>
      <p:sp>
        <p:nvSpPr>
          <p:cNvPr id="36" name="Text 34"/>
          <p:cNvSpPr/>
          <p:nvPr/>
        </p:nvSpPr>
        <p:spPr>
          <a:xfrm>
            <a:off x="457200" y="4434840"/>
            <a:ext cx="8229600" cy="292608"/>
          </a:xfrm>
          <a:prstGeom prst="rect">
            <a:avLst/>
          </a:prstGeom>
          <a:noFill/>
          <a:ln/>
        </p:spPr>
        <p:txBody>
          <a:bodyPr wrap="square" lIns="0" tIns="0" rIns="0" bIns="0" rtlCol="0" anchor="ctr"/>
          <a:lstStyle/>
          <a:p>
            <a:pPr algn="ctr" indent="0" marL="0">
              <a:buNone/>
            </a:pPr>
            <a:r>
              <a:rPr lang="en-US" sz="1100" i="1" dirty="0">
                <a:solidFill>
                  <a:srgbClr val="94A3B8"/>
                </a:solidFill>
              </a:rPr>
              <a:t>No technical knowledge needed. Works with any spreadsheet or CSV file.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F1E"/>
          </a:solidFill>
          <a:ln w="12700">
            <a:solidFill>
              <a:srgbClr val="0A0F1E"/>
            </a:solidFill>
            <a:prstDash val="solid"/>
          </a:ln>
        </p:spPr>
      </p:sp>
      <p:sp>
        <p:nvSpPr>
          <p:cNvPr id="3" name="Shape 1"/>
          <p:cNvSpPr/>
          <p:nvPr/>
        </p:nvSpPr>
        <p:spPr>
          <a:xfrm>
            <a:off x="0" y="0"/>
            <a:ext cx="45720" cy="5143500"/>
          </a:xfrm>
          <a:prstGeom prst="rect">
            <a:avLst/>
          </a:prstGeom>
          <a:solidFill>
            <a:srgbClr val="06B6D4"/>
          </a:solidFill>
          <a:ln w="12700">
            <a:solidFill>
              <a:srgbClr val="06B6D4"/>
            </a:solidFill>
            <a:prstDash val="solid"/>
          </a:ln>
        </p:spPr>
      </p:sp>
      <p:sp>
        <p:nvSpPr>
          <p:cNvPr id="4" name="Shape 2"/>
          <p:cNvSpPr/>
          <p:nvPr/>
        </p:nvSpPr>
        <p:spPr>
          <a:xfrm>
            <a:off x="502920" y="274320"/>
            <a:ext cx="1126541" cy="228600"/>
          </a:xfrm>
          <a:prstGeom prst="roundRect">
            <a:avLst>
              <a:gd name="adj" fmla="val 16000"/>
            </a:avLst>
          </a:prstGeom>
          <a:solidFill>
            <a:srgbClr val="161D2F"/>
          </a:solidFill>
          <a:ln w="12700">
            <a:solidFill>
              <a:srgbClr val="06B6D4"/>
            </a:solidFill>
            <a:prstDash val="solid"/>
          </a:ln>
        </p:spPr>
      </p:sp>
      <p:sp>
        <p:nvSpPr>
          <p:cNvPr id="5" name="Text 3"/>
          <p:cNvSpPr/>
          <p:nvPr/>
        </p:nvSpPr>
        <p:spPr>
          <a:xfrm>
            <a:off x="502920" y="283464"/>
            <a:ext cx="1126541" cy="228600"/>
          </a:xfrm>
          <a:prstGeom prst="rect">
            <a:avLst/>
          </a:prstGeom>
          <a:noFill/>
          <a:ln/>
        </p:spPr>
        <p:txBody>
          <a:bodyPr wrap="square" lIns="0" tIns="0" rIns="0" bIns="0" rtlCol="0" anchor="ctr"/>
          <a:lstStyle/>
          <a:p>
            <a:pPr algn="ctr" indent="0" marL="0">
              <a:buNone/>
            </a:pPr>
            <a:r>
              <a:rPr lang="en-US" sz="850" b="1" dirty="0">
                <a:solidFill>
                  <a:srgbClr val="06B6D4"/>
                </a:solidFill>
              </a:rPr>
              <a:t>PAGE 1 OF 7</a:t>
            </a:r>
            <a:endParaRPr lang="en-US" sz="850" dirty="0"/>
          </a:p>
        </p:txBody>
      </p:sp>
      <p:sp>
        <p:nvSpPr>
          <p:cNvPr id="6" name="Text 4"/>
          <p:cNvSpPr/>
          <p:nvPr/>
        </p:nvSpPr>
        <p:spPr>
          <a:xfrm>
            <a:off x="502920" y="621792"/>
            <a:ext cx="8229600" cy="548640"/>
          </a:xfrm>
          <a:prstGeom prst="rect">
            <a:avLst/>
          </a:prstGeom>
          <a:noFill/>
          <a:ln/>
        </p:spPr>
        <p:txBody>
          <a:bodyPr wrap="square" lIns="0" tIns="0" rIns="0" bIns="0" rtlCol="0" anchor="ctr"/>
          <a:lstStyle/>
          <a:p>
            <a:pPr indent="0" marL="0">
              <a:buNone/>
            </a:pPr>
            <a:r>
              <a:rPr lang="en-US" sz="3600" b="1" dirty="0">
                <a:solidFill>
                  <a:srgbClr val="F8FAFC"/>
                </a:solidFill>
              </a:rPr>
              <a:t>Dashboard</a:t>
            </a:r>
            <a:endParaRPr lang="en-US" sz="3600" dirty="0"/>
          </a:p>
        </p:txBody>
      </p:sp>
      <p:sp>
        <p:nvSpPr>
          <p:cNvPr id="7" name="Text 5"/>
          <p:cNvSpPr/>
          <p:nvPr/>
        </p:nvSpPr>
        <p:spPr>
          <a:xfrm>
            <a:off x="502920" y="1207008"/>
            <a:ext cx="8229600" cy="329184"/>
          </a:xfrm>
          <a:prstGeom prst="rect">
            <a:avLst/>
          </a:prstGeom>
          <a:noFill/>
          <a:ln/>
        </p:spPr>
        <p:txBody>
          <a:bodyPr wrap="square" lIns="0" tIns="0" rIns="0" bIns="0" rtlCol="0" anchor="ctr"/>
          <a:lstStyle/>
          <a:p>
            <a:pPr indent="0" marL="0">
              <a:buNone/>
            </a:pPr>
            <a:r>
              <a:rPr lang="en-US" sz="1300" dirty="0">
                <a:solidFill>
                  <a:srgbClr val="94A3B8"/>
                </a:solidFill>
              </a:rPr>
              <a:t>The first thing you see when you log in — your data health at a glance.</a:t>
            </a:r>
            <a:endParaRPr lang="en-US" sz="1300" dirty="0"/>
          </a:p>
        </p:txBody>
      </p:sp>
      <p:sp>
        <p:nvSpPr>
          <p:cNvPr id="8" name="Shape 6"/>
          <p:cNvSpPr/>
          <p:nvPr/>
        </p:nvSpPr>
        <p:spPr>
          <a:xfrm>
            <a:off x="502920" y="1719072"/>
            <a:ext cx="2011680" cy="1005840"/>
          </a:xfrm>
          <a:prstGeom prst="roundRect">
            <a:avLst>
              <a:gd name="adj" fmla="val 6364"/>
            </a:avLst>
          </a:prstGeom>
          <a:solidFill>
            <a:srgbClr val="161D2F"/>
          </a:solidFill>
          <a:ln w="12700">
            <a:solidFill>
              <a:srgbClr val="1E293B"/>
            </a:solidFill>
            <a:prstDash val="solid"/>
          </a:ln>
        </p:spPr>
      </p:sp>
      <p:sp>
        <p:nvSpPr>
          <p:cNvPr id="9" name="Text 7"/>
          <p:cNvSpPr/>
          <p:nvPr/>
        </p:nvSpPr>
        <p:spPr>
          <a:xfrm>
            <a:off x="502920" y="1801368"/>
            <a:ext cx="502920"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960120" y="1874520"/>
            <a:ext cx="1508760" cy="438912"/>
          </a:xfrm>
          <a:prstGeom prst="rect">
            <a:avLst/>
          </a:prstGeom>
          <a:noFill/>
          <a:ln/>
        </p:spPr>
        <p:txBody>
          <a:bodyPr wrap="square" lIns="0" tIns="0" rIns="0" bIns="0" rtlCol="0" anchor="ctr"/>
          <a:lstStyle/>
          <a:p>
            <a:pPr indent="0" marL="0">
              <a:buNone/>
            </a:pPr>
            <a:r>
              <a:rPr lang="en-US" sz="2000" b="1" dirty="0">
                <a:solidFill>
                  <a:srgbClr val="06B6D4"/>
                </a:solidFill>
              </a:rPr>
              <a:t>12,480</a:t>
            </a:r>
            <a:endParaRPr lang="en-US" sz="2000" dirty="0"/>
          </a:p>
        </p:txBody>
      </p:sp>
      <p:sp>
        <p:nvSpPr>
          <p:cNvPr id="11" name="Text 9"/>
          <p:cNvSpPr/>
          <p:nvPr/>
        </p:nvSpPr>
        <p:spPr>
          <a:xfrm>
            <a:off x="960120" y="2304288"/>
            <a:ext cx="1508760" cy="274320"/>
          </a:xfrm>
          <a:prstGeom prst="rect">
            <a:avLst/>
          </a:prstGeom>
          <a:noFill/>
          <a:ln/>
        </p:spPr>
        <p:txBody>
          <a:bodyPr wrap="square" lIns="0" tIns="0" rIns="0" bIns="0" rtlCol="0" anchor="ctr"/>
          <a:lstStyle/>
          <a:p>
            <a:pPr indent="0" marL="0">
              <a:buNone/>
            </a:pPr>
            <a:r>
              <a:rPr lang="en-US" sz="1000" dirty="0">
                <a:solidFill>
                  <a:srgbClr val="94A3B8"/>
                </a:solidFill>
              </a:rPr>
              <a:t>Total Records</a:t>
            </a:r>
            <a:endParaRPr lang="en-US" sz="1000" dirty="0"/>
          </a:p>
        </p:txBody>
      </p:sp>
      <p:sp>
        <p:nvSpPr>
          <p:cNvPr id="12" name="Shape 10"/>
          <p:cNvSpPr/>
          <p:nvPr/>
        </p:nvSpPr>
        <p:spPr>
          <a:xfrm>
            <a:off x="2679192" y="1719072"/>
            <a:ext cx="2011680" cy="1005840"/>
          </a:xfrm>
          <a:prstGeom prst="roundRect">
            <a:avLst>
              <a:gd name="adj" fmla="val 6364"/>
            </a:avLst>
          </a:prstGeom>
          <a:solidFill>
            <a:srgbClr val="161D2F"/>
          </a:solidFill>
          <a:ln w="12700">
            <a:solidFill>
              <a:srgbClr val="1E293B"/>
            </a:solidFill>
            <a:prstDash val="solid"/>
          </a:ln>
        </p:spPr>
      </p:sp>
      <p:sp>
        <p:nvSpPr>
          <p:cNvPr id="13" name="Text 11"/>
          <p:cNvSpPr/>
          <p:nvPr/>
        </p:nvSpPr>
        <p:spPr>
          <a:xfrm>
            <a:off x="2679192" y="1801368"/>
            <a:ext cx="502920"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136392" y="1874520"/>
            <a:ext cx="1508760" cy="438912"/>
          </a:xfrm>
          <a:prstGeom prst="rect">
            <a:avLst/>
          </a:prstGeom>
          <a:noFill/>
          <a:ln/>
        </p:spPr>
        <p:txBody>
          <a:bodyPr wrap="square" lIns="0" tIns="0" rIns="0" bIns="0" rtlCol="0" anchor="ctr"/>
          <a:lstStyle/>
          <a:p>
            <a:pPr indent="0" marL="0">
              <a:buNone/>
            </a:pPr>
            <a:r>
              <a:rPr lang="en-US" sz="2000" b="1" dirty="0">
                <a:solidFill>
                  <a:srgbClr val="F59E0B"/>
                </a:solidFill>
              </a:rPr>
              <a:t>847</a:t>
            </a:r>
            <a:endParaRPr lang="en-US" sz="2000" dirty="0"/>
          </a:p>
        </p:txBody>
      </p:sp>
      <p:sp>
        <p:nvSpPr>
          <p:cNvPr id="15" name="Text 13"/>
          <p:cNvSpPr/>
          <p:nvPr/>
        </p:nvSpPr>
        <p:spPr>
          <a:xfrm>
            <a:off x="3136392" y="2304288"/>
            <a:ext cx="1508760" cy="274320"/>
          </a:xfrm>
          <a:prstGeom prst="rect">
            <a:avLst/>
          </a:prstGeom>
          <a:noFill/>
          <a:ln/>
        </p:spPr>
        <p:txBody>
          <a:bodyPr wrap="square" lIns="0" tIns="0" rIns="0" bIns="0" rtlCol="0" anchor="ctr"/>
          <a:lstStyle/>
          <a:p>
            <a:pPr indent="0" marL="0">
              <a:buNone/>
            </a:pPr>
            <a:r>
              <a:rPr lang="en-US" sz="1000" dirty="0">
                <a:solidFill>
                  <a:srgbClr val="94A3B8"/>
                </a:solidFill>
              </a:rPr>
              <a:t>Missing Values</a:t>
            </a:r>
            <a:endParaRPr lang="en-US" sz="1000" dirty="0"/>
          </a:p>
        </p:txBody>
      </p:sp>
      <p:sp>
        <p:nvSpPr>
          <p:cNvPr id="16" name="Shape 14"/>
          <p:cNvSpPr/>
          <p:nvPr/>
        </p:nvSpPr>
        <p:spPr>
          <a:xfrm>
            <a:off x="4855464" y="1719072"/>
            <a:ext cx="2011680" cy="1005840"/>
          </a:xfrm>
          <a:prstGeom prst="roundRect">
            <a:avLst>
              <a:gd name="adj" fmla="val 6364"/>
            </a:avLst>
          </a:prstGeom>
          <a:solidFill>
            <a:srgbClr val="161D2F"/>
          </a:solidFill>
          <a:ln w="12700">
            <a:solidFill>
              <a:srgbClr val="1E293B"/>
            </a:solidFill>
            <a:prstDash val="solid"/>
          </a:ln>
        </p:spPr>
      </p:sp>
      <p:sp>
        <p:nvSpPr>
          <p:cNvPr id="17" name="Text 15"/>
          <p:cNvSpPr/>
          <p:nvPr/>
        </p:nvSpPr>
        <p:spPr>
          <a:xfrm>
            <a:off x="4855464" y="1801368"/>
            <a:ext cx="502920"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5312664" y="1874520"/>
            <a:ext cx="1508760" cy="438912"/>
          </a:xfrm>
          <a:prstGeom prst="rect">
            <a:avLst/>
          </a:prstGeom>
          <a:noFill/>
          <a:ln/>
        </p:spPr>
        <p:txBody>
          <a:bodyPr wrap="square" lIns="0" tIns="0" rIns="0" bIns="0" rtlCol="0" anchor="ctr"/>
          <a:lstStyle/>
          <a:p>
            <a:pPr indent="0" marL="0">
              <a:buNone/>
            </a:pPr>
            <a:r>
              <a:rPr lang="en-US" sz="2000" b="1" dirty="0">
                <a:solidFill>
                  <a:srgbClr val="F43F5E"/>
                </a:solidFill>
              </a:rPr>
              <a:t>124</a:t>
            </a:r>
            <a:endParaRPr lang="en-US" sz="2000" dirty="0"/>
          </a:p>
        </p:txBody>
      </p:sp>
      <p:sp>
        <p:nvSpPr>
          <p:cNvPr id="19" name="Text 17"/>
          <p:cNvSpPr/>
          <p:nvPr/>
        </p:nvSpPr>
        <p:spPr>
          <a:xfrm>
            <a:off x="5312664" y="2304288"/>
            <a:ext cx="1508760" cy="274320"/>
          </a:xfrm>
          <a:prstGeom prst="rect">
            <a:avLst/>
          </a:prstGeom>
          <a:noFill/>
          <a:ln/>
        </p:spPr>
        <p:txBody>
          <a:bodyPr wrap="square" lIns="0" tIns="0" rIns="0" bIns="0" rtlCol="0" anchor="ctr"/>
          <a:lstStyle/>
          <a:p>
            <a:pPr indent="0" marL="0">
              <a:buNone/>
            </a:pPr>
            <a:r>
              <a:rPr lang="en-US" sz="1000" dirty="0">
                <a:solidFill>
                  <a:srgbClr val="94A3B8"/>
                </a:solidFill>
              </a:rPr>
              <a:t>Duplicates Found</a:t>
            </a:r>
            <a:endParaRPr lang="en-US" sz="1000" dirty="0"/>
          </a:p>
        </p:txBody>
      </p:sp>
      <p:sp>
        <p:nvSpPr>
          <p:cNvPr id="20" name="Shape 18"/>
          <p:cNvSpPr/>
          <p:nvPr/>
        </p:nvSpPr>
        <p:spPr>
          <a:xfrm>
            <a:off x="7031736" y="1719072"/>
            <a:ext cx="2011680" cy="1005840"/>
          </a:xfrm>
          <a:prstGeom prst="roundRect">
            <a:avLst>
              <a:gd name="adj" fmla="val 6364"/>
            </a:avLst>
          </a:prstGeom>
          <a:solidFill>
            <a:srgbClr val="161D2F"/>
          </a:solidFill>
          <a:ln w="12700">
            <a:solidFill>
              <a:srgbClr val="1E293B"/>
            </a:solidFill>
            <a:prstDash val="solid"/>
          </a:ln>
        </p:spPr>
      </p:sp>
      <p:sp>
        <p:nvSpPr>
          <p:cNvPr id="21" name="Text 19"/>
          <p:cNvSpPr/>
          <p:nvPr/>
        </p:nvSpPr>
        <p:spPr>
          <a:xfrm>
            <a:off x="7031736" y="1801368"/>
            <a:ext cx="502920"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7488936" y="1874520"/>
            <a:ext cx="1508760" cy="438912"/>
          </a:xfrm>
          <a:prstGeom prst="rect">
            <a:avLst/>
          </a:prstGeom>
          <a:noFill/>
          <a:ln/>
        </p:spPr>
        <p:txBody>
          <a:bodyPr wrap="square" lIns="0" tIns="0" rIns="0" bIns="0" rtlCol="0" anchor="ctr"/>
          <a:lstStyle/>
          <a:p>
            <a:pPr indent="0" marL="0">
              <a:buNone/>
            </a:pPr>
            <a:r>
              <a:rPr lang="en-US" sz="2000" b="1" dirty="0">
                <a:solidFill>
                  <a:srgbClr val="10B981"/>
                </a:solidFill>
              </a:rPr>
              <a:t>92/100</a:t>
            </a:r>
            <a:endParaRPr lang="en-US" sz="2000" dirty="0"/>
          </a:p>
        </p:txBody>
      </p:sp>
      <p:sp>
        <p:nvSpPr>
          <p:cNvPr id="23" name="Text 21"/>
          <p:cNvSpPr/>
          <p:nvPr/>
        </p:nvSpPr>
        <p:spPr>
          <a:xfrm>
            <a:off x="7488936" y="2304288"/>
            <a:ext cx="1508760" cy="274320"/>
          </a:xfrm>
          <a:prstGeom prst="rect">
            <a:avLst/>
          </a:prstGeom>
          <a:noFill/>
          <a:ln/>
        </p:spPr>
        <p:txBody>
          <a:bodyPr wrap="square" lIns="0" tIns="0" rIns="0" bIns="0" rtlCol="0" anchor="ctr"/>
          <a:lstStyle/>
          <a:p>
            <a:pPr indent="0" marL="0">
              <a:buNone/>
            </a:pPr>
            <a:r>
              <a:rPr lang="en-US" sz="1000" dirty="0">
                <a:solidFill>
                  <a:srgbClr val="94A3B8"/>
                </a:solidFill>
              </a:rPr>
              <a:t>Quality Score</a:t>
            </a:r>
            <a:endParaRPr lang="en-US" sz="1000" dirty="0"/>
          </a:p>
        </p:txBody>
      </p:sp>
      <p:sp>
        <p:nvSpPr>
          <p:cNvPr id="24" name="Text 22"/>
          <p:cNvSpPr/>
          <p:nvPr/>
        </p:nvSpPr>
        <p:spPr>
          <a:xfrm>
            <a:off x="502920" y="2907792"/>
            <a:ext cx="8229600" cy="320040"/>
          </a:xfrm>
          <a:prstGeom prst="rect">
            <a:avLst/>
          </a:prstGeom>
          <a:noFill/>
          <a:ln/>
        </p:spPr>
        <p:txBody>
          <a:bodyPr wrap="square" lIns="0" tIns="0" rIns="0" bIns="0" rtlCol="0" anchor="ctr"/>
          <a:lstStyle/>
          <a:p>
            <a:pPr indent="0" marL="0">
              <a:buNone/>
            </a:pPr>
            <a:r>
              <a:rPr lang="en-US" sz="1300" b="1" dirty="0">
                <a:solidFill>
                  <a:srgbClr val="F8FAFC"/>
                </a:solidFill>
              </a:rPr>
              <a:t>What you can see on this page:</a:t>
            </a:r>
            <a:endParaRPr lang="en-US" sz="1300" dirty="0"/>
          </a:p>
        </p:txBody>
      </p:sp>
      <p:sp>
        <p:nvSpPr>
          <p:cNvPr id="25" name="Text 23"/>
          <p:cNvSpPr/>
          <p:nvPr/>
        </p:nvSpPr>
        <p:spPr>
          <a:xfrm>
            <a:off x="502920" y="3310128"/>
            <a:ext cx="8229600" cy="347472"/>
          </a:xfrm>
          <a:prstGeom prst="rect">
            <a:avLst/>
          </a:prstGeom>
          <a:noFill/>
          <a:ln/>
        </p:spPr>
        <p:txBody>
          <a:bodyPr wrap="square" lIns="0" tIns="0" rIns="0" bIns="0" rtlCol="0" anchor="ctr"/>
          <a:lstStyle/>
          <a:p>
            <a:pPr indent="0" marL="0">
              <a:buNone/>
            </a:pPr>
            <a:r>
              <a:rPr lang="en-US" sz="1200" dirty="0">
                <a:solidFill>
                  <a:srgbClr val="94A3B8"/>
                </a:solidFill>
              </a:rPr>
              <a:t>📈  How your data quality score has changed week by week — is it getting better or worse?</a:t>
            </a:r>
            <a:endParaRPr lang="en-US" sz="1200" dirty="0"/>
          </a:p>
        </p:txBody>
      </p:sp>
      <p:sp>
        <p:nvSpPr>
          <p:cNvPr id="26" name="Text 24"/>
          <p:cNvSpPr/>
          <p:nvPr/>
        </p:nvSpPr>
        <p:spPr>
          <a:xfrm>
            <a:off x="502920" y="3721608"/>
            <a:ext cx="8229600" cy="347472"/>
          </a:xfrm>
          <a:prstGeom prst="rect">
            <a:avLst/>
          </a:prstGeom>
          <a:noFill/>
          <a:ln/>
        </p:spPr>
        <p:txBody>
          <a:bodyPr wrap="square" lIns="0" tIns="0" rIns="0" bIns="0" rtlCol="0" anchor="ctr"/>
          <a:lstStyle/>
          <a:p>
            <a:pPr indent="0" marL="0">
              <a:buNone/>
            </a:pPr>
            <a:r>
              <a:rPr lang="en-US" sz="1200" dirty="0">
                <a:solidFill>
                  <a:srgbClr val="94A3B8"/>
                </a:solidFill>
              </a:rPr>
              <a:t>🔔  Which files need your attention right now, shown as alerts</a:t>
            </a:r>
            <a:endParaRPr lang="en-US" sz="1200" dirty="0"/>
          </a:p>
        </p:txBody>
      </p:sp>
      <p:sp>
        <p:nvSpPr>
          <p:cNvPr id="27" name="Text 25"/>
          <p:cNvSpPr/>
          <p:nvPr/>
        </p:nvSpPr>
        <p:spPr>
          <a:xfrm>
            <a:off x="502920" y="4133088"/>
            <a:ext cx="8229600" cy="347472"/>
          </a:xfrm>
          <a:prstGeom prst="rect">
            <a:avLst/>
          </a:prstGeom>
          <a:noFill/>
          <a:ln/>
        </p:spPr>
        <p:txBody>
          <a:bodyPr wrap="square" lIns="0" tIns="0" rIns="0" bIns="0" rtlCol="0" anchor="ctr"/>
          <a:lstStyle/>
          <a:p>
            <a:pPr indent="0" marL="0">
              <a:buNone/>
            </a:pPr>
            <a:r>
              <a:rPr lang="en-US" sz="1200" dirty="0">
                <a:solidFill>
                  <a:srgbClr val="94A3B8"/>
                </a:solidFill>
              </a:rPr>
              <a:t>📋  A list of all your files with their health score and when they were last checked</a:t>
            </a:r>
            <a:endParaRPr lang="en-US" sz="1200" dirty="0"/>
          </a:p>
        </p:txBody>
      </p:sp>
      <p:sp>
        <p:nvSpPr>
          <p:cNvPr id="28" name="Text 26"/>
          <p:cNvSpPr/>
          <p:nvPr/>
        </p:nvSpPr>
        <p:spPr>
          <a:xfrm>
            <a:off x="502920" y="4544568"/>
            <a:ext cx="8229600" cy="347472"/>
          </a:xfrm>
          <a:prstGeom prst="rect">
            <a:avLst/>
          </a:prstGeom>
          <a:noFill/>
          <a:ln/>
        </p:spPr>
        <p:txBody>
          <a:bodyPr wrap="square" lIns="0" tIns="0" rIns="0" bIns="0" rtlCol="0" anchor="ctr"/>
          <a:lstStyle/>
          <a:p>
            <a:pPr indent="0" marL="0">
              <a:buNone/>
            </a:pPr>
            <a:r>
              <a:rPr lang="en-US" sz="1200" dirty="0">
                <a:solidFill>
                  <a:srgbClr val="94A3B8"/>
                </a:solidFill>
              </a:rPr>
              <a:t>⚡  Click any file to jump straight into its full analysis report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F1E"/>
          </a:solidFill>
          <a:ln w="12700">
            <a:solidFill>
              <a:srgbClr val="0A0F1E"/>
            </a:solidFill>
            <a:prstDash val="solid"/>
          </a:ln>
        </p:spPr>
      </p:sp>
      <p:sp>
        <p:nvSpPr>
          <p:cNvPr id="3" name="Shape 1"/>
          <p:cNvSpPr/>
          <p:nvPr/>
        </p:nvSpPr>
        <p:spPr>
          <a:xfrm>
            <a:off x="0" y="0"/>
            <a:ext cx="45720" cy="5143500"/>
          </a:xfrm>
          <a:prstGeom prst="rect">
            <a:avLst/>
          </a:prstGeom>
          <a:solidFill>
            <a:srgbClr val="4F46E5"/>
          </a:solidFill>
          <a:ln w="12700">
            <a:solidFill>
              <a:srgbClr val="4F46E5"/>
            </a:solidFill>
            <a:prstDash val="solid"/>
          </a:ln>
        </p:spPr>
      </p:sp>
      <p:sp>
        <p:nvSpPr>
          <p:cNvPr id="4" name="Shape 2"/>
          <p:cNvSpPr/>
          <p:nvPr/>
        </p:nvSpPr>
        <p:spPr>
          <a:xfrm>
            <a:off x="502920" y="274320"/>
            <a:ext cx="1126541" cy="228600"/>
          </a:xfrm>
          <a:prstGeom prst="roundRect">
            <a:avLst>
              <a:gd name="adj" fmla="val 16000"/>
            </a:avLst>
          </a:prstGeom>
          <a:solidFill>
            <a:srgbClr val="161D2F"/>
          </a:solidFill>
          <a:ln w="12700">
            <a:solidFill>
              <a:srgbClr val="4F46E5"/>
            </a:solidFill>
            <a:prstDash val="solid"/>
          </a:ln>
        </p:spPr>
      </p:sp>
      <p:sp>
        <p:nvSpPr>
          <p:cNvPr id="5" name="Text 3"/>
          <p:cNvSpPr/>
          <p:nvPr/>
        </p:nvSpPr>
        <p:spPr>
          <a:xfrm>
            <a:off x="502920" y="283464"/>
            <a:ext cx="1126541" cy="228600"/>
          </a:xfrm>
          <a:prstGeom prst="rect">
            <a:avLst/>
          </a:prstGeom>
          <a:noFill/>
          <a:ln/>
        </p:spPr>
        <p:txBody>
          <a:bodyPr wrap="square" lIns="0" tIns="0" rIns="0" bIns="0" rtlCol="0" anchor="ctr"/>
          <a:lstStyle/>
          <a:p>
            <a:pPr algn="ctr" indent="0" marL="0">
              <a:buNone/>
            </a:pPr>
            <a:r>
              <a:rPr lang="en-US" sz="850" b="1" dirty="0">
                <a:solidFill>
                  <a:srgbClr val="4F46E5"/>
                </a:solidFill>
              </a:rPr>
              <a:t>PAGE 2 OF 7</a:t>
            </a:r>
            <a:endParaRPr lang="en-US" sz="850" dirty="0"/>
          </a:p>
        </p:txBody>
      </p:sp>
      <p:sp>
        <p:nvSpPr>
          <p:cNvPr id="6" name="Text 4"/>
          <p:cNvSpPr/>
          <p:nvPr/>
        </p:nvSpPr>
        <p:spPr>
          <a:xfrm>
            <a:off x="502920" y="621792"/>
            <a:ext cx="8229600" cy="548640"/>
          </a:xfrm>
          <a:prstGeom prst="rect">
            <a:avLst/>
          </a:prstGeom>
          <a:noFill/>
          <a:ln/>
        </p:spPr>
        <p:txBody>
          <a:bodyPr wrap="square" lIns="0" tIns="0" rIns="0" bIns="0" rtlCol="0" anchor="ctr"/>
          <a:lstStyle/>
          <a:p>
            <a:pPr indent="0" marL="0">
              <a:buNone/>
            </a:pPr>
            <a:r>
              <a:rPr lang="en-US" sz="3600" b="1" dirty="0">
                <a:solidFill>
                  <a:srgbClr val="F8FAFC"/>
                </a:solidFill>
              </a:rPr>
              <a:t>Upload Dataset</a:t>
            </a:r>
            <a:endParaRPr lang="en-US" sz="3600" dirty="0"/>
          </a:p>
        </p:txBody>
      </p:sp>
      <p:sp>
        <p:nvSpPr>
          <p:cNvPr id="7" name="Text 5"/>
          <p:cNvSpPr/>
          <p:nvPr/>
        </p:nvSpPr>
        <p:spPr>
          <a:xfrm>
            <a:off x="502920" y="1207008"/>
            <a:ext cx="8229600" cy="329184"/>
          </a:xfrm>
          <a:prstGeom prst="rect">
            <a:avLst/>
          </a:prstGeom>
          <a:noFill/>
          <a:ln/>
        </p:spPr>
        <p:txBody>
          <a:bodyPr wrap="square" lIns="0" tIns="0" rIns="0" bIns="0" rtlCol="0" anchor="ctr"/>
          <a:lstStyle/>
          <a:p>
            <a:pPr indent="0" marL="0">
              <a:buNone/>
            </a:pPr>
            <a:r>
              <a:rPr lang="en-US" sz="1300" dirty="0">
                <a:solidFill>
                  <a:srgbClr val="94A3B8"/>
                </a:solidFill>
              </a:rPr>
              <a:t>Drop your file — the platform does everything else automatically in under 30 seconds.</a:t>
            </a:r>
            <a:endParaRPr lang="en-US" sz="1300" dirty="0"/>
          </a:p>
        </p:txBody>
      </p:sp>
      <p:sp>
        <p:nvSpPr>
          <p:cNvPr id="8" name="Shape 6"/>
          <p:cNvSpPr/>
          <p:nvPr/>
        </p:nvSpPr>
        <p:spPr>
          <a:xfrm>
            <a:off x="502920" y="1719072"/>
            <a:ext cx="3931920" cy="2286000"/>
          </a:xfrm>
          <a:prstGeom prst="roundRect">
            <a:avLst>
              <a:gd name="adj" fmla="val 2800"/>
            </a:avLst>
          </a:prstGeom>
          <a:solidFill>
            <a:srgbClr val="161D2F"/>
          </a:solidFill>
          <a:ln w="12700">
            <a:solidFill>
              <a:srgbClr val="1E293B"/>
            </a:solidFill>
            <a:prstDash val="solid"/>
          </a:ln>
        </p:spPr>
      </p:sp>
      <p:sp>
        <p:nvSpPr>
          <p:cNvPr id="9" name="Shape 7"/>
          <p:cNvSpPr/>
          <p:nvPr/>
        </p:nvSpPr>
        <p:spPr>
          <a:xfrm>
            <a:off x="868680" y="1901952"/>
            <a:ext cx="3200400" cy="1554480"/>
          </a:xfrm>
          <a:prstGeom prst="roundRect">
            <a:avLst>
              <a:gd name="adj" fmla="val 5882"/>
            </a:avLst>
          </a:prstGeom>
          <a:solidFill>
            <a:srgbClr val="334155">
              <a:alpha val="40000"/>
            </a:srgbClr>
          </a:solidFill>
          <a:ln w="12700">
            <a:solidFill>
              <a:srgbClr val="4F46E5"/>
            </a:solidFill>
            <a:prstDash val="solid"/>
          </a:ln>
        </p:spPr>
      </p:sp>
      <p:sp>
        <p:nvSpPr>
          <p:cNvPr id="10" name="Text 8"/>
          <p:cNvSpPr/>
          <p:nvPr/>
        </p:nvSpPr>
        <p:spPr>
          <a:xfrm>
            <a:off x="868680" y="1965960"/>
            <a:ext cx="3200400" cy="59436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1" name="Text 9"/>
          <p:cNvSpPr/>
          <p:nvPr/>
        </p:nvSpPr>
        <p:spPr>
          <a:xfrm>
            <a:off x="868680" y="2606040"/>
            <a:ext cx="3200400" cy="274320"/>
          </a:xfrm>
          <a:prstGeom prst="rect">
            <a:avLst/>
          </a:prstGeom>
          <a:noFill/>
          <a:ln/>
        </p:spPr>
        <p:txBody>
          <a:bodyPr wrap="square" lIns="0" tIns="0" rIns="0" bIns="0" rtlCol="0" anchor="ctr"/>
          <a:lstStyle/>
          <a:p>
            <a:pPr algn="ctr" indent="0" marL="0">
              <a:buNone/>
            </a:pPr>
            <a:r>
              <a:rPr lang="en-US" sz="1300" b="1" dirty="0">
                <a:solidFill>
                  <a:srgbClr val="F8FAFC"/>
                </a:solidFill>
              </a:rPr>
              <a:t>Drop your file here</a:t>
            </a:r>
            <a:endParaRPr lang="en-US" sz="1300" dirty="0"/>
          </a:p>
        </p:txBody>
      </p:sp>
      <p:sp>
        <p:nvSpPr>
          <p:cNvPr id="12" name="Text 10"/>
          <p:cNvSpPr/>
          <p:nvPr/>
        </p:nvSpPr>
        <p:spPr>
          <a:xfrm>
            <a:off x="868680" y="2907792"/>
            <a:ext cx="3200400" cy="256032"/>
          </a:xfrm>
          <a:prstGeom prst="rect">
            <a:avLst/>
          </a:prstGeom>
          <a:noFill/>
          <a:ln/>
        </p:spPr>
        <p:txBody>
          <a:bodyPr wrap="square" lIns="0" tIns="0" rIns="0" bIns="0" rtlCol="0" anchor="ctr"/>
          <a:lstStyle/>
          <a:p>
            <a:pPr algn="ctr" indent="0" marL="0">
              <a:buNone/>
            </a:pPr>
            <a:r>
              <a:rPr lang="en-US" sz="1100" dirty="0">
                <a:solidFill>
                  <a:srgbClr val="94A3B8"/>
                </a:solidFill>
              </a:rPr>
              <a:t>Supports CSV and Excel files</a:t>
            </a:r>
            <a:endParaRPr lang="en-US" sz="1100" dirty="0"/>
          </a:p>
        </p:txBody>
      </p:sp>
      <p:sp>
        <p:nvSpPr>
          <p:cNvPr id="13" name="Text 11"/>
          <p:cNvSpPr/>
          <p:nvPr/>
        </p:nvSpPr>
        <p:spPr>
          <a:xfrm>
            <a:off x="4663440" y="1719072"/>
            <a:ext cx="4023360" cy="320040"/>
          </a:xfrm>
          <a:prstGeom prst="rect">
            <a:avLst/>
          </a:prstGeom>
          <a:noFill/>
          <a:ln/>
        </p:spPr>
        <p:txBody>
          <a:bodyPr wrap="square" lIns="0" tIns="0" rIns="0" bIns="0" rtlCol="0" anchor="ctr"/>
          <a:lstStyle/>
          <a:p>
            <a:pPr indent="0" marL="0">
              <a:buNone/>
            </a:pPr>
            <a:r>
              <a:rPr lang="en-US" sz="1200" b="1" dirty="0">
                <a:solidFill>
                  <a:srgbClr val="F8FAFC"/>
                </a:solidFill>
              </a:rPr>
              <a:t>What gets checked automatically:</a:t>
            </a:r>
            <a:endParaRPr lang="en-US" sz="1200" dirty="0"/>
          </a:p>
        </p:txBody>
      </p:sp>
      <p:sp>
        <p:nvSpPr>
          <p:cNvPr id="14" name="Shape 12"/>
          <p:cNvSpPr/>
          <p:nvPr/>
        </p:nvSpPr>
        <p:spPr>
          <a:xfrm>
            <a:off x="4663440" y="2221992"/>
            <a:ext cx="182880" cy="182880"/>
          </a:xfrm>
          <a:prstGeom prst="ellipse">
            <a:avLst/>
          </a:prstGeom>
          <a:solidFill>
            <a:srgbClr val="F59E0B"/>
          </a:solidFill>
          <a:ln w="12700">
            <a:solidFill>
              <a:srgbClr val="F59E0B"/>
            </a:solidFill>
            <a:prstDash val="solid"/>
          </a:ln>
        </p:spPr>
      </p:sp>
      <p:sp>
        <p:nvSpPr>
          <p:cNvPr id="15" name="Text 13"/>
          <p:cNvSpPr/>
          <p:nvPr/>
        </p:nvSpPr>
        <p:spPr>
          <a:xfrm>
            <a:off x="4956048" y="2148840"/>
            <a:ext cx="3657600" cy="320040"/>
          </a:xfrm>
          <a:prstGeom prst="rect">
            <a:avLst/>
          </a:prstGeom>
          <a:noFill/>
          <a:ln/>
        </p:spPr>
        <p:txBody>
          <a:bodyPr wrap="square" lIns="0" tIns="0" rIns="0" bIns="0" rtlCol="0" anchor="ctr"/>
          <a:lstStyle/>
          <a:p>
            <a:pPr indent="0" marL="0">
              <a:buNone/>
            </a:pPr>
            <a:r>
              <a:rPr lang="en-US" sz="1200" dirty="0">
                <a:solidFill>
                  <a:srgbClr val="94A3B8"/>
                </a:solidFill>
              </a:rPr>
              <a:t>Missing and blank values</a:t>
            </a:r>
            <a:endParaRPr lang="en-US" sz="1200" dirty="0"/>
          </a:p>
        </p:txBody>
      </p:sp>
      <p:sp>
        <p:nvSpPr>
          <p:cNvPr id="16" name="Shape 14"/>
          <p:cNvSpPr/>
          <p:nvPr/>
        </p:nvSpPr>
        <p:spPr>
          <a:xfrm>
            <a:off x="4663440" y="2624328"/>
            <a:ext cx="182880" cy="182880"/>
          </a:xfrm>
          <a:prstGeom prst="ellipse">
            <a:avLst/>
          </a:prstGeom>
          <a:solidFill>
            <a:srgbClr val="F43F5E"/>
          </a:solidFill>
          <a:ln w="12700">
            <a:solidFill>
              <a:srgbClr val="F43F5E"/>
            </a:solidFill>
            <a:prstDash val="solid"/>
          </a:ln>
        </p:spPr>
      </p:sp>
      <p:sp>
        <p:nvSpPr>
          <p:cNvPr id="17" name="Text 15"/>
          <p:cNvSpPr/>
          <p:nvPr/>
        </p:nvSpPr>
        <p:spPr>
          <a:xfrm>
            <a:off x="4956048" y="2551176"/>
            <a:ext cx="3657600" cy="320040"/>
          </a:xfrm>
          <a:prstGeom prst="rect">
            <a:avLst/>
          </a:prstGeom>
          <a:noFill/>
          <a:ln/>
        </p:spPr>
        <p:txBody>
          <a:bodyPr wrap="square" lIns="0" tIns="0" rIns="0" bIns="0" rtlCol="0" anchor="ctr"/>
          <a:lstStyle/>
          <a:p>
            <a:pPr indent="0" marL="0">
              <a:buNone/>
            </a:pPr>
            <a:r>
              <a:rPr lang="en-US" sz="1200" dirty="0">
                <a:solidFill>
                  <a:srgbClr val="94A3B8"/>
                </a:solidFill>
              </a:rPr>
              <a:t>Duplicate records</a:t>
            </a:r>
            <a:endParaRPr lang="en-US" sz="1200" dirty="0"/>
          </a:p>
        </p:txBody>
      </p:sp>
      <p:sp>
        <p:nvSpPr>
          <p:cNvPr id="18" name="Shape 16"/>
          <p:cNvSpPr/>
          <p:nvPr/>
        </p:nvSpPr>
        <p:spPr>
          <a:xfrm>
            <a:off x="4663440" y="3026664"/>
            <a:ext cx="182880" cy="182880"/>
          </a:xfrm>
          <a:prstGeom prst="ellipse">
            <a:avLst/>
          </a:prstGeom>
          <a:solidFill>
            <a:srgbClr val="8B5CF6"/>
          </a:solidFill>
          <a:ln w="12700">
            <a:solidFill>
              <a:srgbClr val="8B5CF6"/>
            </a:solidFill>
            <a:prstDash val="solid"/>
          </a:ln>
        </p:spPr>
      </p:sp>
      <p:sp>
        <p:nvSpPr>
          <p:cNvPr id="19" name="Text 17"/>
          <p:cNvSpPr/>
          <p:nvPr/>
        </p:nvSpPr>
        <p:spPr>
          <a:xfrm>
            <a:off x="4956048" y="2953512"/>
            <a:ext cx="3657600" cy="320040"/>
          </a:xfrm>
          <a:prstGeom prst="rect">
            <a:avLst/>
          </a:prstGeom>
          <a:noFill/>
          <a:ln/>
        </p:spPr>
        <p:txBody>
          <a:bodyPr wrap="square" lIns="0" tIns="0" rIns="0" bIns="0" rtlCol="0" anchor="ctr"/>
          <a:lstStyle/>
          <a:p>
            <a:pPr indent="0" marL="0">
              <a:buNone/>
            </a:pPr>
            <a:r>
              <a:rPr lang="en-US" sz="1200" dirty="0">
                <a:solidFill>
                  <a:srgbClr val="94A3B8"/>
                </a:solidFill>
              </a:rPr>
              <a:t>Invalid emails and phone numbers</a:t>
            </a:r>
            <a:endParaRPr lang="en-US" sz="1200" dirty="0"/>
          </a:p>
        </p:txBody>
      </p:sp>
      <p:sp>
        <p:nvSpPr>
          <p:cNvPr id="20" name="Shape 18"/>
          <p:cNvSpPr/>
          <p:nvPr/>
        </p:nvSpPr>
        <p:spPr>
          <a:xfrm>
            <a:off x="4663440" y="3429000"/>
            <a:ext cx="182880" cy="182880"/>
          </a:xfrm>
          <a:prstGeom prst="ellipse">
            <a:avLst/>
          </a:prstGeom>
          <a:solidFill>
            <a:srgbClr val="06B6D4"/>
          </a:solidFill>
          <a:ln w="12700">
            <a:solidFill>
              <a:srgbClr val="06B6D4"/>
            </a:solidFill>
            <a:prstDash val="solid"/>
          </a:ln>
        </p:spPr>
      </p:sp>
      <p:sp>
        <p:nvSpPr>
          <p:cNvPr id="21" name="Text 19"/>
          <p:cNvSpPr/>
          <p:nvPr/>
        </p:nvSpPr>
        <p:spPr>
          <a:xfrm>
            <a:off x="4956048" y="3355848"/>
            <a:ext cx="3657600" cy="320040"/>
          </a:xfrm>
          <a:prstGeom prst="rect">
            <a:avLst/>
          </a:prstGeom>
          <a:noFill/>
          <a:ln/>
        </p:spPr>
        <p:txBody>
          <a:bodyPr wrap="square" lIns="0" tIns="0" rIns="0" bIns="0" rtlCol="0" anchor="ctr"/>
          <a:lstStyle/>
          <a:p>
            <a:pPr indent="0" marL="0">
              <a:buNone/>
            </a:pPr>
            <a:r>
              <a:rPr lang="en-US" sz="1200" dirty="0">
                <a:solidFill>
                  <a:srgbClr val="94A3B8"/>
                </a:solidFill>
              </a:rPr>
              <a:t>Dates in the wrong format</a:t>
            </a:r>
            <a:endParaRPr lang="en-US" sz="1200" dirty="0"/>
          </a:p>
        </p:txBody>
      </p:sp>
      <p:sp>
        <p:nvSpPr>
          <p:cNvPr id="22" name="Shape 20"/>
          <p:cNvSpPr/>
          <p:nvPr/>
        </p:nvSpPr>
        <p:spPr>
          <a:xfrm>
            <a:off x="4663440" y="3831336"/>
            <a:ext cx="182880" cy="182880"/>
          </a:xfrm>
          <a:prstGeom prst="ellipse">
            <a:avLst/>
          </a:prstGeom>
          <a:solidFill>
            <a:srgbClr val="10B981"/>
          </a:solidFill>
          <a:ln w="12700">
            <a:solidFill>
              <a:srgbClr val="10B981"/>
            </a:solidFill>
            <a:prstDash val="solid"/>
          </a:ln>
        </p:spPr>
      </p:sp>
      <p:sp>
        <p:nvSpPr>
          <p:cNvPr id="23" name="Text 21"/>
          <p:cNvSpPr/>
          <p:nvPr/>
        </p:nvSpPr>
        <p:spPr>
          <a:xfrm>
            <a:off x="4956048" y="3758184"/>
            <a:ext cx="3657600" cy="320040"/>
          </a:xfrm>
          <a:prstGeom prst="rect">
            <a:avLst/>
          </a:prstGeom>
          <a:noFill/>
          <a:ln/>
        </p:spPr>
        <p:txBody>
          <a:bodyPr wrap="square" lIns="0" tIns="0" rIns="0" bIns="0" rtlCol="0" anchor="ctr"/>
          <a:lstStyle/>
          <a:p>
            <a:pPr indent="0" marL="0">
              <a:buNone/>
            </a:pPr>
            <a:r>
              <a:rPr lang="en-US" sz="1200" dirty="0">
                <a:solidFill>
                  <a:srgbClr val="94A3B8"/>
                </a:solidFill>
              </a:rPr>
              <a:t>Numbers that look unusual</a:t>
            </a:r>
            <a:endParaRPr lang="en-US" sz="1200" dirty="0"/>
          </a:p>
        </p:txBody>
      </p:sp>
      <p:sp>
        <p:nvSpPr>
          <p:cNvPr id="24" name="Shape 22"/>
          <p:cNvSpPr/>
          <p:nvPr/>
        </p:nvSpPr>
        <p:spPr>
          <a:xfrm>
            <a:off x="4663440" y="4233672"/>
            <a:ext cx="182880" cy="182880"/>
          </a:xfrm>
          <a:prstGeom prst="ellipse">
            <a:avLst/>
          </a:prstGeom>
          <a:solidFill>
            <a:srgbClr val="4F46E5"/>
          </a:solidFill>
          <a:ln w="12700">
            <a:solidFill>
              <a:srgbClr val="4F46E5"/>
            </a:solidFill>
            <a:prstDash val="solid"/>
          </a:ln>
        </p:spPr>
      </p:sp>
      <p:sp>
        <p:nvSpPr>
          <p:cNvPr id="25" name="Text 23"/>
          <p:cNvSpPr/>
          <p:nvPr/>
        </p:nvSpPr>
        <p:spPr>
          <a:xfrm>
            <a:off x="4956048" y="4160520"/>
            <a:ext cx="3657600" cy="320040"/>
          </a:xfrm>
          <a:prstGeom prst="rect">
            <a:avLst/>
          </a:prstGeom>
          <a:noFill/>
          <a:ln/>
        </p:spPr>
        <p:txBody>
          <a:bodyPr wrap="square" lIns="0" tIns="0" rIns="0" bIns="0" rtlCol="0" anchor="ctr"/>
          <a:lstStyle/>
          <a:p>
            <a:pPr indent="0" marL="0">
              <a:buNone/>
            </a:pPr>
            <a:r>
              <a:rPr lang="en-US" sz="1200" dirty="0">
                <a:solidFill>
                  <a:srgbClr val="94A3B8"/>
                </a:solidFill>
              </a:rPr>
              <a:t>Inconsistencies across columns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F1E"/>
          </a:solidFill>
          <a:ln w="12700">
            <a:solidFill>
              <a:srgbClr val="0A0F1E"/>
            </a:solidFill>
            <a:prstDash val="solid"/>
          </a:ln>
        </p:spPr>
      </p:sp>
      <p:sp>
        <p:nvSpPr>
          <p:cNvPr id="3" name="Shape 1"/>
          <p:cNvSpPr/>
          <p:nvPr/>
        </p:nvSpPr>
        <p:spPr>
          <a:xfrm>
            <a:off x="0" y="0"/>
            <a:ext cx="45720" cy="5143500"/>
          </a:xfrm>
          <a:prstGeom prst="rect">
            <a:avLst/>
          </a:prstGeom>
          <a:solidFill>
            <a:srgbClr val="8B5CF6"/>
          </a:solidFill>
          <a:ln w="12700">
            <a:solidFill>
              <a:srgbClr val="8B5CF6"/>
            </a:solidFill>
            <a:prstDash val="solid"/>
          </a:ln>
        </p:spPr>
      </p:sp>
      <p:sp>
        <p:nvSpPr>
          <p:cNvPr id="4" name="Shape 2"/>
          <p:cNvSpPr/>
          <p:nvPr/>
        </p:nvSpPr>
        <p:spPr>
          <a:xfrm>
            <a:off x="502920" y="274320"/>
            <a:ext cx="1126541" cy="228600"/>
          </a:xfrm>
          <a:prstGeom prst="roundRect">
            <a:avLst>
              <a:gd name="adj" fmla="val 16000"/>
            </a:avLst>
          </a:prstGeom>
          <a:solidFill>
            <a:srgbClr val="161D2F"/>
          </a:solidFill>
          <a:ln w="12700">
            <a:solidFill>
              <a:srgbClr val="8B5CF6"/>
            </a:solidFill>
            <a:prstDash val="solid"/>
          </a:ln>
        </p:spPr>
      </p:sp>
      <p:sp>
        <p:nvSpPr>
          <p:cNvPr id="5" name="Text 3"/>
          <p:cNvSpPr/>
          <p:nvPr/>
        </p:nvSpPr>
        <p:spPr>
          <a:xfrm>
            <a:off x="502920" y="283464"/>
            <a:ext cx="1126541" cy="228600"/>
          </a:xfrm>
          <a:prstGeom prst="rect">
            <a:avLst/>
          </a:prstGeom>
          <a:noFill/>
          <a:ln/>
        </p:spPr>
        <p:txBody>
          <a:bodyPr wrap="square" lIns="0" tIns="0" rIns="0" bIns="0" rtlCol="0" anchor="ctr"/>
          <a:lstStyle/>
          <a:p>
            <a:pPr algn="ctr" indent="0" marL="0">
              <a:buNone/>
            </a:pPr>
            <a:r>
              <a:rPr lang="en-US" sz="850" b="1" dirty="0">
                <a:solidFill>
                  <a:srgbClr val="8B5CF6"/>
                </a:solidFill>
              </a:rPr>
              <a:t>PAGE 3 OF 7</a:t>
            </a:r>
            <a:endParaRPr lang="en-US" sz="850" dirty="0"/>
          </a:p>
        </p:txBody>
      </p:sp>
      <p:sp>
        <p:nvSpPr>
          <p:cNvPr id="6" name="Text 4"/>
          <p:cNvSpPr/>
          <p:nvPr/>
        </p:nvSpPr>
        <p:spPr>
          <a:xfrm>
            <a:off x="502920" y="621792"/>
            <a:ext cx="8229600" cy="548640"/>
          </a:xfrm>
          <a:prstGeom prst="rect">
            <a:avLst/>
          </a:prstGeom>
          <a:noFill/>
          <a:ln/>
        </p:spPr>
        <p:txBody>
          <a:bodyPr wrap="square" lIns="0" tIns="0" rIns="0" bIns="0" rtlCol="0" anchor="ctr"/>
          <a:lstStyle/>
          <a:p>
            <a:pPr indent="0" marL="0">
              <a:buNone/>
            </a:pPr>
            <a:r>
              <a:rPr lang="en-US" sz="3600" b="1" dirty="0">
                <a:solidFill>
                  <a:srgbClr val="F8FAFC"/>
                </a:solidFill>
              </a:rPr>
              <a:t>Analysis Results</a:t>
            </a:r>
            <a:endParaRPr lang="en-US" sz="3600" dirty="0"/>
          </a:p>
        </p:txBody>
      </p:sp>
      <p:sp>
        <p:nvSpPr>
          <p:cNvPr id="7" name="Text 5"/>
          <p:cNvSpPr/>
          <p:nvPr/>
        </p:nvSpPr>
        <p:spPr>
          <a:xfrm>
            <a:off x="502920" y="1207008"/>
            <a:ext cx="8229600" cy="329184"/>
          </a:xfrm>
          <a:prstGeom prst="rect">
            <a:avLst/>
          </a:prstGeom>
          <a:noFill/>
          <a:ln/>
        </p:spPr>
        <p:txBody>
          <a:bodyPr wrap="square" lIns="0" tIns="0" rIns="0" bIns="0" rtlCol="0" anchor="ctr"/>
          <a:lstStyle/>
          <a:p>
            <a:pPr indent="0" marL="0">
              <a:buNone/>
            </a:pPr>
            <a:r>
              <a:rPr lang="en-US" sz="1300" dirty="0">
                <a:solidFill>
                  <a:srgbClr val="94A3B8"/>
                </a:solidFill>
              </a:rPr>
              <a:t>A full health report for every column in your file, with a score out of 100.</a:t>
            </a:r>
            <a:endParaRPr lang="en-US" sz="1300" dirty="0"/>
          </a:p>
        </p:txBody>
      </p:sp>
      <p:sp>
        <p:nvSpPr>
          <p:cNvPr id="8" name="Shape 6"/>
          <p:cNvSpPr/>
          <p:nvPr/>
        </p:nvSpPr>
        <p:spPr>
          <a:xfrm>
            <a:off x="502920" y="1719072"/>
            <a:ext cx="2148840" cy="3108960"/>
          </a:xfrm>
          <a:prstGeom prst="roundRect">
            <a:avLst>
              <a:gd name="adj" fmla="val 2979"/>
            </a:avLst>
          </a:prstGeom>
          <a:solidFill>
            <a:srgbClr val="161D2F"/>
          </a:solidFill>
          <a:ln w="12700">
            <a:solidFill>
              <a:srgbClr val="1E293B"/>
            </a:solidFill>
            <a:prstDash val="solid"/>
          </a:ln>
        </p:spPr>
      </p:sp>
      <p:sp>
        <p:nvSpPr>
          <p:cNvPr id="9" name="Text 7"/>
          <p:cNvSpPr/>
          <p:nvPr/>
        </p:nvSpPr>
        <p:spPr>
          <a:xfrm>
            <a:off x="502920" y="1920240"/>
            <a:ext cx="2148840" cy="1005840"/>
          </a:xfrm>
          <a:prstGeom prst="rect">
            <a:avLst/>
          </a:prstGeom>
          <a:noFill/>
          <a:ln/>
        </p:spPr>
        <p:txBody>
          <a:bodyPr wrap="square" lIns="0" tIns="0" rIns="0" bIns="0" rtlCol="0" anchor="ctr"/>
          <a:lstStyle/>
          <a:p>
            <a:pPr algn="ctr" indent="0" marL="0">
              <a:buNone/>
            </a:pPr>
            <a:r>
              <a:rPr lang="en-US" sz="7000" b="1" dirty="0">
                <a:solidFill>
                  <a:srgbClr val="10B981"/>
                </a:solidFill>
              </a:rPr>
              <a:t>92</a:t>
            </a:r>
            <a:endParaRPr lang="en-US" sz="7000" dirty="0"/>
          </a:p>
        </p:txBody>
      </p:sp>
      <p:sp>
        <p:nvSpPr>
          <p:cNvPr id="10" name="Text 8"/>
          <p:cNvSpPr/>
          <p:nvPr/>
        </p:nvSpPr>
        <p:spPr>
          <a:xfrm>
            <a:off x="502920" y="2852928"/>
            <a:ext cx="2148840" cy="274320"/>
          </a:xfrm>
          <a:prstGeom prst="rect">
            <a:avLst/>
          </a:prstGeom>
          <a:noFill/>
          <a:ln/>
        </p:spPr>
        <p:txBody>
          <a:bodyPr wrap="square" lIns="0" tIns="0" rIns="0" bIns="0" rtlCol="0" anchor="ctr"/>
          <a:lstStyle/>
          <a:p>
            <a:pPr algn="ctr" indent="0" marL="0">
              <a:buNone/>
            </a:pPr>
            <a:r>
              <a:rPr lang="en-US" sz="1100" dirty="0">
                <a:solidFill>
                  <a:srgbClr val="94A3B8"/>
                </a:solidFill>
              </a:rPr>
              <a:t>out of 100</a:t>
            </a:r>
            <a:endParaRPr lang="en-US" sz="1100" dirty="0"/>
          </a:p>
        </p:txBody>
      </p:sp>
      <p:sp>
        <p:nvSpPr>
          <p:cNvPr id="11" name="Text 9"/>
          <p:cNvSpPr/>
          <p:nvPr/>
        </p:nvSpPr>
        <p:spPr>
          <a:xfrm>
            <a:off x="502920" y="3163824"/>
            <a:ext cx="2148840" cy="274320"/>
          </a:xfrm>
          <a:prstGeom prst="rect">
            <a:avLst/>
          </a:prstGeom>
          <a:noFill/>
          <a:ln/>
        </p:spPr>
        <p:txBody>
          <a:bodyPr wrap="square" lIns="0" tIns="0" rIns="0" bIns="0" rtlCol="0" anchor="ctr"/>
          <a:lstStyle/>
          <a:p>
            <a:pPr algn="ctr" indent="0" marL="0">
              <a:buNone/>
            </a:pPr>
            <a:r>
              <a:rPr lang="en-US" sz="1200" b="1" dirty="0">
                <a:solidFill>
                  <a:srgbClr val="10B981"/>
                </a:solidFill>
              </a:rPr>
              <a:t>Quality Score</a:t>
            </a:r>
            <a:endParaRPr lang="en-US" sz="1200" dirty="0"/>
          </a:p>
        </p:txBody>
      </p:sp>
      <p:sp>
        <p:nvSpPr>
          <p:cNvPr id="12" name="Text 10"/>
          <p:cNvSpPr/>
          <p:nvPr/>
        </p:nvSpPr>
        <p:spPr>
          <a:xfrm>
            <a:off x="502920" y="3493008"/>
            <a:ext cx="2148840" cy="274320"/>
          </a:xfrm>
          <a:prstGeom prst="rect">
            <a:avLst/>
          </a:prstGeom>
          <a:noFill/>
          <a:ln/>
        </p:spPr>
        <p:txBody>
          <a:bodyPr wrap="square" lIns="0" tIns="0" rIns="0" bIns="0" rtlCol="0" anchor="ctr"/>
          <a:lstStyle/>
          <a:p>
            <a:pPr algn="ctr" indent="0" marL="0">
              <a:buNone/>
            </a:pPr>
            <a:r>
              <a:rPr lang="en-US" sz="1100" dirty="0">
                <a:solidFill>
                  <a:srgbClr val="94A3B8"/>
                </a:solidFill>
              </a:rPr>
              <a:t>Excellent</a:t>
            </a:r>
            <a:endParaRPr lang="en-US" sz="1100" dirty="0"/>
          </a:p>
        </p:txBody>
      </p:sp>
      <p:sp>
        <p:nvSpPr>
          <p:cNvPr id="13" name="Shape 11"/>
          <p:cNvSpPr/>
          <p:nvPr/>
        </p:nvSpPr>
        <p:spPr>
          <a:xfrm>
            <a:off x="2834640" y="1719072"/>
            <a:ext cx="5852160" cy="3108960"/>
          </a:xfrm>
          <a:prstGeom prst="roundRect">
            <a:avLst>
              <a:gd name="adj" fmla="val 2059"/>
            </a:avLst>
          </a:prstGeom>
          <a:solidFill>
            <a:srgbClr val="161D2F"/>
          </a:solidFill>
          <a:ln w="12700">
            <a:solidFill>
              <a:srgbClr val="1E293B"/>
            </a:solidFill>
            <a:prstDash val="solid"/>
          </a:ln>
        </p:spPr>
      </p:sp>
      <p:sp>
        <p:nvSpPr>
          <p:cNvPr id="14" name="Text 12"/>
          <p:cNvSpPr/>
          <p:nvPr/>
        </p:nvSpPr>
        <p:spPr>
          <a:xfrm>
            <a:off x="2971800" y="1847088"/>
            <a:ext cx="1828800" cy="256032"/>
          </a:xfrm>
          <a:prstGeom prst="rect">
            <a:avLst/>
          </a:prstGeom>
          <a:noFill/>
          <a:ln/>
        </p:spPr>
        <p:txBody>
          <a:bodyPr wrap="square" lIns="0" tIns="0" rIns="0" bIns="0" rtlCol="0" anchor="ctr"/>
          <a:lstStyle/>
          <a:p>
            <a:pPr indent="0" marL="0">
              <a:buNone/>
            </a:pPr>
            <a:r>
              <a:rPr lang="en-US" sz="900" b="1" dirty="0">
                <a:solidFill>
                  <a:srgbClr val="94A3B8"/>
                </a:solidFill>
              </a:rPr>
              <a:t>Column</a:t>
            </a:r>
            <a:endParaRPr lang="en-US" sz="900" dirty="0"/>
          </a:p>
        </p:txBody>
      </p:sp>
      <p:sp>
        <p:nvSpPr>
          <p:cNvPr id="15" name="Text 13"/>
          <p:cNvSpPr/>
          <p:nvPr/>
        </p:nvSpPr>
        <p:spPr>
          <a:xfrm>
            <a:off x="4892040" y="1847088"/>
            <a:ext cx="2103120" cy="256032"/>
          </a:xfrm>
          <a:prstGeom prst="rect">
            <a:avLst/>
          </a:prstGeom>
          <a:noFill/>
          <a:ln/>
        </p:spPr>
        <p:txBody>
          <a:bodyPr wrap="square" lIns="0" tIns="0" rIns="0" bIns="0" rtlCol="0" anchor="ctr"/>
          <a:lstStyle/>
          <a:p>
            <a:pPr indent="0" marL="0">
              <a:buNone/>
            </a:pPr>
            <a:r>
              <a:rPr lang="en-US" sz="900" b="1" dirty="0">
                <a:solidFill>
                  <a:srgbClr val="94A3B8"/>
                </a:solidFill>
              </a:rPr>
              <a:t>Health Score</a:t>
            </a:r>
            <a:endParaRPr lang="en-US" sz="900" dirty="0"/>
          </a:p>
        </p:txBody>
      </p:sp>
      <p:sp>
        <p:nvSpPr>
          <p:cNvPr id="16" name="Text 14"/>
          <p:cNvSpPr/>
          <p:nvPr/>
        </p:nvSpPr>
        <p:spPr>
          <a:xfrm>
            <a:off x="7178040" y="1847088"/>
            <a:ext cx="1280160" cy="256032"/>
          </a:xfrm>
          <a:prstGeom prst="rect">
            <a:avLst/>
          </a:prstGeom>
          <a:noFill/>
          <a:ln/>
        </p:spPr>
        <p:txBody>
          <a:bodyPr wrap="square" lIns="0" tIns="0" rIns="0" bIns="0" rtlCol="0" anchor="ctr"/>
          <a:lstStyle/>
          <a:p>
            <a:pPr indent="0" marL="0">
              <a:buNone/>
            </a:pPr>
            <a:r>
              <a:rPr lang="en-US" sz="900" b="1" dirty="0">
                <a:solidFill>
                  <a:srgbClr val="94A3B8"/>
                </a:solidFill>
              </a:rPr>
              <a:t>Status</a:t>
            </a:r>
            <a:endParaRPr lang="en-US" sz="900" dirty="0"/>
          </a:p>
        </p:txBody>
      </p:sp>
      <p:sp>
        <p:nvSpPr>
          <p:cNvPr id="17" name="Text 15"/>
          <p:cNvSpPr/>
          <p:nvPr/>
        </p:nvSpPr>
        <p:spPr>
          <a:xfrm>
            <a:off x="2971800" y="2212848"/>
            <a:ext cx="1828800" cy="347472"/>
          </a:xfrm>
          <a:prstGeom prst="rect">
            <a:avLst/>
          </a:prstGeom>
          <a:noFill/>
          <a:ln/>
        </p:spPr>
        <p:txBody>
          <a:bodyPr wrap="square" lIns="0" tIns="0" rIns="0" bIns="0" rtlCol="0" anchor="ctr"/>
          <a:lstStyle/>
          <a:p>
            <a:pPr indent="0" marL="0">
              <a:buNone/>
            </a:pPr>
            <a:r>
              <a:rPr lang="en-US" sz="1100" dirty="0">
                <a:solidFill>
                  <a:srgbClr val="06B6D4"/>
                </a:solidFill>
              </a:rPr>
              <a:t>customer_id</a:t>
            </a:r>
            <a:endParaRPr lang="en-US" sz="1100" dirty="0"/>
          </a:p>
        </p:txBody>
      </p:sp>
      <p:sp>
        <p:nvSpPr>
          <p:cNvPr id="18" name="Shape 16"/>
          <p:cNvSpPr/>
          <p:nvPr/>
        </p:nvSpPr>
        <p:spPr>
          <a:xfrm>
            <a:off x="4892040" y="2304288"/>
            <a:ext cx="1920240" cy="137160"/>
          </a:xfrm>
          <a:prstGeom prst="roundRect">
            <a:avLst>
              <a:gd name="adj" fmla="val 46667"/>
            </a:avLst>
          </a:prstGeom>
          <a:solidFill>
            <a:srgbClr val="1E293B"/>
          </a:solidFill>
          <a:ln w="12700">
            <a:solidFill>
              <a:srgbClr val="1E293B"/>
            </a:solidFill>
            <a:prstDash val="solid"/>
          </a:ln>
        </p:spPr>
      </p:sp>
      <p:sp>
        <p:nvSpPr>
          <p:cNvPr id="19" name="Shape 17"/>
          <p:cNvSpPr/>
          <p:nvPr/>
        </p:nvSpPr>
        <p:spPr>
          <a:xfrm>
            <a:off x="4892040" y="2304288"/>
            <a:ext cx="1901038" cy="137160"/>
          </a:xfrm>
          <a:prstGeom prst="roundRect">
            <a:avLst>
              <a:gd name="adj" fmla="val 46667"/>
            </a:avLst>
          </a:prstGeom>
          <a:solidFill>
            <a:srgbClr val="10B981"/>
          </a:solidFill>
          <a:ln w="12700">
            <a:solidFill>
              <a:srgbClr val="10B981"/>
            </a:solidFill>
            <a:prstDash val="solid"/>
          </a:ln>
        </p:spPr>
      </p:sp>
      <p:sp>
        <p:nvSpPr>
          <p:cNvPr id="20" name="Text 18"/>
          <p:cNvSpPr/>
          <p:nvPr/>
        </p:nvSpPr>
        <p:spPr>
          <a:xfrm>
            <a:off x="6903720" y="2212848"/>
            <a:ext cx="274320" cy="347472"/>
          </a:xfrm>
          <a:prstGeom prst="rect">
            <a:avLst/>
          </a:prstGeom>
          <a:noFill/>
          <a:ln/>
        </p:spPr>
        <p:txBody>
          <a:bodyPr wrap="square" lIns="0" tIns="0" rIns="0" bIns="0" rtlCol="0" anchor="ctr"/>
          <a:lstStyle/>
          <a:p>
            <a:pPr indent="0" marL="0">
              <a:buNone/>
            </a:pPr>
            <a:r>
              <a:rPr lang="en-US" sz="1100" b="1" dirty="0">
                <a:solidFill>
                  <a:srgbClr val="10B981"/>
                </a:solidFill>
              </a:rPr>
              <a:t>99</a:t>
            </a:r>
            <a:endParaRPr lang="en-US" sz="1100" dirty="0"/>
          </a:p>
        </p:txBody>
      </p:sp>
      <p:sp>
        <p:nvSpPr>
          <p:cNvPr id="21" name="Shape 19"/>
          <p:cNvSpPr/>
          <p:nvPr/>
        </p:nvSpPr>
        <p:spPr>
          <a:xfrm>
            <a:off x="7178040" y="2276856"/>
            <a:ext cx="958291" cy="228600"/>
          </a:xfrm>
          <a:prstGeom prst="roundRect">
            <a:avLst>
              <a:gd name="adj" fmla="val 16000"/>
            </a:avLst>
          </a:prstGeom>
          <a:solidFill>
            <a:srgbClr val="161D2F"/>
          </a:solidFill>
          <a:ln w="12700">
            <a:solidFill>
              <a:srgbClr val="10B981"/>
            </a:solidFill>
            <a:prstDash val="solid"/>
          </a:ln>
        </p:spPr>
      </p:sp>
      <p:sp>
        <p:nvSpPr>
          <p:cNvPr id="22" name="Text 20"/>
          <p:cNvSpPr/>
          <p:nvPr/>
        </p:nvSpPr>
        <p:spPr>
          <a:xfrm>
            <a:off x="7178040" y="2286000"/>
            <a:ext cx="958291" cy="228600"/>
          </a:xfrm>
          <a:prstGeom prst="rect">
            <a:avLst/>
          </a:prstGeom>
          <a:noFill/>
          <a:ln/>
        </p:spPr>
        <p:txBody>
          <a:bodyPr wrap="square" lIns="0" tIns="0" rIns="0" bIns="0" rtlCol="0" anchor="ctr"/>
          <a:lstStyle/>
          <a:p>
            <a:pPr algn="ctr" indent="0" marL="0">
              <a:buNone/>
            </a:pPr>
            <a:r>
              <a:rPr lang="en-US" sz="850" b="1" dirty="0">
                <a:solidFill>
                  <a:srgbClr val="10B981"/>
                </a:solidFill>
              </a:rPr>
              <a:t>Excellent</a:t>
            </a:r>
            <a:endParaRPr lang="en-US" sz="850" dirty="0"/>
          </a:p>
        </p:txBody>
      </p:sp>
      <p:sp>
        <p:nvSpPr>
          <p:cNvPr id="23" name="Text 21"/>
          <p:cNvSpPr/>
          <p:nvPr/>
        </p:nvSpPr>
        <p:spPr>
          <a:xfrm>
            <a:off x="2971800" y="2706624"/>
            <a:ext cx="1828800" cy="347472"/>
          </a:xfrm>
          <a:prstGeom prst="rect">
            <a:avLst/>
          </a:prstGeom>
          <a:noFill/>
          <a:ln/>
        </p:spPr>
        <p:txBody>
          <a:bodyPr wrap="square" lIns="0" tIns="0" rIns="0" bIns="0" rtlCol="0" anchor="ctr"/>
          <a:lstStyle/>
          <a:p>
            <a:pPr indent="0" marL="0">
              <a:buNone/>
            </a:pPr>
            <a:r>
              <a:rPr lang="en-US" sz="1100" dirty="0">
                <a:solidFill>
                  <a:srgbClr val="06B6D4"/>
                </a:solidFill>
              </a:rPr>
              <a:t>customer_email</a:t>
            </a:r>
            <a:endParaRPr lang="en-US" sz="1100" dirty="0"/>
          </a:p>
        </p:txBody>
      </p:sp>
      <p:sp>
        <p:nvSpPr>
          <p:cNvPr id="24" name="Shape 22"/>
          <p:cNvSpPr/>
          <p:nvPr/>
        </p:nvSpPr>
        <p:spPr>
          <a:xfrm>
            <a:off x="4892040" y="2798064"/>
            <a:ext cx="1920240" cy="137160"/>
          </a:xfrm>
          <a:prstGeom prst="roundRect">
            <a:avLst>
              <a:gd name="adj" fmla="val 46667"/>
            </a:avLst>
          </a:prstGeom>
          <a:solidFill>
            <a:srgbClr val="1E293B"/>
          </a:solidFill>
          <a:ln w="12700">
            <a:solidFill>
              <a:srgbClr val="1E293B"/>
            </a:solidFill>
            <a:prstDash val="solid"/>
          </a:ln>
        </p:spPr>
      </p:sp>
      <p:sp>
        <p:nvSpPr>
          <p:cNvPr id="25" name="Shape 23"/>
          <p:cNvSpPr/>
          <p:nvPr/>
        </p:nvSpPr>
        <p:spPr>
          <a:xfrm>
            <a:off x="4892040" y="2798064"/>
            <a:ext cx="1382573" cy="137160"/>
          </a:xfrm>
          <a:prstGeom prst="roundRect">
            <a:avLst>
              <a:gd name="adj" fmla="val 46667"/>
            </a:avLst>
          </a:prstGeom>
          <a:solidFill>
            <a:srgbClr val="06B6D4"/>
          </a:solidFill>
          <a:ln w="12700">
            <a:solidFill>
              <a:srgbClr val="06B6D4"/>
            </a:solidFill>
            <a:prstDash val="solid"/>
          </a:ln>
        </p:spPr>
      </p:sp>
      <p:sp>
        <p:nvSpPr>
          <p:cNvPr id="26" name="Text 24"/>
          <p:cNvSpPr/>
          <p:nvPr/>
        </p:nvSpPr>
        <p:spPr>
          <a:xfrm>
            <a:off x="6903720" y="2706624"/>
            <a:ext cx="274320" cy="347472"/>
          </a:xfrm>
          <a:prstGeom prst="rect">
            <a:avLst/>
          </a:prstGeom>
          <a:noFill/>
          <a:ln/>
        </p:spPr>
        <p:txBody>
          <a:bodyPr wrap="square" lIns="0" tIns="0" rIns="0" bIns="0" rtlCol="0" anchor="ctr"/>
          <a:lstStyle/>
          <a:p>
            <a:pPr indent="0" marL="0">
              <a:buNone/>
            </a:pPr>
            <a:r>
              <a:rPr lang="en-US" sz="1100" b="1" dirty="0">
                <a:solidFill>
                  <a:srgbClr val="06B6D4"/>
                </a:solidFill>
              </a:rPr>
              <a:t>72</a:t>
            </a:r>
            <a:endParaRPr lang="en-US" sz="1100" dirty="0"/>
          </a:p>
        </p:txBody>
      </p:sp>
      <p:sp>
        <p:nvSpPr>
          <p:cNvPr id="27" name="Shape 25"/>
          <p:cNvSpPr/>
          <p:nvPr/>
        </p:nvSpPr>
        <p:spPr>
          <a:xfrm>
            <a:off x="7178040" y="2770632"/>
            <a:ext cx="537667" cy="228600"/>
          </a:xfrm>
          <a:prstGeom prst="roundRect">
            <a:avLst>
              <a:gd name="adj" fmla="val 16000"/>
            </a:avLst>
          </a:prstGeom>
          <a:solidFill>
            <a:srgbClr val="161D2F"/>
          </a:solidFill>
          <a:ln w="12700">
            <a:solidFill>
              <a:srgbClr val="06B6D4"/>
            </a:solidFill>
            <a:prstDash val="solid"/>
          </a:ln>
        </p:spPr>
      </p:sp>
      <p:sp>
        <p:nvSpPr>
          <p:cNvPr id="28" name="Text 26"/>
          <p:cNvSpPr/>
          <p:nvPr/>
        </p:nvSpPr>
        <p:spPr>
          <a:xfrm>
            <a:off x="7178040" y="2779776"/>
            <a:ext cx="537667" cy="228600"/>
          </a:xfrm>
          <a:prstGeom prst="rect">
            <a:avLst/>
          </a:prstGeom>
          <a:noFill/>
          <a:ln/>
        </p:spPr>
        <p:txBody>
          <a:bodyPr wrap="square" lIns="0" tIns="0" rIns="0" bIns="0" rtlCol="0" anchor="ctr"/>
          <a:lstStyle/>
          <a:p>
            <a:pPr algn="ctr" indent="0" marL="0">
              <a:buNone/>
            </a:pPr>
            <a:r>
              <a:rPr lang="en-US" sz="850" b="1" dirty="0">
                <a:solidFill>
                  <a:srgbClr val="06B6D4"/>
                </a:solidFill>
              </a:rPr>
              <a:t>Fair</a:t>
            </a:r>
            <a:endParaRPr lang="en-US" sz="850" dirty="0"/>
          </a:p>
        </p:txBody>
      </p:sp>
      <p:sp>
        <p:nvSpPr>
          <p:cNvPr id="29" name="Text 27"/>
          <p:cNvSpPr/>
          <p:nvPr/>
        </p:nvSpPr>
        <p:spPr>
          <a:xfrm>
            <a:off x="2971800" y="3200400"/>
            <a:ext cx="1828800" cy="347472"/>
          </a:xfrm>
          <a:prstGeom prst="rect">
            <a:avLst/>
          </a:prstGeom>
          <a:noFill/>
          <a:ln/>
        </p:spPr>
        <p:txBody>
          <a:bodyPr wrap="square" lIns="0" tIns="0" rIns="0" bIns="0" rtlCol="0" anchor="ctr"/>
          <a:lstStyle/>
          <a:p>
            <a:pPr indent="0" marL="0">
              <a:buNone/>
            </a:pPr>
            <a:r>
              <a:rPr lang="en-US" sz="1100" dirty="0">
                <a:solidFill>
                  <a:srgbClr val="06B6D4"/>
                </a:solidFill>
              </a:rPr>
              <a:t>phone_number</a:t>
            </a:r>
            <a:endParaRPr lang="en-US" sz="1100" dirty="0"/>
          </a:p>
        </p:txBody>
      </p:sp>
      <p:sp>
        <p:nvSpPr>
          <p:cNvPr id="30" name="Shape 28"/>
          <p:cNvSpPr/>
          <p:nvPr/>
        </p:nvSpPr>
        <p:spPr>
          <a:xfrm>
            <a:off x="4892040" y="3291840"/>
            <a:ext cx="1920240" cy="137160"/>
          </a:xfrm>
          <a:prstGeom prst="roundRect">
            <a:avLst>
              <a:gd name="adj" fmla="val 46667"/>
            </a:avLst>
          </a:prstGeom>
          <a:solidFill>
            <a:srgbClr val="1E293B"/>
          </a:solidFill>
          <a:ln w="12700">
            <a:solidFill>
              <a:srgbClr val="1E293B"/>
            </a:solidFill>
            <a:prstDash val="solid"/>
          </a:ln>
        </p:spPr>
      </p:sp>
      <p:sp>
        <p:nvSpPr>
          <p:cNvPr id="31" name="Shape 29"/>
          <p:cNvSpPr/>
          <p:nvPr/>
        </p:nvSpPr>
        <p:spPr>
          <a:xfrm>
            <a:off x="4892040" y="3291840"/>
            <a:ext cx="1113739" cy="137160"/>
          </a:xfrm>
          <a:prstGeom prst="roundRect">
            <a:avLst>
              <a:gd name="adj" fmla="val 46667"/>
            </a:avLst>
          </a:prstGeom>
          <a:solidFill>
            <a:srgbClr val="F59E0B"/>
          </a:solidFill>
          <a:ln w="12700">
            <a:solidFill>
              <a:srgbClr val="F59E0B"/>
            </a:solidFill>
            <a:prstDash val="solid"/>
          </a:ln>
        </p:spPr>
      </p:sp>
      <p:sp>
        <p:nvSpPr>
          <p:cNvPr id="32" name="Text 30"/>
          <p:cNvSpPr/>
          <p:nvPr/>
        </p:nvSpPr>
        <p:spPr>
          <a:xfrm>
            <a:off x="6903720" y="3200400"/>
            <a:ext cx="274320" cy="347472"/>
          </a:xfrm>
          <a:prstGeom prst="rect">
            <a:avLst/>
          </a:prstGeom>
          <a:noFill/>
          <a:ln/>
        </p:spPr>
        <p:txBody>
          <a:bodyPr wrap="square" lIns="0" tIns="0" rIns="0" bIns="0" rtlCol="0" anchor="ctr"/>
          <a:lstStyle/>
          <a:p>
            <a:pPr indent="0" marL="0">
              <a:buNone/>
            </a:pPr>
            <a:r>
              <a:rPr lang="en-US" sz="1100" b="1" dirty="0">
                <a:solidFill>
                  <a:srgbClr val="F59E0B"/>
                </a:solidFill>
              </a:rPr>
              <a:t>58</a:t>
            </a:r>
            <a:endParaRPr lang="en-US" sz="1100" dirty="0"/>
          </a:p>
        </p:txBody>
      </p:sp>
      <p:sp>
        <p:nvSpPr>
          <p:cNvPr id="33" name="Shape 31"/>
          <p:cNvSpPr/>
          <p:nvPr/>
        </p:nvSpPr>
        <p:spPr>
          <a:xfrm>
            <a:off x="7178040" y="3264408"/>
            <a:ext cx="537667" cy="228600"/>
          </a:xfrm>
          <a:prstGeom prst="roundRect">
            <a:avLst>
              <a:gd name="adj" fmla="val 16000"/>
            </a:avLst>
          </a:prstGeom>
          <a:solidFill>
            <a:srgbClr val="161D2F"/>
          </a:solidFill>
          <a:ln w="12700">
            <a:solidFill>
              <a:srgbClr val="F59E0B"/>
            </a:solidFill>
            <a:prstDash val="solid"/>
          </a:ln>
        </p:spPr>
      </p:sp>
      <p:sp>
        <p:nvSpPr>
          <p:cNvPr id="34" name="Text 32"/>
          <p:cNvSpPr/>
          <p:nvPr/>
        </p:nvSpPr>
        <p:spPr>
          <a:xfrm>
            <a:off x="7178040" y="3273552"/>
            <a:ext cx="537667" cy="228600"/>
          </a:xfrm>
          <a:prstGeom prst="rect">
            <a:avLst/>
          </a:prstGeom>
          <a:noFill/>
          <a:ln/>
        </p:spPr>
        <p:txBody>
          <a:bodyPr wrap="square" lIns="0" tIns="0" rIns="0" bIns="0" rtlCol="0" anchor="ctr"/>
          <a:lstStyle/>
          <a:p>
            <a:pPr algn="ctr" indent="0" marL="0">
              <a:buNone/>
            </a:pPr>
            <a:r>
              <a:rPr lang="en-US" sz="850" b="1" dirty="0">
                <a:solidFill>
                  <a:srgbClr val="F59E0B"/>
                </a:solidFill>
              </a:rPr>
              <a:t>Poor</a:t>
            </a:r>
            <a:endParaRPr lang="en-US" sz="850" dirty="0"/>
          </a:p>
        </p:txBody>
      </p:sp>
      <p:sp>
        <p:nvSpPr>
          <p:cNvPr id="35" name="Text 33"/>
          <p:cNvSpPr/>
          <p:nvPr/>
        </p:nvSpPr>
        <p:spPr>
          <a:xfrm>
            <a:off x="2971800" y="3694176"/>
            <a:ext cx="1828800" cy="347472"/>
          </a:xfrm>
          <a:prstGeom prst="rect">
            <a:avLst/>
          </a:prstGeom>
          <a:noFill/>
          <a:ln/>
        </p:spPr>
        <p:txBody>
          <a:bodyPr wrap="square" lIns="0" tIns="0" rIns="0" bIns="0" rtlCol="0" anchor="ctr"/>
          <a:lstStyle/>
          <a:p>
            <a:pPr indent="0" marL="0">
              <a:buNone/>
            </a:pPr>
            <a:r>
              <a:rPr lang="en-US" sz="1100" dirty="0">
                <a:solidFill>
                  <a:srgbClr val="06B6D4"/>
                </a:solidFill>
              </a:rPr>
              <a:t>region</a:t>
            </a:r>
            <a:endParaRPr lang="en-US" sz="1100" dirty="0"/>
          </a:p>
        </p:txBody>
      </p:sp>
      <p:sp>
        <p:nvSpPr>
          <p:cNvPr id="36" name="Shape 34"/>
          <p:cNvSpPr/>
          <p:nvPr/>
        </p:nvSpPr>
        <p:spPr>
          <a:xfrm>
            <a:off x="4892040" y="3785616"/>
            <a:ext cx="1920240" cy="137160"/>
          </a:xfrm>
          <a:prstGeom prst="roundRect">
            <a:avLst>
              <a:gd name="adj" fmla="val 46667"/>
            </a:avLst>
          </a:prstGeom>
          <a:solidFill>
            <a:srgbClr val="1E293B"/>
          </a:solidFill>
          <a:ln w="12700">
            <a:solidFill>
              <a:srgbClr val="1E293B"/>
            </a:solidFill>
            <a:prstDash val="solid"/>
          </a:ln>
        </p:spPr>
      </p:sp>
      <p:sp>
        <p:nvSpPr>
          <p:cNvPr id="37" name="Shape 35"/>
          <p:cNvSpPr/>
          <p:nvPr/>
        </p:nvSpPr>
        <p:spPr>
          <a:xfrm>
            <a:off x="4892040" y="3785616"/>
            <a:ext cx="1286561" cy="137160"/>
          </a:xfrm>
          <a:prstGeom prst="roundRect">
            <a:avLst>
              <a:gd name="adj" fmla="val 46667"/>
            </a:avLst>
          </a:prstGeom>
          <a:solidFill>
            <a:srgbClr val="06B6D4"/>
          </a:solidFill>
          <a:ln w="12700">
            <a:solidFill>
              <a:srgbClr val="06B6D4"/>
            </a:solidFill>
            <a:prstDash val="solid"/>
          </a:ln>
        </p:spPr>
      </p:sp>
      <p:sp>
        <p:nvSpPr>
          <p:cNvPr id="38" name="Text 36"/>
          <p:cNvSpPr/>
          <p:nvPr/>
        </p:nvSpPr>
        <p:spPr>
          <a:xfrm>
            <a:off x="6903720" y="3694176"/>
            <a:ext cx="274320" cy="347472"/>
          </a:xfrm>
          <a:prstGeom prst="rect">
            <a:avLst/>
          </a:prstGeom>
          <a:noFill/>
          <a:ln/>
        </p:spPr>
        <p:txBody>
          <a:bodyPr wrap="square" lIns="0" tIns="0" rIns="0" bIns="0" rtlCol="0" anchor="ctr"/>
          <a:lstStyle/>
          <a:p>
            <a:pPr indent="0" marL="0">
              <a:buNone/>
            </a:pPr>
            <a:r>
              <a:rPr lang="en-US" sz="1100" b="1" dirty="0">
                <a:solidFill>
                  <a:srgbClr val="06B6D4"/>
                </a:solidFill>
              </a:rPr>
              <a:t>67</a:t>
            </a:r>
            <a:endParaRPr lang="en-US" sz="1100" dirty="0"/>
          </a:p>
        </p:txBody>
      </p:sp>
      <p:sp>
        <p:nvSpPr>
          <p:cNvPr id="39" name="Shape 37"/>
          <p:cNvSpPr/>
          <p:nvPr/>
        </p:nvSpPr>
        <p:spPr>
          <a:xfrm>
            <a:off x="7178040" y="3758184"/>
            <a:ext cx="537667" cy="228600"/>
          </a:xfrm>
          <a:prstGeom prst="roundRect">
            <a:avLst>
              <a:gd name="adj" fmla="val 16000"/>
            </a:avLst>
          </a:prstGeom>
          <a:solidFill>
            <a:srgbClr val="161D2F"/>
          </a:solidFill>
          <a:ln w="12700">
            <a:solidFill>
              <a:srgbClr val="06B6D4"/>
            </a:solidFill>
            <a:prstDash val="solid"/>
          </a:ln>
        </p:spPr>
      </p:sp>
      <p:sp>
        <p:nvSpPr>
          <p:cNvPr id="40" name="Text 38"/>
          <p:cNvSpPr/>
          <p:nvPr/>
        </p:nvSpPr>
        <p:spPr>
          <a:xfrm>
            <a:off x="7178040" y="3767328"/>
            <a:ext cx="537667" cy="228600"/>
          </a:xfrm>
          <a:prstGeom prst="rect">
            <a:avLst/>
          </a:prstGeom>
          <a:noFill/>
          <a:ln/>
        </p:spPr>
        <p:txBody>
          <a:bodyPr wrap="square" lIns="0" tIns="0" rIns="0" bIns="0" rtlCol="0" anchor="ctr"/>
          <a:lstStyle/>
          <a:p>
            <a:pPr algn="ctr" indent="0" marL="0">
              <a:buNone/>
            </a:pPr>
            <a:r>
              <a:rPr lang="en-US" sz="850" b="1" dirty="0">
                <a:solidFill>
                  <a:srgbClr val="06B6D4"/>
                </a:solidFill>
              </a:rPr>
              <a:t>Fair</a:t>
            </a:r>
            <a:endParaRPr lang="en-US" sz="850" dirty="0"/>
          </a:p>
        </p:txBody>
      </p:sp>
      <p:sp>
        <p:nvSpPr>
          <p:cNvPr id="41" name="Text 39"/>
          <p:cNvSpPr/>
          <p:nvPr/>
        </p:nvSpPr>
        <p:spPr>
          <a:xfrm>
            <a:off x="2971800" y="4187952"/>
            <a:ext cx="1828800" cy="347472"/>
          </a:xfrm>
          <a:prstGeom prst="rect">
            <a:avLst/>
          </a:prstGeom>
          <a:noFill/>
          <a:ln/>
        </p:spPr>
        <p:txBody>
          <a:bodyPr wrap="square" lIns="0" tIns="0" rIns="0" bIns="0" rtlCol="0" anchor="ctr"/>
          <a:lstStyle/>
          <a:p>
            <a:pPr indent="0" marL="0">
              <a:buNone/>
            </a:pPr>
            <a:r>
              <a:rPr lang="en-US" sz="1100" dirty="0">
                <a:solidFill>
                  <a:srgbClr val="06B6D4"/>
                </a:solidFill>
              </a:rPr>
              <a:t>revenue</a:t>
            </a:r>
            <a:endParaRPr lang="en-US" sz="1100" dirty="0"/>
          </a:p>
        </p:txBody>
      </p:sp>
      <p:sp>
        <p:nvSpPr>
          <p:cNvPr id="42" name="Shape 40"/>
          <p:cNvSpPr/>
          <p:nvPr/>
        </p:nvSpPr>
        <p:spPr>
          <a:xfrm>
            <a:off x="4892040" y="4279392"/>
            <a:ext cx="1920240" cy="137160"/>
          </a:xfrm>
          <a:prstGeom prst="roundRect">
            <a:avLst>
              <a:gd name="adj" fmla="val 46667"/>
            </a:avLst>
          </a:prstGeom>
          <a:solidFill>
            <a:srgbClr val="1E293B"/>
          </a:solidFill>
          <a:ln w="12700">
            <a:solidFill>
              <a:srgbClr val="1E293B"/>
            </a:solidFill>
            <a:prstDash val="solid"/>
          </a:ln>
        </p:spPr>
      </p:sp>
      <p:sp>
        <p:nvSpPr>
          <p:cNvPr id="43" name="Shape 41"/>
          <p:cNvSpPr/>
          <p:nvPr/>
        </p:nvSpPr>
        <p:spPr>
          <a:xfrm>
            <a:off x="4892040" y="4279392"/>
            <a:ext cx="1613002" cy="137160"/>
          </a:xfrm>
          <a:prstGeom prst="roundRect">
            <a:avLst>
              <a:gd name="adj" fmla="val 46667"/>
            </a:avLst>
          </a:prstGeom>
          <a:solidFill>
            <a:srgbClr val="10B981"/>
          </a:solidFill>
          <a:ln w="12700">
            <a:solidFill>
              <a:srgbClr val="10B981"/>
            </a:solidFill>
            <a:prstDash val="solid"/>
          </a:ln>
        </p:spPr>
      </p:sp>
      <p:sp>
        <p:nvSpPr>
          <p:cNvPr id="44" name="Text 42"/>
          <p:cNvSpPr/>
          <p:nvPr/>
        </p:nvSpPr>
        <p:spPr>
          <a:xfrm>
            <a:off x="6903720" y="4187952"/>
            <a:ext cx="274320" cy="347472"/>
          </a:xfrm>
          <a:prstGeom prst="rect">
            <a:avLst/>
          </a:prstGeom>
          <a:noFill/>
          <a:ln/>
        </p:spPr>
        <p:txBody>
          <a:bodyPr wrap="square" lIns="0" tIns="0" rIns="0" bIns="0" rtlCol="0" anchor="ctr"/>
          <a:lstStyle/>
          <a:p>
            <a:pPr indent="0" marL="0">
              <a:buNone/>
            </a:pPr>
            <a:r>
              <a:rPr lang="en-US" sz="1100" b="1" dirty="0">
                <a:solidFill>
                  <a:srgbClr val="10B981"/>
                </a:solidFill>
              </a:rPr>
              <a:t>84</a:t>
            </a:r>
            <a:endParaRPr lang="en-US" sz="1100" dirty="0"/>
          </a:p>
        </p:txBody>
      </p:sp>
      <p:sp>
        <p:nvSpPr>
          <p:cNvPr id="45" name="Shape 43"/>
          <p:cNvSpPr/>
          <p:nvPr/>
        </p:nvSpPr>
        <p:spPr>
          <a:xfrm>
            <a:off x="7178040" y="4251960"/>
            <a:ext cx="537667" cy="228600"/>
          </a:xfrm>
          <a:prstGeom prst="roundRect">
            <a:avLst>
              <a:gd name="adj" fmla="val 16000"/>
            </a:avLst>
          </a:prstGeom>
          <a:solidFill>
            <a:srgbClr val="161D2F"/>
          </a:solidFill>
          <a:ln w="12700">
            <a:solidFill>
              <a:srgbClr val="10B981"/>
            </a:solidFill>
            <a:prstDash val="solid"/>
          </a:ln>
        </p:spPr>
      </p:sp>
      <p:sp>
        <p:nvSpPr>
          <p:cNvPr id="46" name="Text 44"/>
          <p:cNvSpPr/>
          <p:nvPr/>
        </p:nvSpPr>
        <p:spPr>
          <a:xfrm>
            <a:off x="7178040" y="4261104"/>
            <a:ext cx="537667" cy="228600"/>
          </a:xfrm>
          <a:prstGeom prst="rect">
            <a:avLst/>
          </a:prstGeom>
          <a:noFill/>
          <a:ln/>
        </p:spPr>
        <p:txBody>
          <a:bodyPr wrap="square" lIns="0" tIns="0" rIns="0" bIns="0" rtlCol="0" anchor="ctr"/>
          <a:lstStyle/>
          <a:p>
            <a:pPr algn="ctr" indent="0" marL="0">
              <a:buNone/>
            </a:pPr>
            <a:r>
              <a:rPr lang="en-US" sz="850" b="1" dirty="0">
                <a:solidFill>
                  <a:srgbClr val="10B981"/>
                </a:solidFill>
              </a:rPr>
              <a:t>Good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F1E"/>
          </a:solidFill>
          <a:ln w="12700">
            <a:solidFill>
              <a:srgbClr val="0A0F1E"/>
            </a:solidFill>
            <a:prstDash val="solid"/>
          </a:ln>
        </p:spPr>
      </p:sp>
      <p:sp>
        <p:nvSpPr>
          <p:cNvPr id="3" name="Shape 1"/>
          <p:cNvSpPr/>
          <p:nvPr/>
        </p:nvSpPr>
        <p:spPr>
          <a:xfrm>
            <a:off x="0" y="0"/>
            <a:ext cx="45720" cy="5143500"/>
          </a:xfrm>
          <a:prstGeom prst="rect">
            <a:avLst/>
          </a:prstGeom>
          <a:solidFill>
            <a:srgbClr val="F59E0B"/>
          </a:solidFill>
          <a:ln w="12700">
            <a:solidFill>
              <a:srgbClr val="F59E0B"/>
            </a:solidFill>
            <a:prstDash val="solid"/>
          </a:ln>
        </p:spPr>
      </p:sp>
      <p:sp>
        <p:nvSpPr>
          <p:cNvPr id="4" name="Shape 2"/>
          <p:cNvSpPr/>
          <p:nvPr/>
        </p:nvSpPr>
        <p:spPr>
          <a:xfrm>
            <a:off x="502920" y="274320"/>
            <a:ext cx="1126541" cy="228600"/>
          </a:xfrm>
          <a:prstGeom prst="roundRect">
            <a:avLst>
              <a:gd name="adj" fmla="val 16000"/>
            </a:avLst>
          </a:prstGeom>
          <a:solidFill>
            <a:srgbClr val="161D2F"/>
          </a:solidFill>
          <a:ln w="12700">
            <a:solidFill>
              <a:srgbClr val="F59E0B"/>
            </a:solidFill>
            <a:prstDash val="solid"/>
          </a:ln>
        </p:spPr>
      </p:sp>
      <p:sp>
        <p:nvSpPr>
          <p:cNvPr id="5" name="Text 3"/>
          <p:cNvSpPr/>
          <p:nvPr/>
        </p:nvSpPr>
        <p:spPr>
          <a:xfrm>
            <a:off x="502920" y="283464"/>
            <a:ext cx="1126541" cy="228600"/>
          </a:xfrm>
          <a:prstGeom prst="rect">
            <a:avLst/>
          </a:prstGeom>
          <a:noFill/>
          <a:ln/>
        </p:spPr>
        <p:txBody>
          <a:bodyPr wrap="square" lIns="0" tIns="0" rIns="0" bIns="0" rtlCol="0" anchor="ctr"/>
          <a:lstStyle/>
          <a:p>
            <a:pPr algn="ctr" indent="0" marL="0">
              <a:buNone/>
            </a:pPr>
            <a:r>
              <a:rPr lang="en-US" sz="850" b="1" dirty="0">
                <a:solidFill>
                  <a:srgbClr val="F59E0B"/>
                </a:solidFill>
              </a:rPr>
              <a:t>PAGE 4 OF 7</a:t>
            </a:r>
            <a:endParaRPr lang="en-US" sz="850" dirty="0"/>
          </a:p>
        </p:txBody>
      </p:sp>
      <p:sp>
        <p:nvSpPr>
          <p:cNvPr id="6" name="Text 4"/>
          <p:cNvSpPr/>
          <p:nvPr/>
        </p:nvSpPr>
        <p:spPr>
          <a:xfrm>
            <a:off x="502920" y="621792"/>
            <a:ext cx="8229600" cy="548640"/>
          </a:xfrm>
          <a:prstGeom prst="rect">
            <a:avLst/>
          </a:prstGeom>
          <a:noFill/>
          <a:ln/>
        </p:spPr>
        <p:txBody>
          <a:bodyPr wrap="square" lIns="0" tIns="0" rIns="0" bIns="0" rtlCol="0" anchor="ctr"/>
          <a:lstStyle/>
          <a:p>
            <a:pPr indent="0" marL="0">
              <a:buNone/>
            </a:pPr>
            <a:r>
              <a:rPr lang="en-US" sz="3600" b="1" dirty="0">
                <a:solidFill>
                  <a:srgbClr val="F8FAFC"/>
                </a:solidFill>
              </a:rPr>
              <a:t>AI Recommendations</a:t>
            </a:r>
            <a:endParaRPr lang="en-US" sz="3600" dirty="0"/>
          </a:p>
        </p:txBody>
      </p:sp>
      <p:sp>
        <p:nvSpPr>
          <p:cNvPr id="7" name="Text 5"/>
          <p:cNvSpPr/>
          <p:nvPr/>
        </p:nvSpPr>
        <p:spPr>
          <a:xfrm>
            <a:off x="502920" y="1207008"/>
            <a:ext cx="8229600" cy="329184"/>
          </a:xfrm>
          <a:prstGeom prst="rect">
            <a:avLst/>
          </a:prstGeom>
          <a:noFill/>
          <a:ln/>
        </p:spPr>
        <p:txBody>
          <a:bodyPr wrap="square" lIns="0" tIns="0" rIns="0" bIns="0" rtlCol="0" anchor="ctr"/>
          <a:lstStyle/>
          <a:p>
            <a:pPr indent="0" marL="0">
              <a:buNone/>
            </a:pPr>
            <a:r>
              <a:rPr lang="en-US" sz="1300" dirty="0">
                <a:solidFill>
                  <a:srgbClr val="94A3B8"/>
                </a:solidFill>
              </a:rPr>
              <a:t>The platform does not just find problems — it tells you exactly how to fix each one.</a:t>
            </a:r>
            <a:endParaRPr lang="en-US" sz="1300" dirty="0"/>
          </a:p>
        </p:txBody>
      </p:sp>
      <p:sp>
        <p:nvSpPr>
          <p:cNvPr id="8" name="Shape 6"/>
          <p:cNvSpPr/>
          <p:nvPr/>
        </p:nvSpPr>
        <p:spPr>
          <a:xfrm>
            <a:off x="502920" y="1719072"/>
            <a:ext cx="2697480" cy="3108960"/>
          </a:xfrm>
          <a:prstGeom prst="roundRect">
            <a:avLst>
              <a:gd name="adj" fmla="val 2373"/>
            </a:avLst>
          </a:prstGeom>
          <a:solidFill>
            <a:srgbClr val="161D2F"/>
          </a:solidFill>
          <a:ln w="12700">
            <a:solidFill>
              <a:srgbClr val="1E293B"/>
            </a:solidFill>
            <a:prstDash val="solid"/>
          </a:ln>
        </p:spPr>
      </p:sp>
      <p:sp>
        <p:nvSpPr>
          <p:cNvPr id="9" name="Shape 7"/>
          <p:cNvSpPr/>
          <p:nvPr/>
        </p:nvSpPr>
        <p:spPr>
          <a:xfrm>
            <a:off x="649224" y="1847088"/>
            <a:ext cx="438912" cy="438912"/>
          </a:xfrm>
          <a:prstGeom prst="ellipse">
            <a:avLst/>
          </a:prstGeom>
          <a:solidFill>
            <a:srgbClr val="334155"/>
          </a:solidFill>
          <a:ln w="25400">
            <a:solidFill>
              <a:srgbClr val="F43F5E"/>
            </a:solidFill>
            <a:prstDash val="solid"/>
          </a:ln>
        </p:spPr>
      </p:sp>
      <p:sp>
        <p:nvSpPr>
          <p:cNvPr id="10" name="Text 8"/>
          <p:cNvSpPr/>
          <p:nvPr/>
        </p:nvSpPr>
        <p:spPr>
          <a:xfrm>
            <a:off x="649224" y="1847088"/>
            <a:ext cx="438912" cy="438912"/>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1" name="Shape 9"/>
          <p:cNvSpPr/>
          <p:nvPr/>
        </p:nvSpPr>
        <p:spPr>
          <a:xfrm>
            <a:off x="1179576" y="1920240"/>
            <a:ext cx="537667" cy="228600"/>
          </a:xfrm>
          <a:prstGeom prst="roundRect">
            <a:avLst>
              <a:gd name="adj" fmla="val 16000"/>
            </a:avLst>
          </a:prstGeom>
          <a:solidFill>
            <a:srgbClr val="161D2F"/>
          </a:solidFill>
          <a:ln w="12700">
            <a:solidFill>
              <a:srgbClr val="F43F5E"/>
            </a:solidFill>
            <a:prstDash val="solid"/>
          </a:ln>
        </p:spPr>
      </p:sp>
      <p:sp>
        <p:nvSpPr>
          <p:cNvPr id="12" name="Text 10"/>
          <p:cNvSpPr/>
          <p:nvPr/>
        </p:nvSpPr>
        <p:spPr>
          <a:xfrm>
            <a:off x="1179576" y="1929384"/>
            <a:ext cx="537667" cy="228600"/>
          </a:xfrm>
          <a:prstGeom prst="rect">
            <a:avLst/>
          </a:prstGeom>
          <a:noFill/>
          <a:ln/>
        </p:spPr>
        <p:txBody>
          <a:bodyPr wrap="square" lIns="0" tIns="0" rIns="0" bIns="0" rtlCol="0" anchor="ctr"/>
          <a:lstStyle/>
          <a:p>
            <a:pPr algn="ctr" indent="0" marL="0">
              <a:buNone/>
            </a:pPr>
            <a:r>
              <a:rPr lang="en-US" sz="850" b="1" dirty="0">
                <a:solidFill>
                  <a:srgbClr val="F43F5E"/>
                </a:solidFill>
              </a:rPr>
              <a:t>HIGH</a:t>
            </a:r>
            <a:endParaRPr lang="en-US" sz="850" dirty="0"/>
          </a:p>
        </p:txBody>
      </p:sp>
      <p:sp>
        <p:nvSpPr>
          <p:cNvPr id="13" name="Text 11"/>
          <p:cNvSpPr/>
          <p:nvPr/>
        </p:nvSpPr>
        <p:spPr>
          <a:xfrm>
            <a:off x="612648" y="2395728"/>
            <a:ext cx="2487168" cy="384048"/>
          </a:xfrm>
          <a:prstGeom prst="rect">
            <a:avLst/>
          </a:prstGeom>
          <a:noFill/>
          <a:ln/>
        </p:spPr>
        <p:txBody>
          <a:bodyPr wrap="square" lIns="0" tIns="0" rIns="0" bIns="0" rtlCol="0" anchor="ctr"/>
          <a:lstStyle/>
          <a:p>
            <a:pPr indent="0" marL="0">
              <a:buNone/>
            </a:pPr>
            <a:r>
              <a:rPr lang="en-US" sz="1200" b="1" dirty="0">
                <a:solidFill>
                  <a:srgbClr val="F8FAFC"/>
                </a:solidFill>
              </a:rPr>
              <a:t>Invalid phone numbers</a:t>
            </a:r>
            <a:endParaRPr lang="en-US" sz="1200" dirty="0"/>
          </a:p>
        </p:txBody>
      </p:sp>
      <p:sp>
        <p:nvSpPr>
          <p:cNvPr id="14" name="Text 12"/>
          <p:cNvSpPr/>
          <p:nvPr/>
        </p:nvSpPr>
        <p:spPr>
          <a:xfrm>
            <a:off x="612648" y="2816352"/>
            <a:ext cx="2487168" cy="566928"/>
          </a:xfrm>
          <a:prstGeom prst="rect">
            <a:avLst/>
          </a:prstGeom>
          <a:noFill/>
          <a:ln/>
        </p:spPr>
        <p:txBody>
          <a:bodyPr wrap="square" lIns="0" tIns="0" rIns="0" bIns="0" rtlCol="0" anchor="ctr"/>
          <a:lstStyle/>
          <a:p>
            <a:pPr indent="0" marL="0">
              <a:lnSpc>
                <a:spcPts val="1500"/>
              </a:lnSpc>
              <a:buNone/>
            </a:pPr>
            <a:r>
              <a:rPr lang="en-US" sz="1050" dirty="0">
                <a:solidFill>
                  <a:srgbClr val="94A3B8"/>
                </a:solidFill>
              </a:rPr>
              <a:t>4,381 records have phone numbers in unrecognised formats.</a:t>
            </a:r>
            <a:endParaRPr lang="en-US" sz="1050" dirty="0"/>
          </a:p>
        </p:txBody>
      </p:sp>
      <p:sp>
        <p:nvSpPr>
          <p:cNvPr id="15" name="Shape 13"/>
          <p:cNvSpPr/>
          <p:nvPr/>
        </p:nvSpPr>
        <p:spPr>
          <a:xfrm>
            <a:off x="612648" y="3438144"/>
            <a:ext cx="2487168" cy="685800"/>
          </a:xfrm>
          <a:prstGeom prst="roundRect">
            <a:avLst>
              <a:gd name="adj" fmla="val 8000"/>
            </a:avLst>
          </a:prstGeom>
          <a:solidFill>
            <a:srgbClr val="334155">
              <a:alpha val="60000"/>
            </a:srgbClr>
          </a:solidFill>
          <a:ln w="12700">
            <a:solidFill>
              <a:srgbClr val="10B981"/>
            </a:solidFill>
            <a:prstDash val="solid"/>
          </a:ln>
        </p:spPr>
      </p:sp>
      <p:sp>
        <p:nvSpPr>
          <p:cNvPr id="16" name="Text 14"/>
          <p:cNvSpPr/>
          <p:nvPr/>
        </p:nvSpPr>
        <p:spPr>
          <a:xfrm>
            <a:off x="685800" y="3511296"/>
            <a:ext cx="2331720" cy="201168"/>
          </a:xfrm>
          <a:prstGeom prst="rect">
            <a:avLst/>
          </a:prstGeom>
          <a:noFill/>
          <a:ln/>
        </p:spPr>
        <p:txBody>
          <a:bodyPr wrap="square" lIns="0" tIns="0" rIns="0" bIns="0" rtlCol="0" anchor="ctr"/>
          <a:lstStyle/>
          <a:p>
            <a:pPr indent="0" marL="0">
              <a:buNone/>
            </a:pPr>
            <a:r>
              <a:rPr lang="en-US" sz="900" b="1" dirty="0">
                <a:solidFill>
                  <a:srgbClr val="10B981"/>
                </a:solidFill>
              </a:rPr>
              <a:t>Suggested fix:</a:t>
            </a:r>
            <a:endParaRPr lang="en-US" sz="900" dirty="0"/>
          </a:p>
        </p:txBody>
      </p:sp>
      <p:sp>
        <p:nvSpPr>
          <p:cNvPr id="17" name="Text 15"/>
          <p:cNvSpPr/>
          <p:nvPr/>
        </p:nvSpPr>
        <p:spPr>
          <a:xfrm>
            <a:off x="685800" y="3712464"/>
            <a:ext cx="2331720" cy="365760"/>
          </a:xfrm>
          <a:prstGeom prst="rect">
            <a:avLst/>
          </a:prstGeom>
          <a:noFill/>
          <a:ln/>
        </p:spPr>
        <p:txBody>
          <a:bodyPr wrap="square" lIns="0" tIns="0" rIns="0" bIns="0" rtlCol="0" anchor="ctr"/>
          <a:lstStyle/>
          <a:p>
            <a:pPr indent="0" marL="0">
              <a:lnSpc>
                <a:spcPts val="1300"/>
              </a:lnSpc>
              <a:buNone/>
            </a:pPr>
            <a:r>
              <a:rPr lang="en-US" sz="950" dirty="0">
                <a:solidFill>
                  <a:srgbClr val="F8FAFC"/>
                </a:solidFill>
              </a:rPr>
              <a:t>Standardize to international format using a validation tool.</a:t>
            </a:r>
            <a:endParaRPr lang="en-US" sz="950" dirty="0"/>
          </a:p>
        </p:txBody>
      </p:sp>
      <p:sp>
        <p:nvSpPr>
          <p:cNvPr id="18" name="Shape 16"/>
          <p:cNvSpPr/>
          <p:nvPr/>
        </p:nvSpPr>
        <p:spPr>
          <a:xfrm>
            <a:off x="3383280" y="1719072"/>
            <a:ext cx="2697480" cy="3108960"/>
          </a:xfrm>
          <a:prstGeom prst="roundRect">
            <a:avLst>
              <a:gd name="adj" fmla="val 2373"/>
            </a:avLst>
          </a:prstGeom>
          <a:solidFill>
            <a:srgbClr val="161D2F"/>
          </a:solidFill>
          <a:ln w="12700">
            <a:solidFill>
              <a:srgbClr val="1E293B"/>
            </a:solidFill>
            <a:prstDash val="solid"/>
          </a:ln>
        </p:spPr>
      </p:sp>
      <p:sp>
        <p:nvSpPr>
          <p:cNvPr id="19" name="Shape 17"/>
          <p:cNvSpPr/>
          <p:nvPr/>
        </p:nvSpPr>
        <p:spPr>
          <a:xfrm>
            <a:off x="3529584" y="1847088"/>
            <a:ext cx="438912" cy="438912"/>
          </a:xfrm>
          <a:prstGeom prst="ellipse">
            <a:avLst/>
          </a:prstGeom>
          <a:solidFill>
            <a:srgbClr val="334155"/>
          </a:solidFill>
          <a:ln w="25400">
            <a:solidFill>
              <a:srgbClr val="F59E0B"/>
            </a:solidFill>
            <a:prstDash val="solid"/>
          </a:ln>
        </p:spPr>
      </p:sp>
      <p:sp>
        <p:nvSpPr>
          <p:cNvPr id="20" name="Text 18"/>
          <p:cNvSpPr/>
          <p:nvPr/>
        </p:nvSpPr>
        <p:spPr>
          <a:xfrm>
            <a:off x="3529584" y="1847088"/>
            <a:ext cx="438912" cy="438912"/>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1" name="Shape 19"/>
          <p:cNvSpPr/>
          <p:nvPr/>
        </p:nvSpPr>
        <p:spPr>
          <a:xfrm>
            <a:off x="4059936" y="1920240"/>
            <a:ext cx="705917" cy="228600"/>
          </a:xfrm>
          <a:prstGeom prst="roundRect">
            <a:avLst>
              <a:gd name="adj" fmla="val 16000"/>
            </a:avLst>
          </a:prstGeom>
          <a:solidFill>
            <a:srgbClr val="161D2F"/>
          </a:solidFill>
          <a:ln w="12700">
            <a:solidFill>
              <a:srgbClr val="F59E0B"/>
            </a:solidFill>
            <a:prstDash val="solid"/>
          </a:ln>
        </p:spPr>
      </p:sp>
      <p:sp>
        <p:nvSpPr>
          <p:cNvPr id="22" name="Text 20"/>
          <p:cNvSpPr/>
          <p:nvPr/>
        </p:nvSpPr>
        <p:spPr>
          <a:xfrm>
            <a:off x="4059936" y="1929384"/>
            <a:ext cx="705917" cy="228600"/>
          </a:xfrm>
          <a:prstGeom prst="rect">
            <a:avLst/>
          </a:prstGeom>
          <a:noFill/>
          <a:ln/>
        </p:spPr>
        <p:txBody>
          <a:bodyPr wrap="square" lIns="0" tIns="0" rIns="0" bIns="0" rtlCol="0" anchor="ctr"/>
          <a:lstStyle/>
          <a:p>
            <a:pPr algn="ctr" indent="0" marL="0">
              <a:buNone/>
            </a:pPr>
            <a:r>
              <a:rPr lang="en-US" sz="850" b="1" dirty="0">
                <a:solidFill>
                  <a:srgbClr val="F59E0B"/>
                </a:solidFill>
              </a:rPr>
              <a:t>MEDIUM</a:t>
            </a:r>
            <a:endParaRPr lang="en-US" sz="850" dirty="0"/>
          </a:p>
        </p:txBody>
      </p:sp>
      <p:sp>
        <p:nvSpPr>
          <p:cNvPr id="23" name="Text 21"/>
          <p:cNvSpPr/>
          <p:nvPr/>
        </p:nvSpPr>
        <p:spPr>
          <a:xfrm>
            <a:off x="3493008" y="2395728"/>
            <a:ext cx="2487168" cy="384048"/>
          </a:xfrm>
          <a:prstGeom prst="rect">
            <a:avLst/>
          </a:prstGeom>
          <a:noFill/>
          <a:ln/>
        </p:spPr>
        <p:txBody>
          <a:bodyPr wrap="square" lIns="0" tIns="0" rIns="0" bIns="0" rtlCol="0" anchor="ctr"/>
          <a:lstStyle/>
          <a:p>
            <a:pPr indent="0" marL="0">
              <a:buNone/>
            </a:pPr>
            <a:r>
              <a:rPr lang="en-US" sz="1200" b="1" dirty="0">
                <a:solidFill>
                  <a:srgbClr val="F8FAFC"/>
                </a:solidFill>
              </a:rPr>
              <a:t>Bad email addresses</a:t>
            </a:r>
            <a:endParaRPr lang="en-US" sz="1200" dirty="0"/>
          </a:p>
        </p:txBody>
      </p:sp>
      <p:sp>
        <p:nvSpPr>
          <p:cNvPr id="24" name="Text 22"/>
          <p:cNvSpPr/>
          <p:nvPr/>
        </p:nvSpPr>
        <p:spPr>
          <a:xfrm>
            <a:off x="3493008" y="2816352"/>
            <a:ext cx="2487168" cy="566928"/>
          </a:xfrm>
          <a:prstGeom prst="rect">
            <a:avLst/>
          </a:prstGeom>
          <a:noFill/>
          <a:ln/>
        </p:spPr>
        <p:txBody>
          <a:bodyPr wrap="square" lIns="0" tIns="0" rIns="0" bIns="0" rtlCol="0" anchor="ctr"/>
          <a:lstStyle/>
          <a:p>
            <a:pPr indent="0" marL="0">
              <a:lnSpc>
                <a:spcPts val="1500"/>
              </a:lnSpc>
              <a:buNone/>
            </a:pPr>
            <a:r>
              <a:rPr lang="en-US" sz="1050" dirty="0">
                <a:solidFill>
                  <a:srgbClr val="94A3B8"/>
                </a:solidFill>
              </a:rPr>
              <a:t>998 records have typos or missing @ symbols.</a:t>
            </a:r>
            <a:endParaRPr lang="en-US" sz="1050" dirty="0"/>
          </a:p>
        </p:txBody>
      </p:sp>
      <p:sp>
        <p:nvSpPr>
          <p:cNvPr id="25" name="Shape 23"/>
          <p:cNvSpPr/>
          <p:nvPr/>
        </p:nvSpPr>
        <p:spPr>
          <a:xfrm>
            <a:off x="3493008" y="3438144"/>
            <a:ext cx="2487168" cy="685800"/>
          </a:xfrm>
          <a:prstGeom prst="roundRect">
            <a:avLst>
              <a:gd name="adj" fmla="val 8000"/>
            </a:avLst>
          </a:prstGeom>
          <a:solidFill>
            <a:srgbClr val="334155">
              <a:alpha val="60000"/>
            </a:srgbClr>
          </a:solidFill>
          <a:ln w="12700">
            <a:solidFill>
              <a:srgbClr val="10B981"/>
            </a:solidFill>
            <a:prstDash val="solid"/>
          </a:ln>
        </p:spPr>
      </p:sp>
      <p:sp>
        <p:nvSpPr>
          <p:cNvPr id="26" name="Text 24"/>
          <p:cNvSpPr/>
          <p:nvPr/>
        </p:nvSpPr>
        <p:spPr>
          <a:xfrm>
            <a:off x="3566160" y="3511296"/>
            <a:ext cx="2331720" cy="201168"/>
          </a:xfrm>
          <a:prstGeom prst="rect">
            <a:avLst/>
          </a:prstGeom>
          <a:noFill/>
          <a:ln/>
        </p:spPr>
        <p:txBody>
          <a:bodyPr wrap="square" lIns="0" tIns="0" rIns="0" bIns="0" rtlCol="0" anchor="ctr"/>
          <a:lstStyle/>
          <a:p>
            <a:pPr indent="0" marL="0">
              <a:buNone/>
            </a:pPr>
            <a:r>
              <a:rPr lang="en-US" sz="900" b="1" dirty="0">
                <a:solidFill>
                  <a:srgbClr val="10B981"/>
                </a:solidFill>
              </a:rPr>
              <a:t>Suggested fix:</a:t>
            </a:r>
            <a:endParaRPr lang="en-US" sz="900" dirty="0"/>
          </a:p>
        </p:txBody>
      </p:sp>
      <p:sp>
        <p:nvSpPr>
          <p:cNvPr id="27" name="Text 25"/>
          <p:cNvSpPr/>
          <p:nvPr/>
        </p:nvSpPr>
        <p:spPr>
          <a:xfrm>
            <a:off x="3566160" y="3712464"/>
            <a:ext cx="2331720" cy="365760"/>
          </a:xfrm>
          <a:prstGeom prst="rect">
            <a:avLst/>
          </a:prstGeom>
          <a:noFill/>
          <a:ln/>
        </p:spPr>
        <p:txBody>
          <a:bodyPr wrap="square" lIns="0" tIns="0" rIns="0" bIns="0" rtlCol="0" anchor="ctr"/>
          <a:lstStyle/>
          <a:p>
            <a:pPr indent="0" marL="0">
              <a:lnSpc>
                <a:spcPts val="1300"/>
              </a:lnSpc>
              <a:buNone/>
            </a:pPr>
            <a:r>
              <a:rPr lang="en-US" sz="950" dirty="0">
                <a:solidFill>
                  <a:srgbClr val="F8FAFC"/>
                </a:solidFill>
              </a:rPr>
              <a:t>Add real-time validation at sign-up and run a bulk cleanup.</a:t>
            </a:r>
            <a:endParaRPr lang="en-US" sz="950" dirty="0"/>
          </a:p>
        </p:txBody>
      </p:sp>
      <p:sp>
        <p:nvSpPr>
          <p:cNvPr id="28" name="Shape 26"/>
          <p:cNvSpPr/>
          <p:nvPr/>
        </p:nvSpPr>
        <p:spPr>
          <a:xfrm>
            <a:off x="6263640" y="1719072"/>
            <a:ext cx="2697480" cy="3108960"/>
          </a:xfrm>
          <a:prstGeom prst="roundRect">
            <a:avLst>
              <a:gd name="adj" fmla="val 2373"/>
            </a:avLst>
          </a:prstGeom>
          <a:solidFill>
            <a:srgbClr val="161D2F"/>
          </a:solidFill>
          <a:ln w="12700">
            <a:solidFill>
              <a:srgbClr val="1E293B"/>
            </a:solidFill>
            <a:prstDash val="solid"/>
          </a:ln>
        </p:spPr>
      </p:sp>
      <p:sp>
        <p:nvSpPr>
          <p:cNvPr id="29" name="Shape 27"/>
          <p:cNvSpPr/>
          <p:nvPr/>
        </p:nvSpPr>
        <p:spPr>
          <a:xfrm>
            <a:off x="6409944" y="1847088"/>
            <a:ext cx="438912" cy="438912"/>
          </a:xfrm>
          <a:prstGeom prst="ellipse">
            <a:avLst/>
          </a:prstGeom>
          <a:solidFill>
            <a:srgbClr val="334155"/>
          </a:solidFill>
          <a:ln w="25400">
            <a:solidFill>
              <a:srgbClr val="06B6D4"/>
            </a:solidFill>
            <a:prstDash val="solid"/>
          </a:ln>
        </p:spPr>
      </p:sp>
      <p:sp>
        <p:nvSpPr>
          <p:cNvPr id="30" name="Text 28"/>
          <p:cNvSpPr/>
          <p:nvPr/>
        </p:nvSpPr>
        <p:spPr>
          <a:xfrm>
            <a:off x="6409944" y="1847088"/>
            <a:ext cx="438912" cy="438912"/>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1" name="Shape 29"/>
          <p:cNvSpPr/>
          <p:nvPr/>
        </p:nvSpPr>
        <p:spPr>
          <a:xfrm>
            <a:off x="6940296" y="1920240"/>
            <a:ext cx="453542" cy="228600"/>
          </a:xfrm>
          <a:prstGeom prst="roundRect">
            <a:avLst>
              <a:gd name="adj" fmla="val 16000"/>
            </a:avLst>
          </a:prstGeom>
          <a:solidFill>
            <a:srgbClr val="161D2F"/>
          </a:solidFill>
          <a:ln w="12700">
            <a:solidFill>
              <a:srgbClr val="06B6D4"/>
            </a:solidFill>
            <a:prstDash val="solid"/>
          </a:ln>
        </p:spPr>
      </p:sp>
      <p:sp>
        <p:nvSpPr>
          <p:cNvPr id="32" name="Text 30"/>
          <p:cNvSpPr/>
          <p:nvPr/>
        </p:nvSpPr>
        <p:spPr>
          <a:xfrm>
            <a:off x="6940296" y="1929384"/>
            <a:ext cx="453542" cy="228600"/>
          </a:xfrm>
          <a:prstGeom prst="rect">
            <a:avLst/>
          </a:prstGeom>
          <a:noFill/>
          <a:ln/>
        </p:spPr>
        <p:txBody>
          <a:bodyPr wrap="square" lIns="0" tIns="0" rIns="0" bIns="0" rtlCol="0" anchor="ctr"/>
          <a:lstStyle/>
          <a:p>
            <a:pPr algn="ctr" indent="0" marL="0">
              <a:buNone/>
            </a:pPr>
            <a:r>
              <a:rPr lang="en-US" sz="850" b="1" dirty="0">
                <a:solidFill>
                  <a:srgbClr val="06B6D4"/>
                </a:solidFill>
              </a:rPr>
              <a:t>LOW</a:t>
            </a:r>
            <a:endParaRPr lang="en-US" sz="850" dirty="0"/>
          </a:p>
        </p:txBody>
      </p:sp>
      <p:sp>
        <p:nvSpPr>
          <p:cNvPr id="33" name="Text 31"/>
          <p:cNvSpPr/>
          <p:nvPr/>
        </p:nvSpPr>
        <p:spPr>
          <a:xfrm>
            <a:off x="6373368" y="2395728"/>
            <a:ext cx="2487168" cy="384048"/>
          </a:xfrm>
          <a:prstGeom prst="rect">
            <a:avLst/>
          </a:prstGeom>
          <a:noFill/>
          <a:ln/>
        </p:spPr>
        <p:txBody>
          <a:bodyPr wrap="square" lIns="0" tIns="0" rIns="0" bIns="0" rtlCol="0" anchor="ctr"/>
          <a:lstStyle/>
          <a:p>
            <a:pPr indent="0" marL="0">
              <a:buNone/>
            </a:pPr>
            <a:r>
              <a:rPr lang="en-US" sz="1200" b="1" dirty="0">
                <a:solidFill>
                  <a:srgbClr val="F8FAFC"/>
                </a:solidFill>
              </a:rPr>
              <a:t>Unusual revenue values</a:t>
            </a:r>
            <a:endParaRPr lang="en-US" sz="1200" dirty="0"/>
          </a:p>
        </p:txBody>
      </p:sp>
      <p:sp>
        <p:nvSpPr>
          <p:cNvPr id="34" name="Text 32"/>
          <p:cNvSpPr/>
          <p:nvPr/>
        </p:nvSpPr>
        <p:spPr>
          <a:xfrm>
            <a:off x="6373368" y="2816352"/>
            <a:ext cx="2487168" cy="566928"/>
          </a:xfrm>
          <a:prstGeom prst="rect">
            <a:avLst/>
          </a:prstGeom>
          <a:noFill/>
          <a:ln/>
        </p:spPr>
        <p:txBody>
          <a:bodyPr wrap="square" lIns="0" tIns="0" rIns="0" bIns="0" rtlCol="0" anchor="ctr"/>
          <a:lstStyle/>
          <a:p>
            <a:pPr indent="0" marL="0">
              <a:lnSpc>
                <a:spcPts val="1500"/>
              </a:lnSpc>
              <a:buNone/>
            </a:pPr>
            <a:r>
              <a:rPr lang="en-US" sz="1050" dirty="0">
                <a:solidFill>
                  <a:srgbClr val="94A3B8"/>
                </a:solidFill>
              </a:rPr>
              <a:t>6 records show amounts far outside the normal range.</a:t>
            </a:r>
            <a:endParaRPr lang="en-US" sz="1050" dirty="0"/>
          </a:p>
        </p:txBody>
      </p:sp>
      <p:sp>
        <p:nvSpPr>
          <p:cNvPr id="35" name="Shape 33"/>
          <p:cNvSpPr/>
          <p:nvPr/>
        </p:nvSpPr>
        <p:spPr>
          <a:xfrm>
            <a:off x="6373368" y="3438144"/>
            <a:ext cx="2487168" cy="685800"/>
          </a:xfrm>
          <a:prstGeom prst="roundRect">
            <a:avLst>
              <a:gd name="adj" fmla="val 8000"/>
            </a:avLst>
          </a:prstGeom>
          <a:solidFill>
            <a:srgbClr val="334155">
              <a:alpha val="60000"/>
            </a:srgbClr>
          </a:solidFill>
          <a:ln w="12700">
            <a:solidFill>
              <a:srgbClr val="10B981"/>
            </a:solidFill>
            <a:prstDash val="solid"/>
          </a:ln>
        </p:spPr>
      </p:sp>
      <p:sp>
        <p:nvSpPr>
          <p:cNvPr id="36" name="Text 34"/>
          <p:cNvSpPr/>
          <p:nvPr/>
        </p:nvSpPr>
        <p:spPr>
          <a:xfrm>
            <a:off x="6446520" y="3511296"/>
            <a:ext cx="2331720" cy="201168"/>
          </a:xfrm>
          <a:prstGeom prst="rect">
            <a:avLst/>
          </a:prstGeom>
          <a:noFill/>
          <a:ln/>
        </p:spPr>
        <p:txBody>
          <a:bodyPr wrap="square" lIns="0" tIns="0" rIns="0" bIns="0" rtlCol="0" anchor="ctr"/>
          <a:lstStyle/>
          <a:p>
            <a:pPr indent="0" marL="0">
              <a:buNone/>
            </a:pPr>
            <a:r>
              <a:rPr lang="en-US" sz="900" b="1" dirty="0">
                <a:solidFill>
                  <a:srgbClr val="10B981"/>
                </a:solidFill>
              </a:rPr>
              <a:t>Suggested fix:</a:t>
            </a:r>
            <a:endParaRPr lang="en-US" sz="900" dirty="0"/>
          </a:p>
        </p:txBody>
      </p:sp>
      <p:sp>
        <p:nvSpPr>
          <p:cNvPr id="37" name="Text 35"/>
          <p:cNvSpPr/>
          <p:nvPr/>
        </p:nvSpPr>
        <p:spPr>
          <a:xfrm>
            <a:off x="6446520" y="3712464"/>
            <a:ext cx="2331720" cy="365760"/>
          </a:xfrm>
          <a:prstGeom prst="rect">
            <a:avLst/>
          </a:prstGeom>
          <a:noFill/>
          <a:ln/>
        </p:spPr>
        <p:txBody>
          <a:bodyPr wrap="square" lIns="0" tIns="0" rIns="0" bIns="0" rtlCol="0" anchor="ctr"/>
          <a:lstStyle/>
          <a:p>
            <a:pPr indent="0" marL="0">
              <a:lnSpc>
                <a:spcPts val="1300"/>
              </a:lnSpc>
              <a:buNone/>
            </a:pPr>
            <a:r>
              <a:rPr lang="en-US" sz="950" dirty="0">
                <a:solidFill>
                  <a:srgbClr val="F8FAFC"/>
                </a:solidFill>
              </a:rPr>
              <a:t>Review each one and add a rule to flag extreme values.</a:t>
            </a:r>
            <a:endParaRPr lang="en-US" sz="950" dirty="0"/>
          </a:p>
        </p:txBody>
      </p:sp>
      <p:sp>
        <p:nvSpPr>
          <p:cNvPr id="38" name="Text 36"/>
          <p:cNvSpPr/>
          <p:nvPr/>
        </p:nvSpPr>
        <p:spPr>
          <a:xfrm>
            <a:off x="502920" y="4800600"/>
            <a:ext cx="8229600" cy="256032"/>
          </a:xfrm>
          <a:prstGeom prst="rect">
            <a:avLst/>
          </a:prstGeom>
          <a:noFill/>
          <a:ln/>
        </p:spPr>
        <p:txBody>
          <a:bodyPr wrap="square" lIns="0" tIns="0" rIns="0" bIns="0" rtlCol="0" anchor="ctr"/>
          <a:lstStyle/>
          <a:p>
            <a:pPr algn="ctr" indent="0" marL="0">
              <a:buNone/>
            </a:pPr>
            <a:r>
              <a:rPr lang="en-US" sz="1050" i="1" dirty="0">
                <a:solidFill>
                  <a:srgbClr val="94A3B8"/>
                </a:solidFill>
              </a:rPr>
              <a:t>Click Apply Fix to mark it done  ·  Undo at any time  ·  Export a report of all changes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F1E"/>
          </a:solidFill>
          <a:ln w="12700">
            <a:solidFill>
              <a:srgbClr val="0A0F1E"/>
            </a:solidFill>
            <a:prstDash val="solid"/>
          </a:ln>
        </p:spPr>
      </p:sp>
      <p:sp>
        <p:nvSpPr>
          <p:cNvPr id="3" name="Shape 1"/>
          <p:cNvSpPr/>
          <p:nvPr/>
        </p:nvSpPr>
        <p:spPr>
          <a:xfrm>
            <a:off x="0" y="0"/>
            <a:ext cx="45720" cy="5143500"/>
          </a:xfrm>
          <a:prstGeom prst="rect">
            <a:avLst/>
          </a:prstGeom>
          <a:solidFill>
            <a:srgbClr val="10B981"/>
          </a:solidFill>
          <a:ln w="12700">
            <a:solidFill>
              <a:srgbClr val="10B981"/>
            </a:solidFill>
            <a:prstDash val="solid"/>
          </a:ln>
        </p:spPr>
      </p:sp>
      <p:sp>
        <p:nvSpPr>
          <p:cNvPr id="4" name="Shape 2"/>
          <p:cNvSpPr/>
          <p:nvPr/>
        </p:nvSpPr>
        <p:spPr>
          <a:xfrm>
            <a:off x="502920" y="274320"/>
            <a:ext cx="1126541" cy="228600"/>
          </a:xfrm>
          <a:prstGeom prst="roundRect">
            <a:avLst>
              <a:gd name="adj" fmla="val 16000"/>
            </a:avLst>
          </a:prstGeom>
          <a:solidFill>
            <a:srgbClr val="161D2F"/>
          </a:solidFill>
          <a:ln w="12700">
            <a:solidFill>
              <a:srgbClr val="10B981"/>
            </a:solidFill>
            <a:prstDash val="solid"/>
          </a:ln>
        </p:spPr>
      </p:sp>
      <p:sp>
        <p:nvSpPr>
          <p:cNvPr id="5" name="Text 3"/>
          <p:cNvSpPr/>
          <p:nvPr/>
        </p:nvSpPr>
        <p:spPr>
          <a:xfrm>
            <a:off x="502920" y="283464"/>
            <a:ext cx="1126541" cy="228600"/>
          </a:xfrm>
          <a:prstGeom prst="rect">
            <a:avLst/>
          </a:prstGeom>
          <a:noFill/>
          <a:ln/>
        </p:spPr>
        <p:txBody>
          <a:bodyPr wrap="square" lIns="0" tIns="0" rIns="0" bIns="0" rtlCol="0" anchor="ctr"/>
          <a:lstStyle/>
          <a:p>
            <a:pPr algn="ctr" indent="0" marL="0">
              <a:buNone/>
            </a:pPr>
            <a:r>
              <a:rPr lang="en-US" sz="850" b="1" dirty="0">
                <a:solidFill>
                  <a:srgbClr val="10B981"/>
                </a:solidFill>
              </a:rPr>
              <a:t>PAGE 5 OF 7</a:t>
            </a:r>
            <a:endParaRPr lang="en-US" sz="850" dirty="0"/>
          </a:p>
        </p:txBody>
      </p:sp>
      <p:sp>
        <p:nvSpPr>
          <p:cNvPr id="6" name="Text 4"/>
          <p:cNvSpPr/>
          <p:nvPr/>
        </p:nvSpPr>
        <p:spPr>
          <a:xfrm>
            <a:off x="502920" y="621792"/>
            <a:ext cx="8229600" cy="548640"/>
          </a:xfrm>
          <a:prstGeom prst="rect">
            <a:avLst/>
          </a:prstGeom>
          <a:noFill/>
          <a:ln/>
        </p:spPr>
        <p:txBody>
          <a:bodyPr wrap="square" lIns="0" tIns="0" rIns="0" bIns="0" rtlCol="0" anchor="ctr"/>
          <a:lstStyle/>
          <a:p>
            <a:pPr indent="0" marL="0">
              <a:buNone/>
            </a:pPr>
            <a:r>
              <a:rPr lang="en-US" sz="3600" b="1" dirty="0">
                <a:solidFill>
                  <a:srgbClr val="F8FAFC"/>
                </a:solidFill>
              </a:rPr>
              <a:t>Report History</a:t>
            </a:r>
            <a:endParaRPr lang="en-US" sz="3600" dirty="0"/>
          </a:p>
        </p:txBody>
      </p:sp>
      <p:sp>
        <p:nvSpPr>
          <p:cNvPr id="7" name="Text 5"/>
          <p:cNvSpPr/>
          <p:nvPr/>
        </p:nvSpPr>
        <p:spPr>
          <a:xfrm>
            <a:off x="502920" y="1207008"/>
            <a:ext cx="8229600" cy="329184"/>
          </a:xfrm>
          <a:prstGeom prst="rect">
            <a:avLst/>
          </a:prstGeom>
          <a:noFill/>
          <a:ln/>
        </p:spPr>
        <p:txBody>
          <a:bodyPr wrap="square" lIns="0" tIns="0" rIns="0" bIns="0" rtlCol="0" anchor="ctr"/>
          <a:lstStyle/>
          <a:p>
            <a:pPr indent="0" marL="0">
              <a:buNone/>
            </a:pPr>
            <a:r>
              <a:rPr lang="en-US" sz="1300" dirty="0">
                <a:solidFill>
                  <a:srgbClr val="94A3B8"/>
                </a:solidFill>
              </a:rPr>
              <a:t>See how your data quality improves over time — every scan is saved automatically.</a:t>
            </a:r>
            <a:endParaRPr lang="en-US" sz="1300" dirty="0"/>
          </a:p>
        </p:txBody>
      </p:sp>
      <p:sp>
        <p:nvSpPr>
          <p:cNvPr id="8" name="Shape 6"/>
          <p:cNvSpPr/>
          <p:nvPr/>
        </p:nvSpPr>
        <p:spPr>
          <a:xfrm>
            <a:off x="502920" y="1719072"/>
            <a:ext cx="4846320" cy="2560320"/>
          </a:xfrm>
          <a:prstGeom prst="roundRect">
            <a:avLst>
              <a:gd name="adj" fmla="val 2500"/>
            </a:avLst>
          </a:prstGeom>
          <a:solidFill>
            <a:srgbClr val="161D2F"/>
          </a:solidFill>
          <a:ln w="12700">
            <a:solidFill>
              <a:srgbClr val="1E293B"/>
            </a:solidFill>
            <a:prstDash val="solid"/>
          </a:ln>
        </p:spPr>
      </p:sp>
      <p:sp>
        <p:nvSpPr>
          <p:cNvPr id="9" name="Shape 7"/>
          <p:cNvSpPr/>
          <p:nvPr/>
        </p:nvSpPr>
        <p:spPr>
          <a:xfrm>
            <a:off x="777240" y="3931920"/>
            <a:ext cx="4206240" cy="0"/>
          </a:xfrm>
          <a:prstGeom prst="line">
            <a:avLst/>
          </a:prstGeom>
          <a:noFill/>
          <a:ln w="6350">
            <a:solidFill>
              <a:srgbClr val="1E293B"/>
            </a:solidFill>
            <a:prstDash val="solid"/>
          </a:ln>
        </p:spPr>
      </p:sp>
      <p:sp>
        <p:nvSpPr>
          <p:cNvPr id="10" name="Shape 8"/>
          <p:cNvSpPr/>
          <p:nvPr/>
        </p:nvSpPr>
        <p:spPr>
          <a:xfrm>
            <a:off x="777240" y="2926080"/>
            <a:ext cx="4206240" cy="0"/>
          </a:xfrm>
          <a:prstGeom prst="line">
            <a:avLst/>
          </a:prstGeom>
          <a:noFill/>
          <a:ln w="6350">
            <a:solidFill>
              <a:srgbClr val="1E293B"/>
            </a:solidFill>
            <a:prstDash val="solid"/>
          </a:ln>
        </p:spPr>
      </p:sp>
      <p:sp>
        <p:nvSpPr>
          <p:cNvPr id="11" name="Shape 9"/>
          <p:cNvSpPr/>
          <p:nvPr/>
        </p:nvSpPr>
        <p:spPr>
          <a:xfrm>
            <a:off x="777240" y="1920240"/>
            <a:ext cx="4206240" cy="0"/>
          </a:xfrm>
          <a:prstGeom prst="line">
            <a:avLst/>
          </a:prstGeom>
          <a:noFill/>
          <a:ln w="6350">
            <a:solidFill>
              <a:srgbClr val="1E293B"/>
            </a:solidFill>
            <a:prstDash val="solid"/>
          </a:ln>
        </p:spPr>
      </p:sp>
      <p:sp>
        <p:nvSpPr>
          <p:cNvPr id="12" name="Shape 10"/>
          <p:cNvSpPr/>
          <p:nvPr/>
        </p:nvSpPr>
        <p:spPr>
          <a:xfrm>
            <a:off x="777240" y="3378708"/>
            <a:ext cx="701040" cy="-150876"/>
          </a:xfrm>
          <a:prstGeom prst="line">
            <a:avLst/>
          </a:prstGeom>
          <a:noFill/>
          <a:ln w="31750">
            <a:solidFill>
              <a:srgbClr val="4F46E5"/>
            </a:solidFill>
            <a:prstDash val="solid"/>
          </a:ln>
        </p:spPr>
      </p:sp>
      <p:sp>
        <p:nvSpPr>
          <p:cNvPr id="13" name="Shape 11"/>
          <p:cNvSpPr/>
          <p:nvPr/>
        </p:nvSpPr>
        <p:spPr>
          <a:xfrm>
            <a:off x="1478280" y="3227832"/>
            <a:ext cx="701040" cy="301752"/>
          </a:xfrm>
          <a:prstGeom prst="line">
            <a:avLst/>
          </a:prstGeom>
          <a:noFill/>
          <a:ln w="31750">
            <a:solidFill>
              <a:srgbClr val="4F46E5"/>
            </a:solidFill>
            <a:prstDash val="solid"/>
          </a:ln>
        </p:spPr>
      </p:sp>
      <p:sp>
        <p:nvSpPr>
          <p:cNvPr id="14" name="Shape 12"/>
          <p:cNvSpPr/>
          <p:nvPr/>
        </p:nvSpPr>
        <p:spPr>
          <a:xfrm>
            <a:off x="2179320" y="3529584"/>
            <a:ext cx="701040" cy="-553212"/>
          </a:xfrm>
          <a:prstGeom prst="line">
            <a:avLst/>
          </a:prstGeom>
          <a:noFill/>
          <a:ln w="31750">
            <a:solidFill>
              <a:srgbClr val="4F46E5"/>
            </a:solidFill>
            <a:prstDash val="solid"/>
          </a:ln>
        </p:spPr>
      </p:sp>
      <p:sp>
        <p:nvSpPr>
          <p:cNvPr id="15" name="Shape 13"/>
          <p:cNvSpPr/>
          <p:nvPr/>
        </p:nvSpPr>
        <p:spPr>
          <a:xfrm>
            <a:off x="2880360" y="2976372"/>
            <a:ext cx="701040" cy="-201168"/>
          </a:xfrm>
          <a:prstGeom prst="line">
            <a:avLst/>
          </a:prstGeom>
          <a:noFill/>
          <a:ln w="31750">
            <a:solidFill>
              <a:srgbClr val="4F46E5"/>
            </a:solidFill>
            <a:prstDash val="solid"/>
          </a:ln>
        </p:spPr>
      </p:sp>
      <p:sp>
        <p:nvSpPr>
          <p:cNvPr id="16" name="Shape 14"/>
          <p:cNvSpPr/>
          <p:nvPr/>
        </p:nvSpPr>
        <p:spPr>
          <a:xfrm>
            <a:off x="3581400" y="2775204"/>
            <a:ext cx="701040" cy="-251460"/>
          </a:xfrm>
          <a:prstGeom prst="line">
            <a:avLst/>
          </a:prstGeom>
          <a:noFill/>
          <a:ln w="31750">
            <a:solidFill>
              <a:srgbClr val="4F46E5"/>
            </a:solidFill>
            <a:prstDash val="solid"/>
          </a:ln>
        </p:spPr>
      </p:sp>
      <p:sp>
        <p:nvSpPr>
          <p:cNvPr id="17" name="Shape 15"/>
          <p:cNvSpPr/>
          <p:nvPr/>
        </p:nvSpPr>
        <p:spPr>
          <a:xfrm>
            <a:off x="4282440" y="2523744"/>
            <a:ext cx="701040" cy="-201168"/>
          </a:xfrm>
          <a:prstGeom prst="line">
            <a:avLst/>
          </a:prstGeom>
          <a:noFill/>
          <a:ln w="31750">
            <a:solidFill>
              <a:srgbClr val="4F46E5"/>
            </a:solidFill>
            <a:prstDash val="solid"/>
          </a:ln>
        </p:spPr>
      </p:sp>
      <p:sp>
        <p:nvSpPr>
          <p:cNvPr id="18" name="Shape 16"/>
          <p:cNvSpPr/>
          <p:nvPr/>
        </p:nvSpPr>
        <p:spPr>
          <a:xfrm>
            <a:off x="704088" y="3305556"/>
            <a:ext cx="146304" cy="146304"/>
          </a:xfrm>
          <a:prstGeom prst="ellipse">
            <a:avLst/>
          </a:prstGeom>
          <a:solidFill>
            <a:srgbClr val="4F46E5"/>
          </a:solidFill>
          <a:ln w="12700">
            <a:solidFill>
              <a:srgbClr val="F8FAFC"/>
            </a:solidFill>
            <a:prstDash val="solid"/>
          </a:ln>
        </p:spPr>
      </p:sp>
      <p:sp>
        <p:nvSpPr>
          <p:cNvPr id="19" name="Text 17"/>
          <p:cNvSpPr/>
          <p:nvPr/>
        </p:nvSpPr>
        <p:spPr>
          <a:xfrm>
            <a:off x="576072" y="3986784"/>
            <a:ext cx="402336" cy="182880"/>
          </a:xfrm>
          <a:prstGeom prst="rect">
            <a:avLst/>
          </a:prstGeom>
          <a:noFill/>
          <a:ln/>
        </p:spPr>
        <p:txBody>
          <a:bodyPr wrap="square" lIns="0" tIns="0" rIns="0" bIns="0" rtlCol="0" anchor="ctr"/>
          <a:lstStyle/>
          <a:p>
            <a:pPr algn="ctr" indent="0" marL="0">
              <a:buNone/>
            </a:pPr>
            <a:r>
              <a:rPr lang="en-US" sz="800" dirty="0">
                <a:solidFill>
                  <a:srgbClr val="94A3B8"/>
                </a:solidFill>
              </a:rPr>
              <a:t>Jan</a:t>
            </a:r>
            <a:endParaRPr lang="en-US" sz="800" dirty="0"/>
          </a:p>
        </p:txBody>
      </p:sp>
      <p:sp>
        <p:nvSpPr>
          <p:cNvPr id="20" name="Shape 18"/>
          <p:cNvSpPr/>
          <p:nvPr/>
        </p:nvSpPr>
        <p:spPr>
          <a:xfrm>
            <a:off x="1405128" y="3154680"/>
            <a:ext cx="146304" cy="146304"/>
          </a:xfrm>
          <a:prstGeom prst="ellipse">
            <a:avLst/>
          </a:prstGeom>
          <a:solidFill>
            <a:srgbClr val="4F46E5"/>
          </a:solidFill>
          <a:ln w="12700">
            <a:solidFill>
              <a:srgbClr val="F8FAFC"/>
            </a:solidFill>
            <a:prstDash val="solid"/>
          </a:ln>
        </p:spPr>
      </p:sp>
      <p:sp>
        <p:nvSpPr>
          <p:cNvPr id="21" name="Text 19"/>
          <p:cNvSpPr/>
          <p:nvPr/>
        </p:nvSpPr>
        <p:spPr>
          <a:xfrm>
            <a:off x="1277112" y="3986784"/>
            <a:ext cx="402336" cy="182880"/>
          </a:xfrm>
          <a:prstGeom prst="rect">
            <a:avLst/>
          </a:prstGeom>
          <a:noFill/>
          <a:ln/>
        </p:spPr>
        <p:txBody>
          <a:bodyPr wrap="square" lIns="0" tIns="0" rIns="0" bIns="0" rtlCol="0" anchor="ctr"/>
          <a:lstStyle/>
          <a:p>
            <a:pPr algn="ctr" indent="0" marL="0">
              <a:buNone/>
            </a:pPr>
            <a:r>
              <a:rPr lang="en-US" sz="800" dirty="0">
                <a:solidFill>
                  <a:srgbClr val="94A3B8"/>
                </a:solidFill>
              </a:rPr>
              <a:t>Feb</a:t>
            </a:r>
            <a:endParaRPr lang="en-US" sz="800" dirty="0"/>
          </a:p>
        </p:txBody>
      </p:sp>
      <p:sp>
        <p:nvSpPr>
          <p:cNvPr id="22" name="Shape 20"/>
          <p:cNvSpPr/>
          <p:nvPr/>
        </p:nvSpPr>
        <p:spPr>
          <a:xfrm>
            <a:off x="2106168" y="3456432"/>
            <a:ext cx="146304" cy="146304"/>
          </a:xfrm>
          <a:prstGeom prst="ellipse">
            <a:avLst/>
          </a:prstGeom>
          <a:solidFill>
            <a:srgbClr val="4F46E5"/>
          </a:solidFill>
          <a:ln w="12700">
            <a:solidFill>
              <a:srgbClr val="F8FAFC"/>
            </a:solidFill>
            <a:prstDash val="solid"/>
          </a:ln>
        </p:spPr>
      </p:sp>
      <p:sp>
        <p:nvSpPr>
          <p:cNvPr id="23" name="Text 21"/>
          <p:cNvSpPr/>
          <p:nvPr/>
        </p:nvSpPr>
        <p:spPr>
          <a:xfrm>
            <a:off x="1978152" y="3986784"/>
            <a:ext cx="402336" cy="182880"/>
          </a:xfrm>
          <a:prstGeom prst="rect">
            <a:avLst/>
          </a:prstGeom>
          <a:noFill/>
          <a:ln/>
        </p:spPr>
        <p:txBody>
          <a:bodyPr wrap="square" lIns="0" tIns="0" rIns="0" bIns="0" rtlCol="0" anchor="ctr"/>
          <a:lstStyle/>
          <a:p>
            <a:pPr algn="ctr" indent="0" marL="0">
              <a:buNone/>
            </a:pPr>
            <a:r>
              <a:rPr lang="en-US" sz="800" dirty="0">
                <a:solidFill>
                  <a:srgbClr val="94A3B8"/>
                </a:solidFill>
              </a:rPr>
              <a:t>Mar</a:t>
            </a:r>
            <a:endParaRPr lang="en-US" sz="800" dirty="0"/>
          </a:p>
        </p:txBody>
      </p:sp>
      <p:sp>
        <p:nvSpPr>
          <p:cNvPr id="24" name="Shape 22"/>
          <p:cNvSpPr/>
          <p:nvPr/>
        </p:nvSpPr>
        <p:spPr>
          <a:xfrm>
            <a:off x="2807208" y="2903220"/>
            <a:ext cx="146304" cy="146304"/>
          </a:xfrm>
          <a:prstGeom prst="ellipse">
            <a:avLst/>
          </a:prstGeom>
          <a:solidFill>
            <a:srgbClr val="4F46E5"/>
          </a:solidFill>
          <a:ln w="12700">
            <a:solidFill>
              <a:srgbClr val="F8FAFC"/>
            </a:solidFill>
            <a:prstDash val="solid"/>
          </a:ln>
        </p:spPr>
      </p:sp>
      <p:sp>
        <p:nvSpPr>
          <p:cNvPr id="25" name="Text 23"/>
          <p:cNvSpPr/>
          <p:nvPr/>
        </p:nvSpPr>
        <p:spPr>
          <a:xfrm>
            <a:off x="2679192" y="3986784"/>
            <a:ext cx="402336" cy="182880"/>
          </a:xfrm>
          <a:prstGeom prst="rect">
            <a:avLst/>
          </a:prstGeom>
          <a:noFill/>
          <a:ln/>
        </p:spPr>
        <p:txBody>
          <a:bodyPr wrap="square" lIns="0" tIns="0" rIns="0" bIns="0" rtlCol="0" anchor="ctr"/>
          <a:lstStyle/>
          <a:p>
            <a:pPr algn="ctr" indent="0" marL="0">
              <a:buNone/>
            </a:pPr>
            <a:r>
              <a:rPr lang="en-US" sz="800" dirty="0">
                <a:solidFill>
                  <a:srgbClr val="94A3B8"/>
                </a:solidFill>
              </a:rPr>
              <a:t>Apr</a:t>
            </a:r>
            <a:endParaRPr lang="en-US" sz="800" dirty="0"/>
          </a:p>
        </p:txBody>
      </p:sp>
      <p:sp>
        <p:nvSpPr>
          <p:cNvPr id="26" name="Shape 24"/>
          <p:cNvSpPr/>
          <p:nvPr/>
        </p:nvSpPr>
        <p:spPr>
          <a:xfrm>
            <a:off x="3508248" y="2702052"/>
            <a:ext cx="146304" cy="146304"/>
          </a:xfrm>
          <a:prstGeom prst="ellipse">
            <a:avLst/>
          </a:prstGeom>
          <a:solidFill>
            <a:srgbClr val="4F46E5"/>
          </a:solidFill>
          <a:ln w="12700">
            <a:solidFill>
              <a:srgbClr val="F8FAFC"/>
            </a:solidFill>
            <a:prstDash val="solid"/>
          </a:ln>
        </p:spPr>
      </p:sp>
      <p:sp>
        <p:nvSpPr>
          <p:cNvPr id="27" name="Text 25"/>
          <p:cNvSpPr/>
          <p:nvPr/>
        </p:nvSpPr>
        <p:spPr>
          <a:xfrm>
            <a:off x="3380232" y="3986784"/>
            <a:ext cx="402336" cy="182880"/>
          </a:xfrm>
          <a:prstGeom prst="rect">
            <a:avLst/>
          </a:prstGeom>
          <a:noFill/>
          <a:ln/>
        </p:spPr>
        <p:txBody>
          <a:bodyPr wrap="square" lIns="0" tIns="0" rIns="0" bIns="0" rtlCol="0" anchor="ctr"/>
          <a:lstStyle/>
          <a:p>
            <a:pPr algn="ctr" indent="0" marL="0">
              <a:buNone/>
            </a:pPr>
            <a:r>
              <a:rPr lang="en-US" sz="800" dirty="0">
                <a:solidFill>
                  <a:srgbClr val="94A3B8"/>
                </a:solidFill>
              </a:rPr>
              <a:t>May</a:t>
            </a:r>
            <a:endParaRPr lang="en-US" sz="800" dirty="0"/>
          </a:p>
        </p:txBody>
      </p:sp>
      <p:sp>
        <p:nvSpPr>
          <p:cNvPr id="28" name="Shape 26"/>
          <p:cNvSpPr/>
          <p:nvPr/>
        </p:nvSpPr>
        <p:spPr>
          <a:xfrm>
            <a:off x="4209288" y="2450592"/>
            <a:ext cx="146304" cy="146304"/>
          </a:xfrm>
          <a:prstGeom prst="ellipse">
            <a:avLst/>
          </a:prstGeom>
          <a:solidFill>
            <a:srgbClr val="4F46E5"/>
          </a:solidFill>
          <a:ln w="12700">
            <a:solidFill>
              <a:srgbClr val="F8FAFC"/>
            </a:solidFill>
            <a:prstDash val="solid"/>
          </a:ln>
        </p:spPr>
      </p:sp>
      <p:sp>
        <p:nvSpPr>
          <p:cNvPr id="29" name="Text 27"/>
          <p:cNvSpPr/>
          <p:nvPr/>
        </p:nvSpPr>
        <p:spPr>
          <a:xfrm>
            <a:off x="4081272" y="3986784"/>
            <a:ext cx="402336" cy="182880"/>
          </a:xfrm>
          <a:prstGeom prst="rect">
            <a:avLst/>
          </a:prstGeom>
          <a:noFill/>
          <a:ln/>
        </p:spPr>
        <p:txBody>
          <a:bodyPr wrap="square" lIns="0" tIns="0" rIns="0" bIns="0" rtlCol="0" anchor="ctr"/>
          <a:lstStyle/>
          <a:p>
            <a:pPr algn="ctr" indent="0" marL="0">
              <a:buNone/>
            </a:pPr>
            <a:r>
              <a:rPr lang="en-US" sz="800" dirty="0">
                <a:solidFill>
                  <a:srgbClr val="94A3B8"/>
                </a:solidFill>
              </a:rPr>
              <a:t>Jun</a:t>
            </a:r>
            <a:endParaRPr lang="en-US" sz="800" dirty="0"/>
          </a:p>
        </p:txBody>
      </p:sp>
      <p:sp>
        <p:nvSpPr>
          <p:cNvPr id="30" name="Shape 28"/>
          <p:cNvSpPr/>
          <p:nvPr/>
        </p:nvSpPr>
        <p:spPr>
          <a:xfrm>
            <a:off x="4910328" y="2249424"/>
            <a:ext cx="146304" cy="146304"/>
          </a:xfrm>
          <a:prstGeom prst="ellipse">
            <a:avLst/>
          </a:prstGeom>
          <a:solidFill>
            <a:srgbClr val="10B981"/>
          </a:solidFill>
          <a:ln w="12700">
            <a:solidFill>
              <a:srgbClr val="F8FAFC"/>
            </a:solidFill>
            <a:prstDash val="solid"/>
          </a:ln>
        </p:spPr>
      </p:sp>
      <p:sp>
        <p:nvSpPr>
          <p:cNvPr id="31" name="Text 29"/>
          <p:cNvSpPr/>
          <p:nvPr/>
        </p:nvSpPr>
        <p:spPr>
          <a:xfrm>
            <a:off x="4782312" y="3986784"/>
            <a:ext cx="402336" cy="182880"/>
          </a:xfrm>
          <a:prstGeom prst="rect">
            <a:avLst/>
          </a:prstGeom>
          <a:noFill/>
          <a:ln/>
        </p:spPr>
        <p:txBody>
          <a:bodyPr wrap="square" lIns="0" tIns="0" rIns="0" bIns="0" rtlCol="0" anchor="ctr"/>
          <a:lstStyle/>
          <a:p>
            <a:pPr algn="ctr" indent="0" marL="0">
              <a:buNone/>
            </a:pPr>
            <a:r>
              <a:rPr lang="en-US" sz="800" dirty="0">
                <a:solidFill>
                  <a:srgbClr val="94A3B8"/>
                </a:solidFill>
              </a:rPr>
              <a:t>Jul</a:t>
            </a:r>
            <a:endParaRPr lang="en-US" sz="800" dirty="0"/>
          </a:p>
        </p:txBody>
      </p:sp>
      <p:sp>
        <p:nvSpPr>
          <p:cNvPr id="32" name="Text 30"/>
          <p:cNvSpPr/>
          <p:nvPr/>
        </p:nvSpPr>
        <p:spPr>
          <a:xfrm>
            <a:off x="502920" y="3822192"/>
            <a:ext cx="256032" cy="182880"/>
          </a:xfrm>
          <a:prstGeom prst="rect">
            <a:avLst/>
          </a:prstGeom>
          <a:noFill/>
          <a:ln/>
        </p:spPr>
        <p:txBody>
          <a:bodyPr wrap="square" lIns="0" tIns="0" rIns="0" bIns="0" rtlCol="0" anchor="ctr"/>
          <a:lstStyle/>
          <a:p>
            <a:pPr algn="r" indent="0" marL="0">
              <a:buNone/>
            </a:pPr>
            <a:r>
              <a:rPr lang="en-US" sz="800" dirty="0">
                <a:solidFill>
                  <a:srgbClr val="94A3B8"/>
                </a:solidFill>
              </a:rPr>
              <a:t>71</a:t>
            </a:r>
            <a:endParaRPr lang="en-US" sz="800" dirty="0"/>
          </a:p>
        </p:txBody>
      </p:sp>
      <p:sp>
        <p:nvSpPr>
          <p:cNvPr id="33" name="Text 31"/>
          <p:cNvSpPr/>
          <p:nvPr/>
        </p:nvSpPr>
        <p:spPr>
          <a:xfrm>
            <a:off x="502920" y="1828800"/>
            <a:ext cx="256032" cy="182880"/>
          </a:xfrm>
          <a:prstGeom prst="rect">
            <a:avLst/>
          </a:prstGeom>
          <a:noFill/>
          <a:ln/>
        </p:spPr>
        <p:txBody>
          <a:bodyPr wrap="square" lIns="0" tIns="0" rIns="0" bIns="0" rtlCol="0" anchor="ctr"/>
          <a:lstStyle/>
          <a:p>
            <a:pPr algn="r" indent="0" marL="0">
              <a:buNone/>
            </a:pPr>
            <a:r>
              <a:rPr lang="en-US" sz="800" dirty="0">
                <a:solidFill>
                  <a:srgbClr val="10B981"/>
                </a:solidFill>
              </a:rPr>
              <a:t>92</a:t>
            </a:r>
            <a:endParaRPr lang="en-US" sz="800" dirty="0"/>
          </a:p>
        </p:txBody>
      </p:sp>
      <p:sp>
        <p:nvSpPr>
          <p:cNvPr id="34" name="Text 32"/>
          <p:cNvSpPr/>
          <p:nvPr/>
        </p:nvSpPr>
        <p:spPr>
          <a:xfrm>
            <a:off x="502920" y="4114800"/>
            <a:ext cx="4846320" cy="256032"/>
          </a:xfrm>
          <a:prstGeom prst="rect">
            <a:avLst/>
          </a:prstGeom>
          <a:noFill/>
          <a:ln/>
        </p:spPr>
        <p:txBody>
          <a:bodyPr wrap="square" lIns="0" tIns="0" rIns="0" bIns="0" rtlCol="0" anchor="ctr"/>
          <a:lstStyle/>
          <a:p>
            <a:pPr algn="ctr" indent="0" marL="0">
              <a:buNone/>
            </a:pPr>
            <a:r>
              <a:rPr lang="en-US" sz="1100" b="1" dirty="0">
                <a:solidFill>
                  <a:srgbClr val="10B981"/>
                </a:solidFill>
              </a:rPr>
              <a:t>+21 point improvement since January</a:t>
            </a:r>
            <a:endParaRPr lang="en-US" sz="1100" dirty="0"/>
          </a:p>
        </p:txBody>
      </p:sp>
      <p:sp>
        <p:nvSpPr>
          <p:cNvPr id="35" name="Shape 33"/>
          <p:cNvSpPr/>
          <p:nvPr/>
        </p:nvSpPr>
        <p:spPr>
          <a:xfrm>
            <a:off x="5577840" y="1719072"/>
            <a:ext cx="3108960" cy="2560320"/>
          </a:xfrm>
          <a:prstGeom prst="roundRect">
            <a:avLst>
              <a:gd name="adj" fmla="val 2500"/>
            </a:avLst>
          </a:prstGeom>
          <a:solidFill>
            <a:srgbClr val="161D2F"/>
          </a:solidFill>
          <a:ln w="12700">
            <a:solidFill>
              <a:srgbClr val="1E293B"/>
            </a:solidFill>
            <a:prstDash val="solid"/>
          </a:ln>
        </p:spPr>
      </p:sp>
      <p:sp>
        <p:nvSpPr>
          <p:cNvPr id="36" name="Text 34"/>
          <p:cNvSpPr/>
          <p:nvPr/>
        </p:nvSpPr>
        <p:spPr>
          <a:xfrm>
            <a:off x="5742432" y="1874520"/>
            <a:ext cx="2779776" cy="292608"/>
          </a:xfrm>
          <a:prstGeom prst="rect">
            <a:avLst/>
          </a:prstGeom>
          <a:noFill/>
          <a:ln/>
        </p:spPr>
        <p:txBody>
          <a:bodyPr wrap="square" lIns="0" tIns="0" rIns="0" bIns="0" rtlCol="0" anchor="ctr"/>
          <a:lstStyle/>
          <a:p>
            <a:pPr indent="0" marL="0">
              <a:buNone/>
            </a:pPr>
            <a:r>
              <a:rPr lang="en-US" sz="1200" b="1" dirty="0">
                <a:solidFill>
                  <a:srgbClr val="F8FAFC"/>
                </a:solidFill>
              </a:rPr>
              <a:t>What you can do here:</a:t>
            </a:r>
            <a:endParaRPr lang="en-US" sz="1200" dirty="0"/>
          </a:p>
        </p:txBody>
      </p:sp>
      <p:sp>
        <p:nvSpPr>
          <p:cNvPr id="37" name="Text 35"/>
          <p:cNvSpPr/>
          <p:nvPr/>
        </p:nvSpPr>
        <p:spPr>
          <a:xfrm>
            <a:off x="5742432" y="2286000"/>
            <a:ext cx="292608" cy="347472"/>
          </a:xfrm>
          <a:prstGeom prst="rect">
            <a:avLst/>
          </a:prstGeom>
          <a:noFill/>
          <a:ln/>
        </p:spPr>
        <p:txBody>
          <a:bodyPr wrap="square" lIns="0" tIns="0" rIns="0" bIns="0" rtlCol="0" anchor="ctr"/>
          <a:lstStyle/>
          <a:p>
            <a:pPr indent="0" marL="0">
              <a:buNone/>
            </a:pPr>
            <a:r>
              <a:rPr lang="en-US" sz="1600" dirty="0">
                <a:solidFill>
                  <a:srgbClr val="000000"/>
                </a:solidFill>
              </a:rPr>
              <a:t>📂</a:t>
            </a:r>
            <a:endParaRPr lang="en-US" sz="1600" dirty="0"/>
          </a:p>
        </p:txBody>
      </p:sp>
      <p:sp>
        <p:nvSpPr>
          <p:cNvPr id="38" name="Text 36"/>
          <p:cNvSpPr/>
          <p:nvPr/>
        </p:nvSpPr>
        <p:spPr>
          <a:xfrm>
            <a:off x="6080760" y="2313432"/>
            <a:ext cx="2468880" cy="347472"/>
          </a:xfrm>
          <a:prstGeom prst="rect">
            <a:avLst/>
          </a:prstGeom>
          <a:noFill/>
          <a:ln/>
        </p:spPr>
        <p:txBody>
          <a:bodyPr wrap="square" lIns="0" tIns="0" rIns="0" bIns="0" rtlCol="0" anchor="ctr"/>
          <a:lstStyle/>
          <a:p>
            <a:pPr indent="0" marL="0">
              <a:buNone/>
            </a:pPr>
            <a:r>
              <a:rPr lang="en-US" sz="1150" dirty="0">
                <a:solidFill>
                  <a:srgbClr val="94A3B8"/>
                </a:solidFill>
              </a:rPr>
              <a:t>Browse every past analysis by date</a:t>
            </a:r>
            <a:endParaRPr lang="en-US" sz="1150" dirty="0"/>
          </a:p>
        </p:txBody>
      </p:sp>
      <p:sp>
        <p:nvSpPr>
          <p:cNvPr id="39" name="Text 37"/>
          <p:cNvSpPr/>
          <p:nvPr/>
        </p:nvSpPr>
        <p:spPr>
          <a:xfrm>
            <a:off x="5742432" y="2724912"/>
            <a:ext cx="292608" cy="347472"/>
          </a:xfrm>
          <a:prstGeom prst="rect">
            <a:avLst/>
          </a:prstGeom>
          <a:noFill/>
          <a:ln/>
        </p:spPr>
        <p:txBody>
          <a:bodyPr wrap="square" lIns="0" tIns="0" rIns="0" bIns="0" rtlCol="0" anchor="ctr"/>
          <a:lstStyle/>
          <a:p>
            <a:pPr indent="0" marL="0">
              <a:buNone/>
            </a:pPr>
            <a:r>
              <a:rPr lang="en-US" sz="1600" dirty="0">
                <a:solidFill>
                  <a:srgbClr val="000000"/>
                </a:solidFill>
              </a:rPr>
              <a:t>🔍</a:t>
            </a:r>
            <a:endParaRPr lang="en-US" sz="1600" dirty="0"/>
          </a:p>
        </p:txBody>
      </p:sp>
      <p:sp>
        <p:nvSpPr>
          <p:cNvPr id="40" name="Text 38"/>
          <p:cNvSpPr/>
          <p:nvPr/>
        </p:nvSpPr>
        <p:spPr>
          <a:xfrm>
            <a:off x="6080760" y="2752344"/>
            <a:ext cx="2468880" cy="347472"/>
          </a:xfrm>
          <a:prstGeom prst="rect">
            <a:avLst/>
          </a:prstGeom>
          <a:noFill/>
          <a:ln/>
        </p:spPr>
        <p:txBody>
          <a:bodyPr wrap="square" lIns="0" tIns="0" rIns="0" bIns="0" rtlCol="0" anchor="ctr"/>
          <a:lstStyle/>
          <a:p>
            <a:pPr indent="0" marL="0">
              <a:buNone/>
            </a:pPr>
            <a:r>
              <a:rPr lang="en-US" sz="1150" dirty="0">
                <a:solidFill>
                  <a:srgbClr val="94A3B8"/>
                </a:solidFill>
              </a:rPr>
              <a:t>Filter by status — Good, Fair, or Poor</a:t>
            </a:r>
            <a:endParaRPr lang="en-US" sz="1150" dirty="0"/>
          </a:p>
        </p:txBody>
      </p:sp>
      <p:sp>
        <p:nvSpPr>
          <p:cNvPr id="41" name="Text 39"/>
          <p:cNvSpPr/>
          <p:nvPr/>
        </p:nvSpPr>
        <p:spPr>
          <a:xfrm>
            <a:off x="5742432" y="3163824"/>
            <a:ext cx="292608" cy="347472"/>
          </a:xfrm>
          <a:prstGeom prst="rect">
            <a:avLst/>
          </a:prstGeom>
          <a:noFill/>
          <a:ln/>
        </p:spPr>
        <p:txBody>
          <a:bodyPr wrap="square" lIns="0" tIns="0" rIns="0" bIns="0" rtlCol="0" anchor="ctr"/>
          <a:lstStyle/>
          <a:p>
            <a:pPr indent="0" marL="0">
              <a:buNone/>
            </a:pPr>
            <a:r>
              <a:rPr lang="en-US" sz="1600" dirty="0">
                <a:solidFill>
                  <a:srgbClr val="000000"/>
                </a:solidFill>
              </a:rPr>
              <a:t>⬇</a:t>
            </a:r>
            <a:endParaRPr lang="en-US" sz="1600" dirty="0"/>
          </a:p>
        </p:txBody>
      </p:sp>
      <p:sp>
        <p:nvSpPr>
          <p:cNvPr id="42" name="Text 40"/>
          <p:cNvSpPr/>
          <p:nvPr/>
        </p:nvSpPr>
        <p:spPr>
          <a:xfrm>
            <a:off x="6080760" y="3191256"/>
            <a:ext cx="2468880" cy="347472"/>
          </a:xfrm>
          <a:prstGeom prst="rect">
            <a:avLst/>
          </a:prstGeom>
          <a:noFill/>
          <a:ln/>
        </p:spPr>
        <p:txBody>
          <a:bodyPr wrap="square" lIns="0" tIns="0" rIns="0" bIns="0" rtlCol="0" anchor="ctr"/>
          <a:lstStyle/>
          <a:p>
            <a:pPr indent="0" marL="0">
              <a:buNone/>
            </a:pPr>
            <a:r>
              <a:rPr lang="en-US" sz="1150" dirty="0">
                <a:solidFill>
                  <a:srgbClr val="94A3B8"/>
                </a:solidFill>
              </a:rPr>
              <a:t>Download any past report as a file</a:t>
            </a:r>
            <a:endParaRPr lang="en-US" sz="1150" dirty="0"/>
          </a:p>
        </p:txBody>
      </p:sp>
      <p:sp>
        <p:nvSpPr>
          <p:cNvPr id="43" name="Text 41"/>
          <p:cNvSpPr/>
          <p:nvPr/>
        </p:nvSpPr>
        <p:spPr>
          <a:xfrm>
            <a:off x="5742432" y="3602736"/>
            <a:ext cx="292608" cy="347472"/>
          </a:xfrm>
          <a:prstGeom prst="rect">
            <a:avLst/>
          </a:prstGeom>
          <a:noFill/>
          <a:ln/>
        </p:spPr>
        <p:txBody>
          <a:bodyPr wrap="square" lIns="0" tIns="0" rIns="0" bIns="0" rtlCol="0" anchor="ctr"/>
          <a:lstStyle/>
          <a:p>
            <a:pPr indent="0" marL="0">
              <a:buNone/>
            </a:pPr>
            <a:r>
              <a:rPr lang="en-US" sz="1600" dirty="0">
                <a:solidFill>
                  <a:srgbClr val="000000"/>
                </a:solidFill>
              </a:rPr>
              <a:t>📈</a:t>
            </a:r>
            <a:endParaRPr lang="en-US" sz="1600" dirty="0"/>
          </a:p>
        </p:txBody>
      </p:sp>
      <p:sp>
        <p:nvSpPr>
          <p:cNvPr id="44" name="Text 42"/>
          <p:cNvSpPr/>
          <p:nvPr/>
        </p:nvSpPr>
        <p:spPr>
          <a:xfrm>
            <a:off x="6080760" y="3630168"/>
            <a:ext cx="2468880" cy="347472"/>
          </a:xfrm>
          <a:prstGeom prst="rect">
            <a:avLst/>
          </a:prstGeom>
          <a:noFill/>
          <a:ln/>
        </p:spPr>
        <p:txBody>
          <a:bodyPr wrap="square" lIns="0" tIns="0" rIns="0" bIns="0" rtlCol="0" anchor="ctr"/>
          <a:lstStyle/>
          <a:p>
            <a:pPr indent="0" marL="0">
              <a:buNone/>
            </a:pPr>
            <a:r>
              <a:rPr lang="en-US" sz="1150" dirty="0">
                <a:solidFill>
                  <a:srgbClr val="94A3B8"/>
                </a:solidFill>
              </a:rPr>
              <a:t>Show your team proof that things are improving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F1E"/>
          </a:solidFill>
          <a:ln w="12700">
            <a:solidFill>
              <a:srgbClr val="0A0F1E"/>
            </a:solidFill>
            <a:prstDash val="solid"/>
          </a:ln>
        </p:spPr>
      </p:sp>
      <p:sp>
        <p:nvSpPr>
          <p:cNvPr id="3" name="Shape 1"/>
          <p:cNvSpPr/>
          <p:nvPr/>
        </p:nvSpPr>
        <p:spPr>
          <a:xfrm>
            <a:off x="0" y="0"/>
            <a:ext cx="45720" cy="5143500"/>
          </a:xfrm>
          <a:prstGeom prst="rect">
            <a:avLst/>
          </a:prstGeom>
          <a:solidFill>
            <a:srgbClr val="06B6D4"/>
          </a:solidFill>
          <a:ln w="12700">
            <a:solidFill>
              <a:srgbClr val="06B6D4"/>
            </a:solidFill>
            <a:prstDash val="solid"/>
          </a:ln>
        </p:spPr>
      </p:sp>
      <p:sp>
        <p:nvSpPr>
          <p:cNvPr id="4" name="Shape 2"/>
          <p:cNvSpPr/>
          <p:nvPr/>
        </p:nvSpPr>
        <p:spPr>
          <a:xfrm>
            <a:off x="502920" y="274320"/>
            <a:ext cx="1126541" cy="228600"/>
          </a:xfrm>
          <a:prstGeom prst="roundRect">
            <a:avLst>
              <a:gd name="adj" fmla="val 16000"/>
            </a:avLst>
          </a:prstGeom>
          <a:solidFill>
            <a:srgbClr val="161D2F"/>
          </a:solidFill>
          <a:ln w="12700">
            <a:solidFill>
              <a:srgbClr val="06B6D4"/>
            </a:solidFill>
            <a:prstDash val="solid"/>
          </a:ln>
        </p:spPr>
      </p:sp>
      <p:sp>
        <p:nvSpPr>
          <p:cNvPr id="5" name="Text 3"/>
          <p:cNvSpPr/>
          <p:nvPr/>
        </p:nvSpPr>
        <p:spPr>
          <a:xfrm>
            <a:off x="502920" y="283464"/>
            <a:ext cx="1126541" cy="228600"/>
          </a:xfrm>
          <a:prstGeom prst="rect">
            <a:avLst/>
          </a:prstGeom>
          <a:noFill/>
          <a:ln/>
        </p:spPr>
        <p:txBody>
          <a:bodyPr wrap="square" lIns="0" tIns="0" rIns="0" bIns="0" rtlCol="0" anchor="ctr"/>
          <a:lstStyle/>
          <a:p>
            <a:pPr algn="ctr" indent="0" marL="0">
              <a:buNone/>
            </a:pPr>
            <a:r>
              <a:rPr lang="en-US" sz="850" b="1" dirty="0">
                <a:solidFill>
                  <a:srgbClr val="06B6D4"/>
                </a:solidFill>
              </a:rPr>
              <a:t>PAGE 6 OF 7</a:t>
            </a:r>
            <a:endParaRPr lang="en-US" sz="850" dirty="0"/>
          </a:p>
        </p:txBody>
      </p:sp>
      <p:sp>
        <p:nvSpPr>
          <p:cNvPr id="6" name="Text 4"/>
          <p:cNvSpPr/>
          <p:nvPr/>
        </p:nvSpPr>
        <p:spPr>
          <a:xfrm>
            <a:off x="502920" y="621792"/>
            <a:ext cx="8229600" cy="548640"/>
          </a:xfrm>
          <a:prstGeom prst="rect">
            <a:avLst/>
          </a:prstGeom>
          <a:noFill/>
          <a:ln/>
        </p:spPr>
        <p:txBody>
          <a:bodyPr wrap="square" lIns="0" tIns="0" rIns="0" bIns="0" rtlCol="0" anchor="ctr"/>
          <a:lstStyle/>
          <a:p>
            <a:pPr indent="0" marL="0">
              <a:buNone/>
            </a:pPr>
            <a:r>
              <a:rPr lang="en-US" sz="3600" b="1" dirty="0">
                <a:solidFill>
                  <a:srgbClr val="F8FAFC"/>
                </a:solidFill>
              </a:rPr>
              <a:t>Data Governance</a:t>
            </a:r>
            <a:endParaRPr lang="en-US" sz="3600" dirty="0"/>
          </a:p>
        </p:txBody>
      </p:sp>
      <p:sp>
        <p:nvSpPr>
          <p:cNvPr id="7" name="Text 5"/>
          <p:cNvSpPr/>
          <p:nvPr/>
        </p:nvSpPr>
        <p:spPr>
          <a:xfrm>
            <a:off x="502920" y="1207008"/>
            <a:ext cx="8229600" cy="329184"/>
          </a:xfrm>
          <a:prstGeom prst="rect">
            <a:avLst/>
          </a:prstGeom>
          <a:noFill/>
          <a:ln/>
        </p:spPr>
        <p:txBody>
          <a:bodyPr wrap="square" lIns="0" tIns="0" rIns="0" bIns="0" rtlCol="0" anchor="ctr"/>
          <a:lstStyle/>
          <a:p>
            <a:pPr indent="0" marL="0">
              <a:buNone/>
            </a:pPr>
            <a:r>
              <a:rPr lang="en-US" sz="1300" dirty="0">
                <a:solidFill>
                  <a:srgbClr val="94A3B8"/>
                </a:solidFill>
              </a:rPr>
              <a:t>Who is responsible for each file, when was it last checked, and is it meeting your standards?</a:t>
            </a:r>
            <a:endParaRPr lang="en-US" sz="1300" dirty="0"/>
          </a:p>
        </p:txBody>
      </p:sp>
      <p:sp>
        <p:nvSpPr>
          <p:cNvPr id="8" name="Shape 6"/>
          <p:cNvSpPr/>
          <p:nvPr/>
        </p:nvSpPr>
        <p:spPr>
          <a:xfrm>
            <a:off x="502920" y="1719072"/>
            <a:ext cx="2011680" cy="822960"/>
          </a:xfrm>
          <a:prstGeom prst="roundRect">
            <a:avLst>
              <a:gd name="adj" fmla="val 7778"/>
            </a:avLst>
          </a:prstGeom>
          <a:solidFill>
            <a:srgbClr val="161D2F"/>
          </a:solidFill>
          <a:ln w="12700">
            <a:solidFill>
              <a:srgbClr val="1E293B"/>
            </a:solidFill>
            <a:prstDash val="solid"/>
          </a:ln>
        </p:spPr>
      </p:sp>
      <p:sp>
        <p:nvSpPr>
          <p:cNvPr id="9" name="Text 7"/>
          <p:cNvSpPr/>
          <p:nvPr/>
        </p:nvSpPr>
        <p:spPr>
          <a:xfrm>
            <a:off x="502920" y="1801368"/>
            <a:ext cx="2011680" cy="438912"/>
          </a:xfrm>
          <a:prstGeom prst="rect">
            <a:avLst/>
          </a:prstGeom>
          <a:noFill/>
          <a:ln/>
        </p:spPr>
        <p:txBody>
          <a:bodyPr wrap="square" lIns="0" tIns="0" rIns="0" bIns="0" rtlCol="0" anchor="ctr"/>
          <a:lstStyle/>
          <a:p>
            <a:pPr algn="ctr" indent="0" marL="0">
              <a:buNone/>
            </a:pPr>
            <a:r>
              <a:rPr lang="en-US" sz="3000" b="1" dirty="0">
                <a:solidFill>
                  <a:srgbClr val="06B6D4"/>
                </a:solidFill>
              </a:rPr>
              <a:t>5</a:t>
            </a:r>
            <a:endParaRPr lang="en-US" sz="3000" dirty="0"/>
          </a:p>
        </p:txBody>
      </p:sp>
      <p:sp>
        <p:nvSpPr>
          <p:cNvPr id="10" name="Text 8"/>
          <p:cNvSpPr/>
          <p:nvPr/>
        </p:nvSpPr>
        <p:spPr>
          <a:xfrm>
            <a:off x="502920" y="2267712"/>
            <a:ext cx="2011680" cy="228600"/>
          </a:xfrm>
          <a:prstGeom prst="rect">
            <a:avLst/>
          </a:prstGeom>
          <a:noFill/>
          <a:ln/>
        </p:spPr>
        <p:txBody>
          <a:bodyPr wrap="square" lIns="0" tIns="0" rIns="0" bIns="0" rtlCol="0" anchor="ctr"/>
          <a:lstStyle/>
          <a:p>
            <a:pPr algn="ctr" indent="0" marL="0">
              <a:buNone/>
            </a:pPr>
            <a:r>
              <a:rPr lang="en-US" sz="950" dirty="0">
                <a:solidFill>
                  <a:srgbClr val="94A3B8"/>
                </a:solidFill>
              </a:rPr>
              <a:t>Files being tracked</a:t>
            </a:r>
            <a:endParaRPr lang="en-US" sz="950" dirty="0"/>
          </a:p>
        </p:txBody>
      </p:sp>
      <p:sp>
        <p:nvSpPr>
          <p:cNvPr id="11" name="Shape 9"/>
          <p:cNvSpPr/>
          <p:nvPr/>
        </p:nvSpPr>
        <p:spPr>
          <a:xfrm>
            <a:off x="2679192" y="1719072"/>
            <a:ext cx="2011680" cy="822960"/>
          </a:xfrm>
          <a:prstGeom prst="roundRect">
            <a:avLst>
              <a:gd name="adj" fmla="val 7778"/>
            </a:avLst>
          </a:prstGeom>
          <a:solidFill>
            <a:srgbClr val="161D2F"/>
          </a:solidFill>
          <a:ln w="12700">
            <a:solidFill>
              <a:srgbClr val="1E293B"/>
            </a:solidFill>
            <a:prstDash val="solid"/>
          </a:ln>
        </p:spPr>
      </p:sp>
      <p:sp>
        <p:nvSpPr>
          <p:cNvPr id="12" name="Text 10"/>
          <p:cNvSpPr/>
          <p:nvPr/>
        </p:nvSpPr>
        <p:spPr>
          <a:xfrm>
            <a:off x="2679192" y="1801368"/>
            <a:ext cx="2011680" cy="438912"/>
          </a:xfrm>
          <a:prstGeom prst="rect">
            <a:avLst/>
          </a:prstGeom>
          <a:noFill/>
          <a:ln/>
        </p:spPr>
        <p:txBody>
          <a:bodyPr wrap="square" lIns="0" tIns="0" rIns="0" bIns="0" rtlCol="0" anchor="ctr"/>
          <a:lstStyle/>
          <a:p>
            <a:pPr algn="ctr" indent="0" marL="0">
              <a:buNone/>
            </a:pPr>
            <a:r>
              <a:rPr lang="en-US" sz="3000" b="1" dirty="0">
                <a:solidFill>
                  <a:srgbClr val="10B981"/>
                </a:solidFill>
              </a:rPr>
              <a:t>72</a:t>
            </a:r>
            <a:endParaRPr lang="en-US" sz="3000" dirty="0"/>
          </a:p>
        </p:txBody>
      </p:sp>
      <p:sp>
        <p:nvSpPr>
          <p:cNvPr id="13" name="Text 11"/>
          <p:cNvSpPr/>
          <p:nvPr/>
        </p:nvSpPr>
        <p:spPr>
          <a:xfrm>
            <a:off x="2679192" y="2267712"/>
            <a:ext cx="2011680" cy="228600"/>
          </a:xfrm>
          <a:prstGeom prst="rect">
            <a:avLst/>
          </a:prstGeom>
          <a:noFill/>
          <a:ln/>
        </p:spPr>
        <p:txBody>
          <a:bodyPr wrap="square" lIns="0" tIns="0" rIns="0" bIns="0" rtlCol="0" anchor="ctr"/>
          <a:lstStyle/>
          <a:p>
            <a:pPr algn="ctr" indent="0" marL="0">
              <a:buNone/>
            </a:pPr>
            <a:r>
              <a:rPr lang="en-US" sz="950" dirty="0">
                <a:solidFill>
                  <a:srgbClr val="94A3B8"/>
                </a:solidFill>
              </a:rPr>
              <a:t>Average quality score</a:t>
            </a:r>
            <a:endParaRPr lang="en-US" sz="950" dirty="0"/>
          </a:p>
        </p:txBody>
      </p:sp>
      <p:sp>
        <p:nvSpPr>
          <p:cNvPr id="14" name="Shape 12"/>
          <p:cNvSpPr/>
          <p:nvPr/>
        </p:nvSpPr>
        <p:spPr>
          <a:xfrm>
            <a:off x="4855464" y="1719072"/>
            <a:ext cx="2011680" cy="822960"/>
          </a:xfrm>
          <a:prstGeom prst="roundRect">
            <a:avLst>
              <a:gd name="adj" fmla="val 7778"/>
            </a:avLst>
          </a:prstGeom>
          <a:solidFill>
            <a:srgbClr val="161D2F"/>
          </a:solidFill>
          <a:ln w="12700">
            <a:solidFill>
              <a:srgbClr val="1E293B"/>
            </a:solidFill>
            <a:prstDash val="solid"/>
          </a:ln>
        </p:spPr>
      </p:sp>
      <p:sp>
        <p:nvSpPr>
          <p:cNvPr id="15" name="Text 13"/>
          <p:cNvSpPr/>
          <p:nvPr/>
        </p:nvSpPr>
        <p:spPr>
          <a:xfrm>
            <a:off x="4855464" y="1801368"/>
            <a:ext cx="2011680" cy="438912"/>
          </a:xfrm>
          <a:prstGeom prst="rect">
            <a:avLst/>
          </a:prstGeom>
          <a:noFill/>
          <a:ln/>
        </p:spPr>
        <p:txBody>
          <a:bodyPr wrap="square" lIns="0" tIns="0" rIns="0" bIns="0" rtlCol="0" anchor="ctr"/>
          <a:lstStyle/>
          <a:p>
            <a:pPr algn="ctr" indent="0" marL="0">
              <a:buNone/>
            </a:pPr>
            <a:r>
              <a:rPr lang="en-US" sz="3000" b="1" dirty="0">
                <a:solidFill>
                  <a:srgbClr val="F59E0B"/>
                </a:solidFill>
              </a:rPr>
              <a:t>1</a:t>
            </a:r>
            <a:endParaRPr lang="en-US" sz="3000" dirty="0"/>
          </a:p>
        </p:txBody>
      </p:sp>
      <p:sp>
        <p:nvSpPr>
          <p:cNvPr id="16" name="Text 14"/>
          <p:cNvSpPr/>
          <p:nvPr/>
        </p:nvSpPr>
        <p:spPr>
          <a:xfrm>
            <a:off x="4855464" y="2267712"/>
            <a:ext cx="2011680" cy="228600"/>
          </a:xfrm>
          <a:prstGeom prst="rect">
            <a:avLst/>
          </a:prstGeom>
          <a:noFill/>
          <a:ln/>
        </p:spPr>
        <p:txBody>
          <a:bodyPr wrap="square" lIns="0" tIns="0" rIns="0" bIns="0" rtlCol="0" anchor="ctr"/>
          <a:lstStyle/>
          <a:p>
            <a:pPr algn="ctr" indent="0" marL="0">
              <a:buNone/>
            </a:pPr>
            <a:r>
              <a:rPr lang="en-US" sz="950" dirty="0">
                <a:solidFill>
                  <a:srgbClr val="94A3B8"/>
                </a:solidFill>
              </a:rPr>
              <a:t>Overdue for review</a:t>
            </a:r>
            <a:endParaRPr lang="en-US" sz="950" dirty="0"/>
          </a:p>
        </p:txBody>
      </p:sp>
      <p:sp>
        <p:nvSpPr>
          <p:cNvPr id="17" name="Shape 15"/>
          <p:cNvSpPr/>
          <p:nvPr/>
        </p:nvSpPr>
        <p:spPr>
          <a:xfrm>
            <a:off x="7031736" y="1719072"/>
            <a:ext cx="2011680" cy="822960"/>
          </a:xfrm>
          <a:prstGeom prst="roundRect">
            <a:avLst>
              <a:gd name="adj" fmla="val 7778"/>
            </a:avLst>
          </a:prstGeom>
          <a:solidFill>
            <a:srgbClr val="161D2F"/>
          </a:solidFill>
          <a:ln w="12700">
            <a:solidFill>
              <a:srgbClr val="1E293B"/>
            </a:solidFill>
            <a:prstDash val="solid"/>
          </a:ln>
        </p:spPr>
      </p:sp>
      <p:sp>
        <p:nvSpPr>
          <p:cNvPr id="18" name="Text 16"/>
          <p:cNvSpPr/>
          <p:nvPr/>
        </p:nvSpPr>
        <p:spPr>
          <a:xfrm>
            <a:off x="7031736" y="1801368"/>
            <a:ext cx="2011680" cy="438912"/>
          </a:xfrm>
          <a:prstGeom prst="rect">
            <a:avLst/>
          </a:prstGeom>
          <a:noFill/>
          <a:ln/>
        </p:spPr>
        <p:txBody>
          <a:bodyPr wrap="square" lIns="0" tIns="0" rIns="0" bIns="0" rtlCol="0" anchor="ctr"/>
          <a:lstStyle/>
          <a:p>
            <a:pPr algn="ctr" indent="0" marL="0">
              <a:buNone/>
            </a:pPr>
            <a:r>
              <a:rPr lang="en-US" sz="3000" b="1" dirty="0">
                <a:solidFill>
                  <a:srgbClr val="F43F5E"/>
                </a:solidFill>
              </a:rPr>
              <a:t>1</a:t>
            </a:r>
            <a:endParaRPr lang="en-US" sz="3000" dirty="0"/>
          </a:p>
        </p:txBody>
      </p:sp>
      <p:sp>
        <p:nvSpPr>
          <p:cNvPr id="19" name="Text 17"/>
          <p:cNvSpPr/>
          <p:nvPr/>
        </p:nvSpPr>
        <p:spPr>
          <a:xfrm>
            <a:off x="7031736" y="2267712"/>
            <a:ext cx="2011680" cy="228600"/>
          </a:xfrm>
          <a:prstGeom prst="rect">
            <a:avLst/>
          </a:prstGeom>
          <a:noFill/>
          <a:ln/>
        </p:spPr>
        <p:txBody>
          <a:bodyPr wrap="square" lIns="0" tIns="0" rIns="0" bIns="0" rtlCol="0" anchor="ctr"/>
          <a:lstStyle/>
          <a:p>
            <a:pPr algn="ctr" indent="0" marL="0">
              <a:buNone/>
            </a:pPr>
            <a:r>
              <a:rPr lang="en-US" sz="950" dirty="0">
                <a:solidFill>
                  <a:srgbClr val="94A3B8"/>
                </a:solidFill>
              </a:rPr>
              <a:t>Below quality standard</a:t>
            </a:r>
            <a:endParaRPr lang="en-US" sz="950" dirty="0"/>
          </a:p>
        </p:txBody>
      </p:sp>
      <p:sp>
        <p:nvSpPr>
          <p:cNvPr id="20" name="Shape 18"/>
          <p:cNvSpPr/>
          <p:nvPr/>
        </p:nvSpPr>
        <p:spPr>
          <a:xfrm>
            <a:off x="502920" y="2743200"/>
            <a:ext cx="8229600" cy="2103120"/>
          </a:xfrm>
          <a:prstGeom prst="roundRect">
            <a:avLst>
              <a:gd name="adj" fmla="val 3043"/>
            </a:avLst>
          </a:prstGeom>
          <a:solidFill>
            <a:srgbClr val="161D2F"/>
          </a:solidFill>
          <a:ln w="12700">
            <a:solidFill>
              <a:srgbClr val="1E293B"/>
            </a:solidFill>
            <a:prstDash val="solid"/>
          </a:ln>
        </p:spPr>
      </p:sp>
      <p:sp>
        <p:nvSpPr>
          <p:cNvPr id="21" name="Text 19"/>
          <p:cNvSpPr/>
          <p:nvPr/>
        </p:nvSpPr>
        <p:spPr>
          <a:xfrm>
            <a:off x="658368" y="2834640"/>
            <a:ext cx="2560320" cy="256032"/>
          </a:xfrm>
          <a:prstGeom prst="rect">
            <a:avLst/>
          </a:prstGeom>
          <a:noFill/>
          <a:ln/>
        </p:spPr>
        <p:txBody>
          <a:bodyPr wrap="square" lIns="0" tIns="0" rIns="0" bIns="0" rtlCol="0" anchor="ctr"/>
          <a:lstStyle/>
          <a:p>
            <a:pPr indent="0" marL="0">
              <a:buNone/>
            </a:pPr>
            <a:r>
              <a:rPr lang="en-US" sz="900" b="1" dirty="0">
                <a:solidFill>
                  <a:srgbClr val="94A3B8"/>
                </a:solidFill>
              </a:rPr>
              <a:t>File</a:t>
            </a:r>
            <a:endParaRPr lang="en-US" sz="900" dirty="0"/>
          </a:p>
        </p:txBody>
      </p:sp>
      <p:sp>
        <p:nvSpPr>
          <p:cNvPr id="22" name="Text 20"/>
          <p:cNvSpPr/>
          <p:nvPr/>
        </p:nvSpPr>
        <p:spPr>
          <a:xfrm>
            <a:off x="3337560" y="2834640"/>
            <a:ext cx="2011680" cy="256032"/>
          </a:xfrm>
          <a:prstGeom prst="rect">
            <a:avLst/>
          </a:prstGeom>
          <a:noFill/>
          <a:ln/>
        </p:spPr>
        <p:txBody>
          <a:bodyPr wrap="square" lIns="0" tIns="0" rIns="0" bIns="0" rtlCol="0" anchor="ctr"/>
          <a:lstStyle/>
          <a:p>
            <a:pPr indent="0" marL="0">
              <a:buNone/>
            </a:pPr>
            <a:r>
              <a:rPr lang="en-US" sz="900" b="1" dirty="0">
                <a:solidFill>
                  <a:srgbClr val="94A3B8"/>
                </a:solidFill>
              </a:rPr>
              <a:t>Owner</a:t>
            </a:r>
            <a:endParaRPr lang="en-US" sz="900" dirty="0"/>
          </a:p>
        </p:txBody>
      </p:sp>
      <p:sp>
        <p:nvSpPr>
          <p:cNvPr id="23" name="Text 21"/>
          <p:cNvSpPr/>
          <p:nvPr/>
        </p:nvSpPr>
        <p:spPr>
          <a:xfrm>
            <a:off x="5440680" y="2834640"/>
            <a:ext cx="1371600" cy="256032"/>
          </a:xfrm>
          <a:prstGeom prst="rect">
            <a:avLst/>
          </a:prstGeom>
          <a:noFill/>
          <a:ln/>
        </p:spPr>
        <p:txBody>
          <a:bodyPr wrap="square" lIns="0" tIns="0" rIns="0" bIns="0" rtlCol="0" anchor="ctr"/>
          <a:lstStyle/>
          <a:p>
            <a:pPr indent="0" marL="0">
              <a:buNone/>
            </a:pPr>
            <a:r>
              <a:rPr lang="en-US" sz="900" b="1" dirty="0">
                <a:solidFill>
                  <a:srgbClr val="94A3B8"/>
                </a:solidFill>
              </a:rPr>
              <a:t>Score</a:t>
            </a:r>
            <a:endParaRPr lang="en-US" sz="900" dirty="0"/>
          </a:p>
        </p:txBody>
      </p:sp>
      <p:sp>
        <p:nvSpPr>
          <p:cNvPr id="24" name="Text 22"/>
          <p:cNvSpPr/>
          <p:nvPr/>
        </p:nvSpPr>
        <p:spPr>
          <a:xfrm>
            <a:off x="6903720" y="2834640"/>
            <a:ext cx="1645920" cy="256032"/>
          </a:xfrm>
          <a:prstGeom prst="rect">
            <a:avLst/>
          </a:prstGeom>
          <a:noFill/>
          <a:ln/>
        </p:spPr>
        <p:txBody>
          <a:bodyPr wrap="square" lIns="0" tIns="0" rIns="0" bIns="0" rtlCol="0" anchor="ctr"/>
          <a:lstStyle/>
          <a:p>
            <a:pPr indent="0" marL="0">
              <a:buNone/>
            </a:pPr>
            <a:r>
              <a:rPr lang="en-US" sz="900" b="1" dirty="0">
                <a:solidFill>
                  <a:srgbClr val="94A3B8"/>
                </a:solidFill>
              </a:rPr>
              <a:t>Standard Met?</a:t>
            </a:r>
            <a:endParaRPr lang="en-US" sz="900" dirty="0"/>
          </a:p>
        </p:txBody>
      </p:sp>
      <p:sp>
        <p:nvSpPr>
          <p:cNvPr id="25" name="Text 23"/>
          <p:cNvSpPr/>
          <p:nvPr/>
        </p:nvSpPr>
        <p:spPr>
          <a:xfrm>
            <a:off x="658368" y="3200400"/>
            <a:ext cx="2560320" cy="365760"/>
          </a:xfrm>
          <a:prstGeom prst="rect">
            <a:avLst/>
          </a:prstGeom>
          <a:noFill/>
          <a:ln/>
        </p:spPr>
        <p:txBody>
          <a:bodyPr wrap="square" lIns="0" tIns="0" rIns="0" bIns="0" rtlCol="0" anchor="ctr"/>
          <a:lstStyle/>
          <a:p>
            <a:pPr indent="0" marL="0">
              <a:buNone/>
            </a:pPr>
            <a:r>
              <a:rPr lang="en-US" sz="1100" dirty="0">
                <a:solidFill>
                  <a:srgbClr val="06B6D4"/>
                </a:solidFill>
              </a:rPr>
              <a:t>customer_data_june.csv</a:t>
            </a:r>
            <a:endParaRPr lang="en-US" sz="1100" dirty="0"/>
          </a:p>
        </p:txBody>
      </p:sp>
      <p:sp>
        <p:nvSpPr>
          <p:cNvPr id="26" name="Text 24"/>
          <p:cNvSpPr/>
          <p:nvPr/>
        </p:nvSpPr>
        <p:spPr>
          <a:xfrm>
            <a:off x="3337560" y="3200400"/>
            <a:ext cx="2011680" cy="365760"/>
          </a:xfrm>
          <a:prstGeom prst="rect">
            <a:avLst/>
          </a:prstGeom>
          <a:noFill/>
          <a:ln/>
        </p:spPr>
        <p:txBody>
          <a:bodyPr wrap="square" lIns="0" tIns="0" rIns="0" bIns="0" rtlCol="0" anchor="ctr"/>
          <a:lstStyle/>
          <a:p>
            <a:pPr indent="0" marL="0">
              <a:buNone/>
            </a:pPr>
            <a:r>
              <a:rPr lang="en-US" sz="1100" dirty="0">
                <a:solidFill>
                  <a:srgbClr val="94A3B8"/>
                </a:solidFill>
              </a:rPr>
              <a:t>Kavya Kundeti</a:t>
            </a:r>
            <a:endParaRPr lang="en-US" sz="1100" dirty="0"/>
          </a:p>
        </p:txBody>
      </p:sp>
      <p:sp>
        <p:nvSpPr>
          <p:cNvPr id="27" name="Text 25"/>
          <p:cNvSpPr/>
          <p:nvPr/>
        </p:nvSpPr>
        <p:spPr>
          <a:xfrm>
            <a:off x="5440680" y="3200400"/>
            <a:ext cx="1371600" cy="365760"/>
          </a:xfrm>
          <a:prstGeom prst="rect">
            <a:avLst/>
          </a:prstGeom>
          <a:noFill/>
          <a:ln/>
        </p:spPr>
        <p:txBody>
          <a:bodyPr wrap="square" lIns="0" tIns="0" rIns="0" bIns="0" rtlCol="0" anchor="ctr"/>
          <a:lstStyle/>
          <a:p>
            <a:pPr indent="0" marL="0">
              <a:buNone/>
            </a:pPr>
            <a:r>
              <a:rPr lang="en-US" sz="1200" b="1" dirty="0">
                <a:solidFill>
                  <a:srgbClr val="10B981"/>
                </a:solidFill>
              </a:rPr>
              <a:t>92/100</a:t>
            </a:r>
            <a:endParaRPr lang="en-US" sz="1200" dirty="0"/>
          </a:p>
        </p:txBody>
      </p:sp>
      <p:sp>
        <p:nvSpPr>
          <p:cNvPr id="28" name="Shape 26"/>
          <p:cNvSpPr/>
          <p:nvPr/>
        </p:nvSpPr>
        <p:spPr>
          <a:xfrm>
            <a:off x="6903720" y="3264408"/>
            <a:ext cx="453542" cy="228600"/>
          </a:xfrm>
          <a:prstGeom prst="roundRect">
            <a:avLst>
              <a:gd name="adj" fmla="val 16000"/>
            </a:avLst>
          </a:prstGeom>
          <a:solidFill>
            <a:srgbClr val="161D2F"/>
          </a:solidFill>
          <a:ln w="12700">
            <a:solidFill>
              <a:srgbClr val="10B981"/>
            </a:solidFill>
            <a:prstDash val="solid"/>
          </a:ln>
        </p:spPr>
      </p:sp>
      <p:sp>
        <p:nvSpPr>
          <p:cNvPr id="29" name="Text 27"/>
          <p:cNvSpPr/>
          <p:nvPr/>
        </p:nvSpPr>
        <p:spPr>
          <a:xfrm>
            <a:off x="6903720" y="3273552"/>
            <a:ext cx="453542" cy="228600"/>
          </a:xfrm>
          <a:prstGeom prst="rect">
            <a:avLst/>
          </a:prstGeom>
          <a:noFill/>
          <a:ln/>
        </p:spPr>
        <p:txBody>
          <a:bodyPr wrap="square" lIns="0" tIns="0" rIns="0" bIns="0" rtlCol="0" anchor="ctr"/>
          <a:lstStyle/>
          <a:p>
            <a:pPr algn="ctr" indent="0" marL="0">
              <a:buNone/>
            </a:pPr>
            <a:r>
              <a:rPr lang="en-US" sz="850" b="1" dirty="0">
                <a:solidFill>
                  <a:srgbClr val="10B981"/>
                </a:solidFill>
              </a:rPr>
              <a:t>Met</a:t>
            </a:r>
            <a:endParaRPr lang="en-US" sz="850" dirty="0"/>
          </a:p>
        </p:txBody>
      </p:sp>
      <p:sp>
        <p:nvSpPr>
          <p:cNvPr id="30" name="Text 28"/>
          <p:cNvSpPr/>
          <p:nvPr/>
        </p:nvSpPr>
        <p:spPr>
          <a:xfrm>
            <a:off x="658368" y="3730752"/>
            <a:ext cx="2560320" cy="365760"/>
          </a:xfrm>
          <a:prstGeom prst="rect">
            <a:avLst/>
          </a:prstGeom>
          <a:noFill/>
          <a:ln/>
        </p:spPr>
        <p:txBody>
          <a:bodyPr wrap="square" lIns="0" tIns="0" rIns="0" bIns="0" rtlCol="0" anchor="ctr"/>
          <a:lstStyle/>
          <a:p>
            <a:pPr indent="0" marL="0">
              <a:buNone/>
            </a:pPr>
            <a:r>
              <a:rPr lang="en-US" sz="1100" dirty="0">
                <a:solidFill>
                  <a:srgbClr val="06B6D4"/>
                </a:solidFill>
              </a:rPr>
              <a:t>product_catalog.csv</a:t>
            </a:r>
            <a:endParaRPr lang="en-US" sz="1100" dirty="0"/>
          </a:p>
        </p:txBody>
      </p:sp>
      <p:sp>
        <p:nvSpPr>
          <p:cNvPr id="31" name="Text 29"/>
          <p:cNvSpPr/>
          <p:nvPr/>
        </p:nvSpPr>
        <p:spPr>
          <a:xfrm>
            <a:off x="3337560" y="3730752"/>
            <a:ext cx="2011680" cy="365760"/>
          </a:xfrm>
          <a:prstGeom prst="rect">
            <a:avLst/>
          </a:prstGeom>
          <a:noFill/>
          <a:ln/>
        </p:spPr>
        <p:txBody>
          <a:bodyPr wrap="square" lIns="0" tIns="0" rIns="0" bIns="0" rtlCol="0" anchor="ctr"/>
          <a:lstStyle/>
          <a:p>
            <a:pPr indent="0" marL="0">
              <a:buNone/>
            </a:pPr>
            <a:r>
              <a:rPr lang="en-US" sz="1100" dirty="0">
                <a:solidFill>
                  <a:srgbClr val="94A3B8"/>
                </a:solidFill>
              </a:rPr>
              <a:t>Aisha Jones</a:t>
            </a:r>
            <a:endParaRPr lang="en-US" sz="1100" dirty="0"/>
          </a:p>
        </p:txBody>
      </p:sp>
      <p:sp>
        <p:nvSpPr>
          <p:cNvPr id="32" name="Text 30"/>
          <p:cNvSpPr/>
          <p:nvPr/>
        </p:nvSpPr>
        <p:spPr>
          <a:xfrm>
            <a:off x="5440680" y="3730752"/>
            <a:ext cx="1371600" cy="365760"/>
          </a:xfrm>
          <a:prstGeom prst="rect">
            <a:avLst/>
          </a:prstGeom>
          <a:noFill/>
          <a:ln/>
        </p:spPr>
        <p:txBody>
          <a:bodyPr wrap="square" lIns="0" tIns="0" rIns="0" bIns="0" rtlCol="0" anchor="ctr"/>
          <a:lstStyle/>
          <a:p>
            <a:pPr indent="0" marL="0">
              <a:buNone/>
            </a:pPr>
            <a:r>
              <a:rPr lang="en-US" sz="1200" b="1" dirty="0">
                <a:solidFill>
                  <a:srgbClr val="F59E0B"/>
                </a:solidFill>
              </a:rPr>
              <a:t>61/100</a:t>
            </a:r>
            <a:endParaRPr lang="en-US" sz="1200" dirty="0"/>
          </a:p>
        </p:txBody>
      </p:sp>
      <p:sp>
        <p:nvSpPr>
          <p:cNvPr id="33" name="Shape 31"/>
          <p:cNvSpPr/>
          <p:nvPr/>
        </p:nvSpPr>
        <p:spPr>
          <a:xfrm>
            <a:off x="6903720" y="3794760"/>
            <a:ext cx="790042" cy="228600"/>
          </a:xfrm>
          <a:prstGeom prst="roundRect">
            <a:avLst>
              <a:gd name="adj" fmla="val 16000"/>
            </a:avLst>
          </a:prstGeom>
          <a:solidFill>
            <a:srgbClr val="161D2F"/>
          </a:solidFill>
          <a:ln w="12700">
            <a:solidFill>
              <a:srgbClr val="F59E0B"/>
            </a:solidFill>
            <a:prstDash val="solid"/>
          </a:ln>
        </p:spPr>
      </p:sp>
      <p:sp>
        <p:nvSpPr>
          <p:cNvPr id="34" name="Text 32"/>
          <p:cNvSpPr/>
          <p:nvPr/>
        </p:nvSpPr>
        <p:spPr>
          <a:xfrm>
            <a:off x="6903720" y="3803904"/>
            <a:ext cx="790042" cy="228600"/>
          </a:xfrm>
          <a:prstGeom prst="rect">
            <a:avLst/>
          </a:prstGeom>
          <a:noFill/>
          <a:ln/>
        </p:spPr>
        <p:txBody>
          <a:bodyPr wrap="square" lIns="0" tIns="0" rIns="0" bIns="0" rtlCol="0" anchor="ctr"/>
          <a:lstStyle/>
          <a:p>
            <a:pPr algn="ctr" indent="0" marL="0">
              <a:buNone/>
            </a:pPr>
            <a:r>
              <a:rPr lang="en-US" sz="850" b="1" dirty="0">
                <a:solidFill>
                  <a:srgbClr val="F59E0B"/>
                </a:solidFill>
              </a:rPr>
              <a:t>At Risk</a:t>
            </a:r>
            <a:endParaRPr lang="en-US" sz="850" dirty="0"/>
          </a:p>
        </p:txBody>
      </p:sp>
      <p:sp>
        <p:nvSpPr>
          <p:cNvPr id="35" name="Text 33"/>
          <p:cNvSpPr/>
          <p:nvPr/>
        </p:nvSpPr>
        <p:spPr>
          <a:xfrm>
            <a:off x="658368" y="4261104"/>
            <a:ext cx="2560320" cy="365760"/>
          </a:xfrm>
          <a:prstGeom prst="rect">
            <a:avLst/>
          </a:prstGeom>
          <a:noFill/>
          <a:ln/>
        </p:spPr>
        <p:txBody>
          <a:bodyPr wrap="square" lIns="0" tIns="0" rIns="0" bIns="0" rtlCol="0" anchor="ctr"/>
          <a:lstStyle/>
          <a:p>
            <a:pPr indent="0" marL="0">
              <a:buNone/>
            </a:pPr>
            <a:r>
              <a:rPr lang="en-US" sz="1100" dirty="0">
                <a:solidFill>
                  <a:srgbClr val="06B6D4"/>
                </a:solidFill>
              </a:rPr>
              <a:t>vendor_contacts.xlsx</a:t>
            </a:r>
            <a:endParaRPr lang="en-US" sz="1100" dirty="0"/>
          </a:p>
        </p:txBody>
      </p:sp>
      <p:sp>
        <p:nvSpPr>
          <p:cNvPr id="36" name="Text 34"/>
          <p:cNvSpPr/>
          <p:nvPr/>
        </p:nvSpPr>
        <p:spPr>
          <a:xfrm>
            <a:off x="3337560" y="4261104"/>
            <a:ext cx="2011680" cy="365760"/>
          </a:xfrm>
          <a:prstGeom prst="rect">
            <a:avLst/>
          </a:prstGeom>
          <a:noFill/>
          <a:ln/>
        </p:spPr>
        <p:txBody>
          <a:bodyPr wrap="square" lIns="0" tIns="0" rIns="0" bIns="0" rtlCol="0" anchor="ctr"/>
          <a:lstStyle/>
          <a:p>
            <a:pPr indent="0" marL="0">
              <a:buNone/>
            </a:pPr>
            <a:r>
              <a:rPr lang="en-US" sz="1100" dirty="0">
                <a:solidFill>
                  <a:srgbClr val="94A3B8"/>
                </a:solidFill>
              </a:rPr>
              <a:t>Ryan Chen</a:t>
            </a:r>
            <a:endParaRPr lang="en-US" sz="1100" dirty="0"/>
          </a:p>
        </p:txBody>
      </p:sp>
      <p:sp>
        <p:nvSpPr>
          <p:cNvPr id="37" name="Text 35"/>
          <p:cNvSpPr/>
          <p:nvPr/>
        </p:nvSpPr>
        <p:spPr>
          <a:xfrm>
            <a:off x="5440680" y="4261104"/>
            <a:ext cx="1371600" cy="365760"/>
          </a:xfrm>
          <a:prstGeom prst="rect">
            <a:avLst/>
          </a:prstGeom>
          <a:noFill/>
          <a:ln/>
        </p:spPr>
        <p:txBody>
          <a:bodyPr wrap="square" lIns="0" tIns="0" rIns="0" bIns="0" rtlCol="0" anchor="ctr"/>
          <a:lstStyle/>
          <a:p>
            <a:pPr indent="0" marL="0">
              <a:buNone/>
            </a:pPr>
            <a:r>
              <a:rPr lang="en-US" sz="1200" b="1" dirty="0">
                <a:solidFill>
                  <a:srgbClr val="F43F5E"/>
                </a:solidFill>
              </a:rPr>
              <a:t>44/100</a:t>
            </a:r>
            <a:endParaRPr lang="en-US" sz="1200" dirty="0"/>
          </a:p>
        </p:txBody>
      </p:sp>
      <p:sp>
        <p:nvSpPr>
          <p:cNvPr id="38" name="Shape 36"/>
          <p:cNvSpPr/>
          <p:nvPr/>
        </p:nvSpPr>
        <p:spPr>
          <a:xfrm>
            <a:off x="6903720" y="4325112"/>
            <a:ext cx="874166" cy="228600"/>
          </a:xfrm>
          <a:prstGeom prst="roundRect">
            <a:avLst>
              <a:gd name="adj" fmla="val 16000"/>
            </a:avLst>
          </a:prstGeom>
          <a:solidFill>
            <a:srgbClr val="161D2F"/>
          </a:solidFill>
          <a:ln w="12700">
            <a:solidFill>
              <a:srgbClr val="F43F5E"/>
            </a:solidFill>
            <a:prstDash val="solid"/>
          </a:ln>
        </p:spPr>
      </p:sp>
      <p:sp>
        <p:nvSpPr>
          <p:cNvPr id="39" name="Text 37"/>
          <p:cNvSpPr/>
          <p:nvPr/>
        </p:nvSpPr>
        <p:spPr>
          <a:xfrm>
            <a:off x="6903720" y="4334256"/>
            <a:ext cx="874166" cy="228600"/>
          </a:xfrm>
          <a:prstGeom prst="rect">
            <a:avLst/>
          </a:prstGeom>
          <a:noFill/>
          <a:ln/>
        </p:spPr>
        <p:txBody>
          <a:bodyPr wrap="square" lIns="0" tIns="0" rIns="0" bIns="0" rtlCol="0" anchor="ctr"/>
          <a:lstStyle/>
          <a:p>
            <a:pPr algn="ctr" indent="0" marL="0">
              <a:buNone/>
            </a:pPr>
            <a:r>
              <a:rPr lang="en-US" sz="850" b="1" dirty="0">
                <a:solidFill>
                  <a:srgbClr val="F43F5E"/>
                </a:solidFill>
              </a:rPr>
              <a:t>Breached</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F1E"/>
          </a:solidFill>
          <a:ln w="12700">
            <a:solidFill>
              <a:srgbClr val="0A0F1E"/>
            </a:solidFill>
            <a:prstDash val="solid"/>
          </a:ln>
        </p:spPr>
      </p:sp>
      <p:sp>
        <p:nvSpPr>
          <p:cNvPr id="3" name="Shape 1"/>
          <p:cNvSpPr/>
          <p:nvPr/>
        </p:nvSpPr>
        <p:spPr>
          <a:xfrm>
            <a:off x="0" y="0"/>
            <a:ext cx="45720" cy="5143500"/>
          </a:xfrm>
          <a:prstGeom prst="rect">
            <a:avLst/>
          </a:prstGeom>
          <a:solidFill>
            <a:srgbClr val="8B5CF6"/>
          </a:solidFill>
          <a:ln w="12700">
            <a:solidFill>
              <a:srgbClr val="8B5CF6"/>
            </a:solidFill>
            <a:prstDash val="solid"/>
          </a:ln>
        </p:spPr>
      </p:sp>
      <p:sp>
        <p:nvSpPr>
          <p:cNvPr id="4" name="Shape 2"/>
          <p:cNvSpPr/>
          <p:nvPr/>
        </p:nvSpPr>
        <p:spPr>
          <a:xfrm>
            <a:off x="502920" y="274320"/>
            <a:ext cx="1126541" cy="228600"/>
          </a:xfrm>
          <a:prstGeom prst="roundRect">
            <a:avLst>
              <a:gd name="adj" fmla="val 16000"/>
            </a:avLst>
          </a:prstGeom>
          <a:solidFill>
            <a:srgbClr val="161D2F"/>
          </a:solidFill>
          <a:ln w="12700">
            <a:solidFill>
              <a:srgbClr val="8B5CF6"/>
            </a:solidFill>
            <a:prstDash val="solid"/>
          </a:ln>
        </p:spPr>
      </p:sp>
      <p:sp>
        <p:nvSpPr>
          <p:cNvPr id="5" name="Text 3"/>
          <p:cNvSpPr/>
          <p:nvPr/>
        </p:nvSpPr>
        <p:spPr>
          <a:xfrm>
            <a:off x="502920" y="283464"/>
            <a:ext cx="1126541" cy="228600"/>
          </a:xfrm>
          <a:prstGeom prst="rect">
            <a:avLst/>
          </a:prstGeom>
          <a:noFill/>
          <a:ln/>
        </p:spPr>
        <p:txBody>
          <a:bodyPr wrap="square" lIns="0" tIns="0" rIns="0" bIns="0" rtlCol="0" anchor="ctr"/>
          <a:lstStyle/>
          <a:p>
            <a:pPr algn="ctr" indent="0" marL="0">
              <a:buNone/>
            </a:pPr>
            <a:r>
              <a:rPr lang="en-US" sz="850" b="1" dirty="0">
                <a:solidFill>
                  <a:srgbClr val="8B5CF6"/>
                </a:solidFill>
              </a:rPr>
              <a:t>PAGE 7 OF 7</a:t>
            </a:r>
            <a:endParaRPr lang="en-US" sz="850" dirty="0"/>
          </a:p>
        </p:txBody>
      </p:sp>
      <p:sp>
        <p:nvSpPr>
          <p:cNvPr id="6" name="Text 4"/>
          <p:cNvSpPr/>
          <p:nvPr/>
        </p:nvSpPr>
        <p:spPr>
          <a:xfrm>
            <a:off x="502920" y="621792"/>
            <a:ext cx="8229600" cy="548640"/>
          </a:xfrm>
          <a:prstGeom prst="rect">
            <a:avLst/>
          </a:prstGeom>
          <a:noFill/>
          <a:ln/>
        </p:spPr>
        <p:txBody>
          <a:bodyPr wrap="square" lIns="0" tIns="0" rIns="0" bIns="0" rtlCol="0" anchor="ctr"/>
          <a:lstStyle/>
          <a:p>
            <a:pPr indent="0" marL="0">
              <a:buNone/>
            </a:pPr>
            <a:r>
              <a:rPr lang="en-US" sz="3600" b="1" dirty="0">
                <a:solidFill>
                  <a:srgbClr val="F8FAFC"/>
                </a:solidFill>
              </a:rPr>
              <a:t>Settings</a:t>
            </a:r>
            <a:endParaRPr lang="en-US" sz="3600" dirty="0"/>
          </a:p>
        </p:txBody>
      </p:sp>
      <p:sp>
        <p:nvSpPr>
          <p:cNvPr id="7" name="Text 5"/>
          <p:cNvSpPr/>
          <p:nvPr/>
        </p:nvSpPr>
        <p:spPr>
          <a:xfrm>
            <a:off x="502920" y="1207008"/>
            <a:ext cx="8229600" cy="329184"/>
          </a:xfrm>
          <a:prstGeom prst="rect">
            <a:avLst/>
          </a:prstGeom>
          <a:noFill/>
          <a:ln/>
        </p:spPr>
        <p:txBody>
          <a:bodyPr wrap="square" lIns="0" tIns="0" rIns="0" bIns="0" rtlCol="0" anchor="ctr"/>
          <a:lstStyle/>
          <a:p>
            <a:pPr indent="0" marL="0">
              <a:buNone/>
            </a:pPr>
            <a:r>
              <a:rPr lang="en-US" sz="1300" dirty="0">
                <a:solidFill>
                  <a:srgbClr val="94A3B8"/>
                </a:solidFill>
              </a:rPr>
              <a:t>Customise the platform to fit exactly how your team works.</a:t>
            </a:r>
            <a:endParaRPr lang="en-US" sz="1300" dirty="0"/>
          </a:p>
        </p:txBody>
      </p:sp>
      <p:sp>
        <p:nvSpPr>
          <p:cNvPr id="8" name="Shape 6"/>
          <p:cNvSpPr/>
          <p:nvPr/>
        </p:nvSpPr>
        <p:spPr>
          <a:xfrm>
            <a:off x="502920" y="1719072"/>
            <a:ext cx="4069080" cy="1463040"/>
          </a:xfrm>
          <a:prstGeom prst="roundRect">
            <a:avLst>
              <a:gd name="adj" fmla="val 4375"/>
            </a:avLst>
          </a:prstGeom>
          <a:solidFill>
            <a:srgbClr val="161D2F"/>
          </a:solidFill>
          <a:ln w="12700">
            <a:solidFill>
              <a:srgbClr val="1E293B"/>
            </a:solidFill>
            <a:prstDash val="solid"/>
          </a:ln>
        </p:spPr>
      </p:sp>
      <p:sp>
        <p:nvSpPr>
          <p:cNvPr id="9" name="Shape 7"/>
          <p:cNvSpPr/>
          <p:nvPr/>
        </p:nvSpPr>
        <p:spPr>
          <a:xfrm>
            <a:off x="640080" y="1883664"/>
            <a:ext cx="475488" cy="475488"/>
          </a:xfrm>
          <a:prstGeom prst="ellipse">
            <a:avLst/>
          </a:prstGeom>
          <a:solidFill>
            <a:srgbClr val="334155"/>
          </a:solidFill>
          <a:ln w="25400">
            <a:solidFill>
              <a:srgbClr val="06B6D4"/>
            </a:solidFill>
            <a:prstDash val="solid"/>
          </a:ln>
        </p:spPr>
      </p:sp>
      <p:sp>
        <p:nvSpPr>
          <p:cNvPr id="10" name="Text 8"/>
          <p:cNvSpPr/>
          <p:nvPr/>
        </p:nvSpPr>
        <p:spPr>
          <a:xfrm>
            <a:off x="640080" y="1883664"/>
            <a:ext cx="475488" cy="47548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1" name="Text 9"/>
          <p:cNvSpPr/>
          <p:nvPr/>
        </p:nvSpPr>
        <p:spPr>
          <a:xfrm>
            <a:off x="1234440" y="1920240"/>
            <a:ext cx="3200400" cy="292608"/>
          </a:xfrm>
          <a:prstGeom prst="rect">
            <a:avLst/>
          </a:prstGeom>
          <a:noFill/>
          <a:ln/>
        </p:spPr>
        <p:txBody>
          <a:bodyPr wrap="square" lIns="0" tIns="0" rIns="0" bIns="0" rtlCol="0" anchor="ctr"/>
          <a:lstStyle/>
          <a:p>
            <a:pPr indent="0" marL="0">
              <a:buNone/>
            </a:pPr>
            <a:r>
              <a:rPr lang="en-US" sz="1500" b="1" dirty="0">
                <a:solidFill>
                  <a:srgbClr val="F8FAFC"/>
                </a:solidFill>
              </a:rPr>
              <a:t>Profile</a:t>
            </a:r>
            <a:endParaRPr lang="en-US" sz="1500" dirty="0"/>
          </a:p>
        </p:txBody>
      </p:sp>
      <p:sp>
        <p:nvSpPr>
          <p:cNvPr id="12" name="Text 10"/>
          <p:cNvSpPr/>
          <p:nvPr/>
        </p:nvSpPr>
        <p:spPr>
          <a:xfrm>
            <a:off x="640080" y="2377440"/>
            <a:ext cx="3794760" cy="694944"/>
          </a:xfrm>
          <a:prstGeom prst="rect">
            <a:avLst/>
          </a:prstGeom>
          <a:noFill/>
          <a:ln/>
        </p:spPr>
        <p:txBody>
          <a:bodyPr wrap="square" lIns="0" tIns="0" rIns="0" bIns="0" rtlCol="0" anchor="ctr"/>
          <a:lstStyle/>
          <a:p>
            <a:pPr indent="0" marL="0">
              <a:lnSpc>
                <a:spcPts val="1600"/>
              </a:lnSpc>
              <a:buNone/>
            </a:pPr>
            <a:r>
              <a:rPr lang="en-US" sz="1100" dirty="0">
                <a:solidFill>
                  <a:srgbClr val="94A3B8"/>
                </a:solidFill>
              </a:rPr>
              <a:t>Update your name, email, job role, department, and a short bio. Keeps your account personal and easy to identify.</a:t>
            </a:r>
            <a:endParaRPr lang="en-US" sz="1100" dirty="0"/>
          </a:p>
        </p:txBody>
      </p:sp>
      <p:sp>
        <p:nvSpPr>
          <p:cNvPr id="13" name="Shape 11"/>
          <p:cNvSpPr/>
          <p:nvPr/>
        </p:nvSpPr>
        <p:spPr>
          <a:xfrm>
            <a:off x="4846320" y="1719072"/>
            <a:ext cx="4069080" cy="1463040"/>
          </a:xfrm>
          <a:prstGeom prst="roundRect">
            <a:avLst>
              <a:gd name="adj" fmla="val 4375"/>
            </a:avLst>
          </a:prstGeom>
          <a:solidFill>
            <a:srgbClr val="161D2F"/>
          </a:solidFill>
          <a:ln w="12700">
            <a:solidFill>
              <a:srgbClr val="1E293B"/>
            </a:solidFill>
            <a:prstDash val="solid"/>
          </a:ln>
        </p:spPr>
      </p:sp>
      <p:sp>
        <p:nvSpPr>
          <p:cNvPr id="14" name="Shape 12"/>
          <p:cNvSpPr/>
          <p:nvPr/>
        </p:nvSpPr>
        <p:spPr>
          <a:xfrm>
            <a:off x="4983480" y="1883664"/>
            <a:ext cx="475488" cy="475488"/>
          </a:xfrm>
          <a:prstGeom prst="ellipse">
            <a:avLst/>
          </a:prstGeom>
          <a:solidFill>
            <a:srgbClr val="334155"/>
          </a:solidFill>
          <a:ln w="25400">
            <a:solidFill>
              <a:srgbClr val="F43F5E"/>
            </a:solidFill>
            <a:prstDash val="solid"/>
          </a:ln>
        </p:spPr>
      </p:sp>
      <p:sp>
        <p:nvSpPr>
          <p:cNvPr id="15" name="Text 13"/>
          <p:cNvSpPr/>
          <p:nvPr/>
        </p:nvSpPr>
        <p:spPr>
          <a:xfrm>
            <a:off x="4983480" y="1883664"/>
            <a:ext cx="475488" cy="47548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5577840" y="1920240"/>
            <a:ext cx="3200400" cy="292608"/>
          </a:xfrm>
          <a:prstGeom prst="rect">
            <a:avLst/>
          </a:prstGeom>
          <a:noFill/>
          <a:ln/>
        </p:spPr>
        <p:txBody>
          <a:bodyPr wrap="square" lIns="0" tIns="0" rIns="0" bIns="0" rtlCol="0" anchor="ctr"/>
          <a:lstStyle/>
          <a:p>
            <a:pPr indent="0" marL="0">
              <a:buNone/>
            </a:pPr>
            <a:r>
              <a:rPr lang="en-US" sz="1500" b="1" dirty="0">
                <a:solidFill>
                  <a:srgbClr val="F8FAFC"/>
                </a:solidFill>
              </a:rPr>
              <a:t>Security</a:t>
            </a:r>
            <a:endParaRPr lang="en-US" sz="1500" dirty="0"/>
          </a:p>
        </p:txBody>
      </p:sp>
      <p:sp>
        <p:nvSpPr>
          <p:cNvPr id="17" name="Text 15"/>
          <p:cNvSpPr/>
          <p:nvPr/>
        </p:nvSpPr>
        <p:spPr>
          <a:xfrm>
            <a:off x="4983480" y="2377440"/>
            <a:ext cx="3794760" cy="694944"/>
          </a:xfrm>
          <a:prstGeom prst="rect">
            <a:avLst/>
          </a:prstGeom>
          <a:noFill/>
          <a:ln/>
        </p:spPr>
        <p:txBody>
          <a:bodyPr wrap="square" lIns="0" tIns="0" rIns="0" bIns="0" rtlCol="0" anchor="ctr"/>
          <a:lstStyle/>
          <a:p>
            <a:pPr indent="0" marL="0">
              <a:lnSpc>
                <a:spcPts val="1600"/>
              </a:lnSpc>
              <a:buNone/>
            </a:pPr>
            <a:r>
              <a:rPr lang="en-US" sz="1100" dirty="0">
                <a:solidFill>
                  <a:srgbClr val="94A3B8"/>
                </a:solidFill>
              </a:rPr>
              <a:t>Change your password and see which devices are currently signed in to your account.</a:t>
            </a:r>
            <a:endParaRPr lang="en-US" sz="1100" dirty="0"/>
          </a:p>
        </p:txBody>
      </p:sp>
      <p:sp>
        <p:nvSpPr>
          <p:cNvPr id="18" name="Shape 16"/>
          <p:cNvSpPr/>
          <p:nvPr/>
        </p:nvSpPr>
        <p:spPr>
          <a:xfrm>
            <a:off x="502920" y="3319272"/>
            <a:ext cx="4069080" cy="1463040"/>
          </a:xfrm>
          <a:prstGeom prst="roundRect">
            <a:avLst>
              <a:gd name="adj" fmla="val 4375"/>
            </a:avLst>
          </a:prstGeom>
          <a:solidFill>
            <a:srgbClr val="161D2F"/>
          </a:solidFill>
          <a:ln w="12700">
            <a:solidFill>
              <a:srgbClr val="1E293B"/>
            </a:solidFill>
            <a:prstDash val="solid"/>
          </a:ln>
        </p:spPr>
      </p:sp>
      <p:sp>
        <p:nvSpPr>
          <p:cNvPr id="19" name="Shape 17"/>
          <p:cNvSpPr/>
          <p:nvPr/>
        </p:nvSpPr>
        <p:spPr>
          <a:xfrm>
            <a:off x="640080" y="3483864"/>
            <a:ext cx="475488" cy="475488"/>
          </a:xfrm>
          <a:prstGeom prst="ellipse">
            <a:avLst/>
          </a:prstGeom>
          <a:solidFill>
            <a:srgbClr val="334155"/>
          </a:solidFill>
          <a:ln w="25400">
            <a:solidFill>
              <a:srgbClr val="F59E0B"/>
            </a:solidFill>
            <a:prstDash val="solid"/>
          </a:ln>
        </p:spPr>
      </p:sp>
      <p:sp>
        <p:nvSpPr>
          <p:cNvPr id="20" name="Text 18"/>
          <p:cNvSpPr/>
          <p:nvPr/>
        </p:nvSpPr>
        <p:spPr>
          <a:xfrm>
            <a:off x="640080" y="3483864"/>
            <a:ext cx="475488" cy="47548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1" name="Text 19"/>
          <p:cNvSpPr/>
          <p:nvPr/>
        </p:nvSpPr>
        <p:spPr>
          <a:xfrm>
            <a:off x="1234440" y="3520440"/>
            <a:ext cx="3200400" cy="292608"/>
          </a:xfrm>
          <a:prstGeom prst="rect">
            <a:avLst/>
          </a:prstGeom>
          <a:noFill/>
          <a:ln/>
        </p:spPr>
        <p:txBody>
          <a:bodyPr wrap="square" lIns="0" tIns="0" rIns="0" bIns="0" rtlCol="0" anchor="ctr"/>
          <a:lstStyle/>
          <a:p>
            <a:pPr indent="0" marL="0">
              <a:buNone/>
            </a:pPr>
            <a:r>
              <a:rPr lang="en-US" sz="1500" b="1" dirty="0">
                <a:solidFill>
                  <a:srgbClr val="F8FAFC"/>
                </a:solidFill>
              </a:rPr>
              <a:t>Alerts</a:t>
            </a:r>
            <a:endParaRPr lang="en-US" sz="1500" dirty="0"/>
          </a:p>
        </p:txBody>
      </p:sp>
      <p:sp>
        <p:nvSpPr>
          <p:cNvPr id="22" name="Text 20"/>
          <p:cNvSpPr/>
          <p:nvPr/>
        </p:nvSpPr>
        <p:spPr>
          <a:xfrm>
            <a:off x="640080" y="3977640"/>
            <a:ext cx="3794760" cy="694944"/>
          </a:xfrm>
          <a:prstGeom prst="rect">
            <a:avLst/>
          </a:prstGeom>
          <a:noFill/>
          <a:ln/>
        </p:spPr>
        <p:txBody>
          <a:bodyPr wrap="square" lIns="0" tIns="0" rIns="0" bIns="0" rtlCol="0" anchor="ctr"/>
          <a:lstStyle/>
          <a:p>
            <a:pPr indent="0" marL="0">
              <a:lnSpc>
                <a:spcPts val="1600"/>
              </a:lnSpc>
              <a:buNone/>
            </a:pPr>
            <a:r>
              <a:rPr lang="en-US" sz="1100" dirty="0">
                <a:solidFill>
                  <a:srgbClr val="94A3B8"/>
                </a:solidFill>
              </a:rPr>
              <a:t>Choose how you want to be notified — email, Slack, or a weekly summary. Set the score level that triggers an alert.</a:t>
            </a:r>
            <a:endParaRPr lang="en-US" sz="1100" dirty="0"/>
          </a:p>
        </p:txBody>
      </p:sp>
      <p:sp>
        <p:nvSpPr>
          <p:cNvPr id="23" name="Shape 21"/>
          <p:cNvSpPr/>
          <p:nvPr/>
        </p:nvSpPr>
        <p:spPr>
          <a:xfrm>
            <a:off x="4846320" y="3319272"/>
            <a:ext cx="4069080" cy="1463040"/>
          </a:xfrm>
          <a:prstGeom prst="roundRect">
            <a:avLst>
              <a:gd name="adj" fmla="val 4375"/>
            </a:avLst>
          </a:prstGeom>
          <a:solidFill>
            <a:srgbClr val="161D2F"/>
          </a:solidFill>
          <a:ln w="12700">
            <a:solidFill>
              <a:srgbClr val="1E293B"/>
            </a:solidFill>
            <a:prstDash val="solid"/>
          </a:ln>
        </p:spPr>
      </p:sp>
      <p:sp>
        <p:nvSpPr>
          <p:cNvPr id="24" name="Shape 22"/>
          <p:cNvSpPr/>
          <p:nvPr/>
        </p:nvSpPr>
        <p:spPr>
          <a:xfrm>
            <a:off x="4983480" y="3483864"/>
            <a:ext cx="475488" cy="475488"/>
          </a:xfrm>
          <a:prstGeom prst="ellipse">
            <a:avLst/>
          </a:prstGeom>
          <a:solidFill>
            <a:srgbClr val="334155"/>
          </a:solidFill>
          <a:ln w="25400">
            <a:solidFill>
              <a:srgbClr val="10B981"/>
            </a:solidFill>
            <a:prstDash val="solid"/>
          </a:ln>
        </p:spPr>
      </p:sp>
      <p:sp>
        <p:nvSpPr>
          <p:cNvPr id="25" name="Text 23"/>
          <p:cNvSpPr/>
          <p:nvPr/>
        </p:nvSpPr>
        <p:spPr>
          <a:xfrm>
            <a:off x="4983480" y="3483864"/>
            <a:ext cx="475488" cy="475488"/>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6" name="Text 24"/>
          <p:cNvSpPr/>
          <p:nvPr/>
        </p:nvSpPr>
        <p:spPr>
          <a:xfrm>
            <a:off x="5577840" y="3520440"/>
            <a:ext cx="3200400" cy="292608"/>
          </a:xfrm>
          <a:prstGeom prst="rect">
            <a:avLst/>
          </a:prstGeom>
          <a:noFill/>
          <a:ln/>
        </p:spPr>
        <p:txBody>
          <a:bodyPr wrap="square" lIns="0" tIns="0" rIns="0" bIns="0" rtlCol="0" anchor="ctr"/>
          <a:lstStyle/>
          <a:p>
            <a:pPr indent="0" marL="0">
              <a:buNone/>
            </a:pPr>
            <a:r>
              <a:rPr lang="en-US" sz="1500" b="1" dirty="0">
                <a:solidFill>
                  <a:srgbClr val="F8FAFC"/>
                </a:solidFill>
              </a:rPr>
              <a:t>Integrations</a:t>
            </a:r>
            <a:endParaRPr lang="en-US" sz="1500" dirty="0"/>
          </a:p>
        </p:txBody>
      </p:sp>
      <p:sp>
        <p:nvSpPr>
          <p:cNvPr id="27" name="Text 25"/>
          <p:cNvSpPr/>
          <p:nvPr/>
        </p:nvSpPr>
        <p:spPr>
          <a:xfrm>
            <a:off x="4983480" y="3977640"/>
            <a:ext cx="3794760" cy="694944"/>
          </a:xfrm>
          <a:prstGeom prst="rect">
            <a:avLst/>
          </a:prstGeom>
          <a:noFill/>
          <a:ln/>
        </p:spPr>
        <p:txBody>
          <a:bodyPr wrap="square" lIns="0" tIns="0" rIns="0" bIns="0" rtlCol="0" anchor="ctr"/>
          <a:lstStyle/>
          <a:p>
            <a:pPr indent="0" marL="0">
              <a:lnSpc>
                <a:spcPts val="1600"/>
              </a:lnSpc>
              <a:buNone/>
            </a:pPr>
            <a:r>
              <a:rPr lang="en-US" sz="1100" dirty="0">
                <a:solidFill>
                  <a:srgbClr val="94A3B8"/>
                </a:solidFill>
              </a:rPr>
              <a:t>Connect Power BI, Google Sheets, Slack, and Jira so quality alerts flow into the tools your team already uses daily.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F1E"/>
          </a:solidFill>
          <a:ln w="12700">
            <a:solidFill>
              <a:srgbClr val="0A0F1E"/>
            </a:solidFill>
            <a:prstDash val="solid"/>
          </a:ln>
        </p:spPr>
      </p:sp>
      <p:sp>
        <p:nvSpPr>
          <p:cNvPr id="3" name="Shape 1"/>
          <p:cNvSpPr/>
          <p:nvPr/>
        </p:nvSpPr>
        <p:spPr>
          <a:xfrm>
            <a:off x="2286000" y="0"/>
            <a:ext cx="4572000" cy="4572000"/>
          </a:xfrm>
          <a:prstGeom prst="ellipse">
            <a:avLst/>
          </a:prstGeom>
          <a:solidFill>
            <a:srgbClr val="4F46E5">
              <a:alpha val="8000"/>
            </a:srgbClr>
          </a:solidFill>
          <a:ln w="12700">
            <a:solidFill>
              <a:srgbClr val="4F46E5">
                <a:alpha val="8000"/>
              </a:srgbClr>
            </a:solidFill>
            <a:prstDash val="solid"/>
          </a:ln>
        </p:spPr>
      </p:sp>
      <p:sp>
        <p:nvSpPr>
          <p:cNvPr id="4" name="Text 2"/>
          <p:cNvSpPr/>
          <p:nvPr/>
        </p:nvSpPr>
        <p:spPr>
          <a:xfrm>
            <a:off x="502920" y="256032"/>
            <a:ext cx="8229600" cy="411480"/>
          </a:xfrm>
          <a:prstGeom prst="rect">
            <a:avLst/>
          </a:prstGeom>
          <a:noFill/>
          <a:ln/>
        </p:spPr>
        <p:txBody>
          <a:bodyPr wrap="square" lIns="0" tIns="0" rIns="0" bIns="0" rtlCol="0" anchor="ctr"/>
          <a:lstStyle/>
          <a:p>
            <a:pPr algn="ctr" indent="0" marL="0">
              <a:buNone/>
            </a:pPr>
            <a:r>
              <a:rPr lang="en-US" sz="1100" b="1" spc="200" kern="0" dirty="0">
                <a:solidFill>
                  <a:srgbClr val="94A3B8"/>
                </a:solidFill>
              </a:rPr>
              <a:t>The Complete Picture</a:t>
            </a:r>
            <a:endParaRPr lang="en-US" sz="1100" dirty="0"/>
          </a:p>
        </p:txBody>
      </p:sp>
      <p:sp>
        <p:nvSpPr>
          <p:cNvPr id="5" name="Text 3"/>
          <p:cNvSpPr/>
          <p:nvPr/>
        </p:nvSpPr>
        <p:spPr>
          <a:xfrm>
            <a:off x="502920" y="685800"/>
            <a:ext cx="8229600" cy="530352"/>
          </a:xfrm>
          <a:prstGeom prst="rect">
            <a:avLst/>
          </a:prstGeom>
          <a:noFill/>
          <a:ln/>
        </p:spPr>
        <p:txBody>
          <a:bodyPr wrap="square" lIns="0" tIns="0" rIns="0" bIns="0" rtlCol="0" anchor="ctr"/>
          <a:lstStyle/>
          <a:p>
            <a:pPr algn="ctr" indent="0" marL="0">
              <a:buNone/>
            </a:pPr>
            <a:r>
              <a:rPr lang="en-US" sz="3200" b="1" dirty="0">
                <a:solidFill>
                  <a:srgbClr val="F8FAFC"/>
                </a:solidFill>
              </a:rPr>
              <a:t>From broken data to trusted data</a:t>
            </a:r>
            <a:endParaRPr lang="en-US" sz="3200" dirty="0"/>
          </a:p>
        </p:txBody>
      </p:sp>
      <p:sp>
        <p:nvSpPr>
          <p:cNvPr id="6" name="Shape 4"/>
          <p:cNvSpPr/>
          <p:nvPr/>
        </p:nvSpPr>
        <p:spPr>
          <a:xfrm>
            <a:off x="457200" y="1417320"/>
            <a:ext cx="1508760" cy="2148840"/>
          </a:xfrm>
          <a:prstGeom prst="roundRect">
            <a:avLst>
              <a:gd name="adj" fmla="val 4242"/>
            </a:avLst>
          </a:prstGeom>
          <a:solidFill>
            <a:srgbClr val="161D2F"/>
          </a:solidFill>
          <a:ln w="12700">
            <a:solidFill>
              <a:srgbClr val="1E293B"/>
            </a:solidFill>
            <a:prstDash val="solid"/>
          </a:ln>
        </p:spPr>
      </p:sp>
      <p:sp>
        <p:nvSpPr>
          <p:cNvPr id="7" name="Shape 5"/>
          <p:cNvSpPr/>
          <p:nvPr/>
        </p:nvSpPr>
        <p:spPr>
          <a:xfrm>
            <a:off x="978408" y="1554480"/>
            <a:ext cx="475488" cy="475488"/>
          </a:xfrm>
          <a:prstGeom prst="ellipse">
            <a:avLst/>
          </a:prstGeom>
          <a:solidFill>
            <a:srgbClr val="334155"/>
          </a:solidFill>
          <a:ln w="25400">
            <a:solidFill>
              <a:srgbClr val="4F46E5"/>
            </a:solidFill>
            <a:prstDash val="solid"/>
          </a:ln>
        </p:spPr>
      </p:sp>
      <p:sp>
        <p:nvSpPr>
          <p:cNvPr id="8" name="Text 6"/>
          <p:cNvSpPr/>
          <p:nvPr/>
        </p:nvSpPr>
        <p:spPr>
          <a:xfrm>
            <a:off x="978408" y="1554480"/>
            <a:ext cx="475488" cy="47548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9" name="Text 7"/>
          <p:cNvSpPr/>
          <p:nvPr/>
        </p:nvSpPr>
        <p:spPr>
          <a:xfrm>
            <a:off x="502920" y="2103120"/>
            <a:ext cx="1417320" cy="292608"/>
          </a:xfrm>
          <a:prstGeom prst="rect">
            <a:avLst/>
          </a:prstGeom>
          <a:noFill/>
          <a:ln/>
        </p:spPr>
        <p:txBody>
          <a:bodyPr wrap="square" lIns="0" tIns="0" rIns="0" bIns="0" rtlCol="0" anchor="ctr"/>
          <a:lstStyle/>
          <a:p>
            <a:pPr algn="ctr" indent="0" marL="0">
              <a:buNone/>
            </a:pPr>
            <a:r>
              <a:rPr lang="en-US" sz="1300" b="1" dirty="0">
                <a:solidFill>
                  <a:srgbClr val="F8FAFC"/>
                </a:solidFill>
              </a:rPr>
              <a:t>Upload</a:t>
            </a:r>
            <a:endParaRPr lang="en-US" sz="1300" dirty="0"/>
          </a:p>
        </p:txBody>
      </p:sp>
      <p:sp>
        <p:nvSpPr>
          <p:cNvPr id="10" name="Text 8"/>
          <p:cNvSpPr/>
          <p:nvPr/>
        </p:nvSpPr>
        <p:spPr>
          <a:xfrm>
            <a:off x="502920" y="2423160"/>
            <a:ext cx="1417320" cy="384048"/>
          </a:xfrm>
          <a:prstGeom prst="rect">
            <a:avLst/>
          </a:prstGeom>
          <a:noFill/>
          <a:ln/>
        </p:spPr>
        <p:txBody>
          <a:bodyPr wrap="square" lIns="0" tIns="0" rIns="0" bIns="0" rtlCol="0" anchor="ctr"/>
          <a:lstStyle/>
          <a:p>
            <a:pPr algn="ctr" indent="0" marL="0">
              <a:buNone/>
            </a:pPr>
            <a:r>
              <a:rPr lang="en-US" sz="1000" dirty="0">
                <a:solidFill>
                  <a:srgbClr val="94A3B8"/>
                </a:solidFill>
              </a:rPr>
              <a:t>Drop any file</a:t>
            </a:r>
            <a:endParaRPr lang="en-US" sz="1000" dirty="0"/>
          </a:p>
        </p:txBody>
      </p:sp>
      <p:sp>
        <p:nvSpPr>
          <p:cNvPr id="11" name="Text 9"/>
          <p:cNvSpPr/>
          <p:nvPr/>
        </p:nvSpPr>
        <p:spPr>
          <a:xfrm>
            <a:off x="1965960" y="2240280"/>
            <a:ext cx="155448" cy="292608"/>
          </a:xfrm>
          <a:prstGeom prst="rect">
            <a:avLst/>
          </a:prstGeom>
          <a:noFill/>
          <a:ln/>
        </p:spPr>
        <p:txBody>
          <a:bodyPr wrap="square" lIns="0" tIns="0" rIns="0" bIns="0" rtlCol="0" anchor="ctr"/>
          <a:lstStyle/>
          <a:p>
            <a:pPr algn="ctr" indent="0" marL="0">
              <a:buNone/>
            </a:pPr>
            <a:r>
              <a:rPr lang="en-US" sz="1600" dirty="0">
                <a:solidFill>
                  <a:srgbClr val="334155"/>
                </a:solidFill>
              </a:rPr>
              <a:t>→</a:t>
            </a:r>
            <a:endParaRPr lang="en-US" sz="1600" dirty="0"/>
          </a:p>
        </p:txBody>
      </p:sp>
      <p:sp>
        <p:nvSpPr>
          <p:cNvPr id="12" name="Shape 10"/>
          <p:cNvSpPr/>
          <p:nvPr/>
        </p:nvSpPr>
        <p:spPr>
          <a:xfrm>
            <a:off x="2121408" y="1417320"/>
            <a:ext cx="1508760" cy="2148840"/>
          </a:xfrm>
          <a:prstGeom prst="roundRect">
            <a:avLst>
              <a:gd name="adj" fmla="val 4242"/>
            </a:avLst>
          </a:prstGeom>
          <a:solidFill>
            <a:srgbClr val="161D2F"/>
          </a:solidFill>
          <a:ln w="12700">
            <a:solidFill>
              <a:srgbClr val="1E293B"/>
            </a:solidFill>
            <a:prstDash val="solid"/>
          </a:ln>
        </p:spPr>
      </p:sp>
      <p:sp>
        <p:nvSpPr>
          <p:cNvPr id="13" name="Shape 11"/>
          <p:cNvSpPr/>
          <p:nvPr/>
        </p:nvSpPr>
        <p:spPr>
          <a:xfrm>
            <a:off x="2642616" y="1554480"/>
            <a:ext cx="475488" cy="475488"/>
          </a:xfrm>
          <a:prstGeom prst="ellipse">
            <a:avLst/>
          </a:prstGeom>
          <a:solidFill>
            <a:srgbClr val="334155"/>
          </a:solidFill>
          <a:ln w="25400">
            <a:solidFill>
              <a:srgbClr val="06B6D4"/>
            </a:solidFill>
            <a:prstDash val="solid"/>
          </a:ln>
        </p:spPr>
      </p:sp>
      <p:sp>
        <p:nvSpPr>
          <p:cNvPr id="14" name="Text 12"/>
          <p:cNvSpPr/>
          <p:nvPr/>
        </p:nvSpPr>
        <p:spPr>
          <a:xfrm>
            <a:off x="2642616" y="1554480"/>
            <a:ext cx="475488" cy="47548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5" name="Text 13"/>
          <p:cNvSpPr/>
          <p:nvPr/>
        </p:nvSpPr>
        <p:spPr>
          <a:xfrm>
            <a:off x="2167128" y="2103120"/>
            <a:ext cx="1417320" cy="292608"/>
          </a:xfrm>
          <a:prstGeom prst="rect">
            <a:avLst/>
          </a:prstGeom>
          <a:noFill/>
          <a:ln/>
        </p:spPr>
        <p:txBody>
          <a:bodyPr wrap="square" lIns="0" tIns="0" rIns="0" bIns="0" rtlCol="0" anchor="ctr"/>
          <a:lstStyle/>
          <a:p>
            <a:pPr algn="ctr" indent="0" marL="0">
              <a:buNone/>
            </a:pPr>
            <a:r>
              <a:rPr lang="en-US" sz="1300" b="1" dirty="0">
                <a:solidFill>
                  <a:srgbClr val="F8FAFC"/>
                </a:solidFill>
              </a:rPr>
              <a:t>Scan</a:t>
            </a:r>
            <a:endParaRPr lang="en-US" sz="1300" dirty="0"/>
          </a:p>
        </p:txBody>
      </p:sp>
      <p:sp>
        <p:nvSpPr>
          <p:cNvPr id="16" name="Text 14"/>
          <p:cNvSpPr/>
          <p:nvPr/>
        </p:nvSpPr>
        <p:spPr>
          <a:xfrm>
            <a:off x="2167128" y="2423160"/>
            <a:ext cx="1417320" cy="384048"/>
          </a:xfrm>
          <a:prstGeom prst="rect">
            <a:avLst/>
          </a:prstGeom>
          <a:noFill/>
          <a:ln/>
        </p:spPr>
        <p:txBody>
          <a:bodyPr wrap="square" lIns="0" tIns="0" rIns="0" bIns="0" rtlCol="0" anchor="ctr"/>
          <a:lstStyle/>
          <a:p>
            <a:pPr algn="ctr" indent="0" marL="0">
              <a:buNone/>
            </a:pPr>
            <a:r>
              <a:rPr lang="en-US" sz="1000" dirty="0">
                <a:solidFill>
                  <a:srgbClr val="94A3B8"/>
                </a:solidFill>
              </a:rPr>
              <a:t>Auto analysis</a:t>
            </a:r>
            <a:endParaRPr lang="en-US" sz="1000" dirty="0"/>
          </a:p>
        </p:txBody>
      </p:sp>
      <p:sp>
        <p:nvSpPr>
          <p:cNvPr id="17" name="Text 15"/>
          <p:cNvSpPr/>
          <p:nvPr/>
        </p:nvSpPr>
        <p:spPr>
          <a:xfrm>
            <a:off x="3630168" y="2240280"/>
            <a:ext cx="155448" cy="292608"/>
          </a:xfrm>
          <a:prstGeom prst="rect">
            <a:avLst/>
          </a:prstGeom>
          <a:noFill/>
          <a:ln/>
        </p:spPr>
        <p:txBody>
          <a:bodyPr wrap="square" lIns="0" tIns="0" rIns="0" bIns="0" rtlCol="0" anchor="ctr"/>
          <a:lstStyle/>
          <a:p>
            <a:pPr algn="ctr" indent="0" marL="0">
              <a:buNone/>
            </a:pPr>
            <a:r>
              <a:rPr lang="en-US" sz="1600" dirty="0">
                <a:solidFill>
                  <a:srgbClr val="334155"/>
                </a:solidFill>
              </a:rPr>
              <a:t>→</a:t>
            </a:r>
            <a:endParaRPr lang="en-US" sz="1600" dirty="0"/>
          </a:p>
        </p:txBody>
      </p:sp>
      <p:sp>
        <p:nvSpPr>
          <p:cNvPr id="18" name="Shape 16"/>
          <p:cNvSpPr/>
          <p:nvPr/>
        </p:nvSpPr>
        <p:spPr>
          <a:xfrm>
            <a:off x="3785616" y="1417320"/>
            <a:ext cx="1508760" cy="2148840"/>
          </a:xfrm>
          <a:prstGeom prst="roundRect">
            <a:avLst>
              <a:gd name="adj" fmla="val 4242"/>
            </a:avLst>
          </a:prstGeom>
          <a:solidFill>
            <a:srgbClr val="161D2F"/>
          </a:solidFill>
          <a:ln w="12700">
            <a:solidFill>
              <a:srgbClr val="1E293B"/>
            </a:solidFill>
            <a:prstDash val="solid"/>
          </a:ln>
        </p:spPr>
      </p:sp>
      <p:sp>
        <p:nvSpPr>
          <p:cNvPr id="19" name="Shape 17"/>
          <p:cNvSpPr/>
          <p:nvPr/>
        </p:nvSpPr>
        <p:spPr>
          <a:xfrm>
            <a:off x="4306824" y="1554480"/>
            <a:ext cx="475488" cy="475488"/>
          </a:xfrm>
          <a:prstGeom prst="ellipse">
            <a:avLst/>
          </a:prstGeom>
          <a:solidFill>
            <a:srgbClr val="334155"/>
          </a:solidFill>
          <a:ln w="25400">
            <a:solidFill>
              <a:srgbClr val="8B5CF6"/>
            </a:solidFill>
            <a:prstDash val="solid"/>
          </a:ln>
        </p:spPr>
      </p:sp>
      <p:sp>
        <p:nvSpPr>
          <p:cNvPr id="20" name="Text 18"/>
          <p:cNvSpPr/>
          <p:nvPr/>
        </p:nvSpPr>
        <p:spPr>
          <a:xfrm>
            <a:off x="4306824" y="1554480"/>
            <a:ext cx="475488" cy="47548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1" name="Text 19"/>
          <p:cNvSpPr/>
          <p:nvPr/>
        </p:nvSpPr>
        <p:spPr>
          <a:xfrm>
            <a:off x="3831336" y="2103120"/>
            <a:ext cx="1417320" cy="292608"/>
          </a:xfrm>
          <a:prstGeom prst="rect">
            <a:avLst/>
          </a:prstGeom>
          <a:noFill/>
          <a:ln/>
        </p:spPr>
        <p:txBody>
          <a:bodyPr wrap="square" lIns="0" tIns="0" rIns="0" bIns="0" rtlCol="0" anchor="ctr"/>
          <a:lstStyle/>
          <a:p>
            <a:pPr algn="ctr" indent="0" marL="0">
              <a:buNone/>
            </a:pPr>
            <a:r>
              <a:rPr lang="en-US" sz="1300" b="1" dirty="0">
                <a:solidFill>
                  <a:srgbClr val="F8FAFC"/>
                </a:solidFill>
              </a:rPr>
              <a:t>Review</a:t>
            </a:r>
            <a:endParaRPr lang="en-US" sz="1300" dirty="0"/>
          </a:p>
        </p:txBody>
      </p:sp>
      <p:sp>
        <p:nvSpPr>
          <p:cNvPr id="22" name="Text 20"/>
          <p:cNvSpPr/>
          <p:nvPr/>
        </p:nvSpPr>
        <p:spPr>
          <a:xfrm>
            <a:off x="3831336" y="2423160"/>
            <a:ext cx="1417320" cy="384048"/>
          </a:xfrm>
          <a:prstGeom prst="rect">
            <a:avLst/>
          </a:prstGeom>
          <a:noFill/>
          <a:ln/>
        </p:spPr>
        <p:txBody>
          <a:bodyPr wrap="square" lIns="0" tIns="0" rIns="0" bIns="0" rtlCol="0" anchor="ctr"/>
          <a:lstStyle/>
          <a:p>
            <a:pPr algn="ctr" indent="0" marL="0">
              <a:buNone/>
            </a:pPr>
            <a:r>
              <a:rPr lang="en-US" sz="1000" dirty="0">
                <a:solidFill>
                  <a:srgbClr val="94A3B8"/>
                </a:solidFill>
              </a:rPr>
              <a:t>See what is wrong</a:t>
            </a:r>
            <a:endParaRPr lang="en-US" sz="1000" dirty="0"/>
          </a:p>
        </p:txBody>
      </p:sp>
      <p:sp>
        <p:nvSpPr>
          <p:cNvPr id="23" name="Text 21"/>
          <p:cNvSpPr/>
          <p:nvPr/>
        </p:nvSpPr>
        <p:spPr>
          <a:xfrm>
            <a:off x="5294376" y="2240280"/>
            <a:ext cx="155448" cy="292608"/>
          </a:xfrm>
          <a:prstGeom prst="rect">
            <a:avLst/>
          </a:prstGeom>
          <a:noFill/>
          <a:ln/>
        </p:spPr>
        <p:txBody>
          <a:bodyPr wrap="square" lIns="0" tIns="0" rIns="0" bIns="0" rtlCol="0" anchor="ctr"/>
          <a:lstStyle/>
          <a:p>
            <a:pPr algn="ctr" indent="0" marL="0">
              <a:buNone/>
            </a:pPr>
            <a:r>
              <a:rPr lang="en-US" sz="1600" dirty="0">
                <a:solidFill>
                  <a:srgbClr val="334155"/>
                </a:solidFill>
              </a:rPr>
              <a:t>→</a:t>
            </a:r>
            <a:endParaRPr lang="en-US" sz="1600" dirty="0"/>
          </a:p>
        </p:txBody>
      </p:sp>
      <p:sp>
        <p:nvSpPr>
          <p:cNvPr id="24" name="Shape 22"/>
          <p:cNvSpPr/>
          <p:nvPr/>
        </p:nvSpPr>
        <p:spPr>
          <a:xfrm>
            <a:off x="5449824" y="1417320"/>
            <a:ext cx="1508760" cy="2148840"/>
          </a:xfrm>
          <a:prstGeom prst="roundRect">
            <a:avLst>
              <a:gd name="adj" fmla="val 4242"/>
            </a:avLst>
          </a:prstGeom>
          <a:solidFill>
            <a:srgbClr val="161D2F"/>
          </a:solidFill>
          <a:ln w="12700">
            <a:solidFill>
              <a:srgbClr val="1E293B"/>
            </a:solidFill>
            <a:prstDash val="solid"/>
          </a:ln>
        </p:spPr>
      </p:sp>
      <p:sp>
        <p:nvSpPr>
          <p:cNvPr id="25" name="Shape 23"/>
          <p:cNvSpPr/>
          <p:nvPr/>
        </p:nvSpPr>
        <p:spPr>
          <a:xfrm>
            <a:off x="5971032" y="1554480"/>
            <a:ext cx="475488" cy="475488"/>
          </a:xfrm>
          <a:prstGeom prst="ellipse">
            <a:avLst/>
          </a:prstGeom>
          <a:solidFill>
            <a:srgbClr val="334155"/>
          </a:solidFill>
          <a:ln w="25400">
            <a:solidFill>
              <a:srgbClr val="F59E0B"/>
            </a:solidFill>
            <a:prstDash val="solid"/>
          </a:ln>
        </p:spPr>
      </p:sp>
      <p:sp>
        <p:nvSpPr>
          <p:cNvPr id="26" name="Text 24"/>
          <p:cNvSpPr/>
          <p:nvPr/>
        </p:nvSpPr>
        <p:spPr>
          <a:xfrm>
            <a:off x="5971032" y="1554480"/>
            <a:ext cx="475488" cy="47548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7" name="Text 25"/>
          <p:cNvSpPr/>
          <p:nvPr/>
        </p:nvSpPr>
        <p:spPr>
          <a:xfrm>
            <a:off x="5495544" y="2103120"/>
            <a:ext cx="1417320" cy="292608"/>
          </a:xfrm>
          <a:prstGeom prst="rect">
            <a:avLst/>
          </a:prstGeom>
          <a:noFill/>
          <a:ln/>
        </p:spPr>
        <p:txBody>
          <a:bodyPr wrap="square" lIns="0" tIns="0" rIns="0" bIns="0" rtlCol="0" anchor="ctr"/>
          <a:lstStyle/>
          <a:p>
            <a:pPr algn="ctr" indent="0" marL="0">
              <a:buNone/>
            </a:pPr>
            <a:r>
              <a:rPr lang="en-US" sz="1300" b="1" dirty="0">
                <a:solidFill>
                  <a:srgbClr val="F8FAFC"/>
                </a:solidFill>
              </a:rPr>
              <a:t>AI Fix</a:t>
            </a:r>
            <a:endParaRPr lang="en-US" sz="1300" dirty="0"/>
          </a:p>
        </p:txBody>
      </p:sp>
      <p:sp>
        <p:nvSpPr>
          <p:cNvPr id="28" name="Text 26"/>
          <p:cNvSpPr/>
          <p:nvPr/>
        </p:nvSpPr>
        <p:spPr>
          <a:xfrm>
            <a:off x="5495544" y="2423160"/>
            <a:ext cx="1417320" cy="384048"/>
          </a:xfrm>
          <a:prstGeom prst="rect">
            <a:avLst/>
          </a:prstGeom>
          <a:noFill/>
          <a:ln/>
        </p:spPr>
        <p:txBody>
          <a:bodyPr wrap="square" lIns="0" tIns="0" rIns="0" bIns="0" rtlCol="0" anchor="ctr"/>
          <a:lstStyle/>
          <a:p>
            <a:pPr algn="ctr" indent="0" marL="0">
              <a:buNone/>
            </a:pPr>
            <a:r>
              <a:rPr lang="en-US" sz="1000" dirty="0">
                <a:solidFill>
                  <a:srgbClr val="94A3B8"/>
                </a:solidFill>
              </a:rPr>
              <a:t>Plain advice</a:t>
            </a:r>
            <a:endParaRPr lang="en-US" sz="1000" dirty="0"/>
          </a:p>
        </p:txBody>
      </p:sp>
      <p:sp>
        <p:nvSpPr>
          <p:cNvPr id="29" name="Text 27"/>
          <p:cNvSpPr/>
          <p:nvPr/>
        </p:nvSpPr>
        <p:spPr>
          <a:xfrm>
            <a:off x="6958584" y="2240280"/>
            <a:ext cx="155448" cy="292608"/>
          </a:xfrm>
          <a:prstGeom prst="rect">
            <a:avLst/>
          </a:prstGeom>
          <a:noFill/>
          <a:ln/>
        </p:spPr>
        <p:txBody>
          <a:bodyPr wrap="square" lIns="0" tIns="0" rIns="0" bIns="0" rtlCol="0" anchor="ctr"/>
          <a:lstStyle/>
          <a:p>
            <a:pPr algn="ctr" indent="0" marL="0">
              <a:buNone/>
            </a:pPr>
            <a:r>
              <a:rPr lang="en-US" sz="1600" dirty="0">
                <a:solidFill>
                  <a:srgbClr val="334155"/>
                </a:solidFill>
              </a:rPr>
              <a:t>→</a:t>
            </a:r>
            <a:endParaRPr lang="en-US" sz="1600" dirty="0"/>
          </a:p>
        </p:txBody>
      </p:sp>
      <p:sp>
        <p:nvSpPr>
          <p:cNvPr id="30" name="Shape 28"/>
          <p:cNvSpPr/>
          <p:nvPr/>
        </p:nvSpPr>
        <p:spPr>
          <a:xfrm>
            <a:off x="7114032" y="1417320"/>
            <a:ext cx="1508760" cy="2148840"/>
          </a:xfrm>
          <a:prstGeom prst="roundRect">
            <a:avLst>
              <a:gd name="adj" fmla="val 4242"/>
            </a:avLst>
          </a:prstGeom>
          <a:solidFill>
            <a:srgbClr val="161D2F"/>
          </a:solidFill>
          <a:ln w="12700">
            <a:solidFill>
              <a:srgbClr val="1E293B"/>
            </a:solidFill>
            <a:prstDash val="solid"/>
          </a:ln>
        </p:spPr>
      </p:sp>
      <p:sp>
        <p:nvSpPr>
          <p:cNvPr id="31" name="Shape 29"/>
          <p:cNvSpPr/>
          <p:nvPr/>
        </p:nvSpPr>
        <p:spPr>
          <a:xfrm>
            <a:off x="7635240" y="1554480"/>
            <a:ext cx="475488" cy="475488"/>
          </a:xfrm>
          <a:prstGeom prst="ellipse">
            <a:avLst/>
          </a:prstGeom>
          <a:solidFill>
            <a:srgbClr val="334155"/>
          </a:solidFill>
          <a:ln w="25400">
            <a:solidFill>
              <a:srgbClr val="10B981"/>
            </a:solidFill>
            <a:prstDash val="solid"/>
          </a:ln>
        </p:spPr>
      </p:sp>
      <p:sp>
        <p:nvSpPr>
          <p:cNvPr id="32" name="Text 30"/>
          <p:cNvSpPr/>
          <p:nvPr/>
        </p:nvSpPr>
        <p:spPr>
          <a:xfrm>
            <a:off x="7635240" y="1554480"/>
            <a:ext cx="475488" cy="47548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3" name="Text 31"/>
          <p:cNvSpPr/>
          <p:nvPr/>
        </p:nvSpPr>
        <p:spPr>
          <a:xfrm>
            <a:off x="7159752" y="2103120"/>
            <a:ext cx="1417320" cy="292608"/>
          </a:xfrm>
          <a:prstGeom prst="rect">
            <a:avLst/>
          </a:prstGeom>
          <a:noFill/>
          <a:ln/>
        </p:spPr>
        <p:txBody>
          <a:bodyPr wrap="square" lIns="0" tIns="0" rIns="0" bIns="0" rtlCol="0" anchor="ctr"/>
          <a:lstStyle/>
          <a:p>
            <a:pPr algn="ctr" indent="0" marL="0">
              <a:buNone/>
            </a:pPr>
            <a:r>
              <a:rPr lang="en-US" sz="1300" b="1" dirty="0">
                <a:solidFill>
                  <a:srgbClr val="F8FAFC"/>
                </a:solidFill>
              </a:rPr>
              <a:t>Apply</a:t>
            </a:r>
            <a:endParaRPr lang="en-US" sz="1300" dirty="0"/>
          </a:p>
        </p:txBody>
      </p:sp>
      <p:sp>
        <p:nvSpPr>
          <p:cNvPr id="34" name="Text 32"/>
          <p:cNvSpPr/>
          <p:nvPr/>
        </p:nvSpPr>
        <p:spPr>
          <a:xfrm>
            <a:off x="7159752" y="2423160"/>
            <a:ext cx="1417320" cy="384048"/>
          </a:xfrm>
          <a:prstGeom prst="rect">
            <a:avLst/>
          </a:prstGeom>
          <a:noFill/>
          <a:ln/>
        </p:spPr>
        <p:txBody>
          <a:bodyPr wrap="square" lIns="0" tIns="0" rIns="0" bIns="0" rtlCol="0" anchor="ctr"/>
          <a:lstStyle/>
          <a:p>
            <a:pPr algn="ctr" indent="0" marL="0">
              <a:buNone/>
            </a:pPr>
            <a:r>
              <a:rPr lang="en-US" sz="1000" dirty="0">
                <a:solidFill>
                  <a:srgbClr val="94A3B8"/>
                </a:solidFill>
              </a:rPr>
              <a:t>One click</a:t>
            </a:r>
            <a:endParaRPr lang="en-US" sz="1000" dirty="0"/>
          </a:p>
        </p:txBody>
      </p:sp>
      <p:sp>
        <p:nvSpPr>
          <p:cNvPr id="35" name="Shape 33"/>
          <p:cNvSpPr/>
          <p:nvPr/>
        </p:nvSpPr>
        <p:spPr>
          <a:xfrm>
            <a:off x="1005840" y="3730752"/>
            <a:ext cx="2423160" cy="1097280"/>
          </a:xfrm>
          <a:prstGeom prst="roundRect">
            <a:avLst>
              <a:gd name="adj" fmla="val 5833"/>
            </a:avLst>
          </a:prstGeom>
          <a:solidFill>
            <a:srgbClr val="161D2F"/>
          </a:solidFill>
          <a:ln w="12700">
            <a:solidFill>
              <a:srgbClr val="1E293B"/>
            </a:solidFill>
            <a:prstDash val="solid"/>
          </a:ln>
        </p:spPr>
      </p:sp>
      <p:sp>
        <p:nvSpPr>
          <p:cNvPr id="36" name="Text 34"/>
          <p:cNvSpPr/>
          <p:nvPr/>
        </p:nvSpPr>
        <p:spPr>
          <a:xfrm>
            <a:off x="1005840" y="3822192"/>
            <a:ext cx="2423160" cy="384048"/>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7" name="Text 35"/>
          <p:cNvSpPr/>
          <p:nvPr/>
        </p:nvSpPr>
        <p:spPr>
          <a:xfrm>
            <a:off x="1005840" y="4224528"/>
            <a:ext cx="2423160" cy="256032"/>
          </a:xfrm>
          <a:prstGeom prst="rect">
            <a:avLst/>
          </a:prstGeom>
          <a:noFill/>
          <a:ln/>
        </p:spPr>
        <p:txBody>
          <a:bodyPr wrap="square" lIns="0" tIns="0" rIns="0" bIns="0" rtlCol="0" anchor="ctr"/>
          <a:lstStyle/>
          <a:p>
            <a:pPr algn="ctr" indent="0" marL="0">
              <a:buNone/>
            </a:pPr>
            <a:r>
              <a:rPr lang="en-US" sz="1300" b="1" dirty="0">
                <a:solidFill>
                  <a:srgbClr val="F8FAFC"/>
                </a:solidFill>
              </a:rPr>
              <a:t>Governance</a:t>
            </a:r>
            <a:endParaRPr lang="en-US" sz="1300" dirty="0"/>
          </a:p>
        </p:txBody>
      </p:sp>
      <p:sp>
        <p:nvSpPr>
          <p:cNvPr id="38" name="Text 36"/>
          <p:cNvSpPr/>
          <p:nvPr/>
        </p:nvSpPr>
        <p:spPr>
          <a:xfrm>
            <a:off x="1097280" y="4507992"/>
            <a:ext cx="2240280" cy="292608"/>
          </a:xfrm>
          <a:prstGeom prst="rect">
            <a:avLst/>
          </a:prstGeom>
          <a:noFill/>
          <a:ln/>
        </p:spPr>
        <p:txBody>
          <a:bodyPr wrap="square" lIns="0" tIns="0" rIns="0" bIns="0" rtlCol="0" anchor="ctr"/>
          <a:lstStyle/>
          <a:p>
            <a:pPr algn="ctr" indent="0" marL="0">
              <a:buNone/>
            </a:pPr>
            <a:r>
              <a:rPr lang="en-US" sz="950" dirty="0">
                <a:solidFill>
                  <a:srgbClr val="94A3B8"/>
                </a:solidFill>
              </a:rPr>
              <a:t>Know who owns each file and whether it meets your standards</a:t>
            </a:r>
            <a:endParaRPr lang="en-US" sz="950" dirty="0"/>
          </a:p>
        </p:txBody>
      </p:sp>
      <p:sp>
        <p:nvSpPr>
          <p:cNvPr id="39" name="Shape 37"/>
          <p:cNvSpPr/>
          <p:nvPr/>
        </p:nvSpPr>
        <p:spPr>
          <a:xfrm>
            <a:off x="3611880" y="3730752"/>
            <a:ext cx="2423160" cy="1097280"/>
          </a:xfrm>
          <a:prstGeom prst="roundRect">
            <a:avLst>
              <a:gd name="adj" fmla="val 5833"/>
            </a:avLst>
          </a:prstGeom>
          <a:solidFill>
            <a:srgbClr val="161D2F"/>
          </a:solidFill>
          <a:ln w="12700">
            <a:solidFill>
              <a:srgbClr val="1E293B"/>
            </a:solidFill>
            <a:prstDash val="solid"/>
          </a:ln>
        </p:spPr>
      </p:sp>
      <p:sp>
        <p:nvSpPr>
          <p:cNvPr id="40" name="Text 38"/>
          <p:cNvSpPr/>
          <p:nvPr/>
        </p:nvSpPr>
        <p:spPr>
          <a:xfrm>
            <a:off x="3611880" y="3822192"/>
            <a:ext cx="2423160" cy="384048"/>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1" name="Text 39"/>
          <p:cNvSpPr/>
          <p:nvPr/>
        </p:nvSpPr>
        <p:spPr>
          <a:xfrm>
            <a:off x="3611880" y="4224528"/>
            <a:ext cx="2423160" cy="256032"/>
          </a:xfrm>
          <a:prstGeom prst="rect">
            <a:avLst/>
          </a:prstGeom>
          <a:noFill/>
          <a:ln/>
        </p:spPr>
        <p:txBody>
          <a:bodyPr wrap="square" lIns="0" tIns="0" rIns="0" bIns="0" rtlCol="0" anchor="ctr"/>
          <a:lstStyle/>
          <a:p>
            <a:pPr algn="ctr" indent="0" marL="0">
              <a:buNone/>
            </a:pPr>
            <a:r>
              <a:rPr lang="en-US" sz="1300" b="1" dirty="0">
                <a:solidFill>
                  <a:srgbClr val="F8FAFC"/>
                </a:solidFill>
              </a:rPr>
              <a:t>History</a:t>
            </a:r>
            <a:endParaRPr lang="en-US" sz="1300" dirty="0"/>
          </a:p>
        </p:txBody>
      </p:sp>
      <p:sp>
        <p:nvSpPr>
          <p:cNvPr id="42" name="Text 40"/>
          <p:cNvSpPr/>
          <p:nvPr/>
        </p:nvSpPr>
        <p:spPr>
          <a:xfrm>
            <a:off x="3703320" y="4507992"/>
            <a:ext cx="2240280" cy="292608"/>
          </a:xfrm>
          <a:prstGeom prst="rect">
            <a:avLst/>
          </a:prstGeom>
          <a:noFill/>
          <a:ln/>
        </p:spPr>
        <p:txBody>
          <a:bodyPr wrap="square" lIns="0" tIns="0" rIns="0" bIns="0" rtlCol="0" anchor="ctr"/>
          <a:lstStyle/>
          <a:p>
            <a:pPr algn="ctr" indent="0" marL="0">
              <a:buNone/>
            </a:pPr>
            <a:r>
              <a:rPr lang="en-US" sz="950" dirty="0">
                <a:solidFill>
                  <a:srgbClr val="94A3B8"/>
                </a:solidFill>
              </a:rPr>
              <a:t>Track your improvement and show proof over time</a:t>
            </a:r>
            <a:endParaRPr lang="en-US" sz="950" dirty="0"/>
          </a:p>
        </p:txBody>
      </p:sp>
      <p:sp>
        <p:nvSpPr>
          <p:cNvPr id="43" name="Shape 41"/>
          <p:cNvSpPr/>
          <p:nvPr/>
        </p:nvSpPr>
        <p:spPr>
          <a:xfrm>
            <a:off x="6217920" y="3730752"/>
            <a:ext cx="2423160" cy="1097280"/>
          </a:xfrm>
          <a:prstGeom prst="roundRect">
            <a:avLst>
              <a:gd name="adj" fmla="val 5833"/>
            </a:avLst>
          </a:prstGeom>
          <a:solidFill>
            <a:srgbClr val="161D2F"/>
          </a:solidFill>
          <a:ln w="12700">
            <a:solidFill>
              <a:srgbClr val="1E293B"/>
            </a:solidFill>
            <a:prstDash val="solid"/>
          </a:ln>
        </p:spPr>
      </p:sp>
      <p:sp>
        <p:nvSpPr>
          <p:cNvPr id="44" name="Text 42"/>
          <p:cNvSpPr/>
          <p:nvPr/>
        </p:nvSpPr>
        <p:spPr>
          <a:xfrm>
            <a:off x="6217920" y="3822192"/>
            <a:ext cx="2423160" cy="384048"/>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5" name="Text 43"/>
          <p:cNvSpPr/>
          <p:nvPr/>
        </p:nvSpPr>
        <p:spPr>
          <a:xfrm>
            <a:off x="6217920" y="4224528"/>
            <a:ext cx="2423160" cy="256032"/>
          </a:xfrm>
          <a:prstGeom prst="rect">
            <a:avLst/>
          </a:prstGeom>
          <a:noFill/>
          <a:ln/>
        </p:spPr>
        <p:txBody>
          <a:bodyPr wrap="square" lIns="0" tIns="0" rIns="0" bIns="0" rtlCol="0" anchor="ctr"/>
          <a:lstStyle/>
          <a:p>
            <a:pPr algn="ctr" indent="0" marL="0">
              <a:buNone/>
            </a:pPr>
            <a:r>
              <a:rPr lang="en-US" sz="1300" b="1" dirty="0">
                <a:solidFill>
                  <a:srgbClr val="F8FAFC"/>
                </a:solidFill>
              </a:rPr>
              <a:t>Settings</a:t>
            </a:r>
            <a:endParaRPr lang="en-US" sz="1300" dirty="0"/>
          </a:p>
        </p:txBody>
      </p:sp>
      <p:sp>
        <p:nvSpPr>
          <p:cNvPr id="46" name="Text 44"/>
          <p:cNvSpPr/>
          <p:nvPr/>
        </p:nvSpPr>
        <p:spPr>
          <a:xfrm>
            <a:off x="6309360" y="4507992"/>
            <a:ext cx="2240280" cy="292608"/>
          </a:xfrm>
          <a:prstGeom prst="rect">
            <a:avLst/>
          </a:prstGeom>
          <a:noFill/>
          <a:ln/>
        </p:spPr>
        <p:txBody>
          <a:bodyPr wrap="square" lIns="0" tIns="0" rIns="0" bIns="0" rtlCol="0" anchor="ctr"/>
          <a:lstStyle/>
          <a:p>
            <a:pPr algn="ctr" indent="0" marL="0">
              <a:buNone/>
            </a:pPr>
            <a:r>
              <a:rPr lang="en-US" sz="950" dirty="0">
                <a:solidFill>
                  <a:srgbClr val="94A3B8"/>
                </a:solidFill>
              </a:rPr>
              <a:t>Connect your existing tools and set your alert preferences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F1E"/>
          </a:solidFill>
          <a:ln w="12700">
            <a:solidFill>
              <a:srgbClr val="0A0F1E"/>
            </a:solidFill>
            <a:prstDash val="solid"/>
          </a:ln>
        </p:spPr>
      </p:sp>
      <p:sp>
        <p:nvSpPr>
          <p:cNvPr id="3" name="Shape 1"/>
          <p:cNvSpPr/>
          <p:nvPr/>
        </p:nvSpPr>
        <p:spPr>
          <a:xfrm>
            <a:off x="-1828800" y="-914400"/>
            <a:ext cx="6400800" cy="6400800"/>
          </a:xfrm>
          <a:prstGeom prst="ellipse">
            <a:avLst/>
          </a:prstGeom>
          <a:solidFill>
            <a:srgbClr val="4F46E5">
              <a:alpha val="12000"/>
            </a:srgbClr>
          </a:solidFill>
          <a:ln w="12700">
            <a:solidFill>
              <a:srgbClr val="4F46E5">
                <a:alpha val="12000"/>
              </a:srgbClr>
            </a:solidFill>
            <a:prstDash val="solid"/>
          </a:ln>
        </p:spPr>
      </p:sp>
      <p:sp>
        <p:nvSpPr>
          <p:cNvPr id="4" name="Shape 2"/>
          <p:cNvSpPr/>
          <p:nvPr/>
        </p:nvSpPr>
        <p:spPr>
          <a:xfrm>
            <a:off x="5943600" y="1828800"/>
            <a:ext cx="4572000" cy="4572000"/>
          </a:xfrm>
          <a:prstGeom prst="ellipse">
            <a:avLst/>
          </a:prstGeom>
          <a:solidFill>
            <a:srgbClr val="06B6D4">
              <a:alpha val="10000"/>
            </a:srgbClr>
          </a:solidFill>
          <a:ln w="12700">
            <a:solidFill>
              <a:srgbClr val="06B6D4">
                <a:alpha val="10000"/>
              </a:srgbClr>
            </a:solidFill>
            <a:prstDash val="solid"/>
          </a:ln>
        </p:spPr>
      </p:sp>
      <p:sp>
        <p:nvSpPr>
          <p:cNvPr id="5" name="Shape 3"/>
          <p:cNvSpPr/>
          <p:nvPr/>
        </p:nvSpPr>
        <p:spPr>
          <a:xfrm>
            <a:off x="4114800" y="502920"/>
            <a:ext cx="475488" cy="475488"/>
          </a:xfrm>
          <a:prstGeom prst="roundRect">
            <a:avLst>
              <a:gd name="adj" fmla="val 17308"/>
            </a:avLst>
          </a:prstGeom>
          <a:solidFill>
            <a:srgbClr val="4F46E5"/>
          </a:solidFill>
          <a:ln w="12700">
            <a:solidFill>
              <a:srgbClr val="4F46E5"/>
            </a:solidFill>
            <a:prstDash val="solid"/>
          </a:ln>
        </p:spPr>
      </p:sp>
      <p:sp>
        <p:nvSpPr>
          <p:cNvPr id="6" name="Text 4"/>
          <p:cNvSpPr/>
          <p:nvPr/>
        </p:nvSpPr>
        <p:spPr>
          <a:xfrm>
            <a:off x="4114800" y="502920"/>
            <a:ext cx="475488" cy="475488"/>
          </a:xfrm>
          <a:prstGeom prst="rect">
            <a:avLst/>
          </a:prstGeom>
          <a:noFill/>
          <a:ln/>
        </p:spPr>
        <p:txBody>
          <a:bodyPr wrap="square" rtlCol="0" anchor="ctr"/>
          <a:lstStyle/>
          <a:p>
            <a:pPr algn="ctr" indent="0" marL="0">
              <a:buNone/>
            </a:pPr>
            <a:r>
              <a:rPr lang="en-US" sz="2200" dirty="0">
                <a:solidFill>
                  <a:srgbClr val="F8FAFC"/>
                </a:solidFill>
              </a:rPr>
              <a:t>✦</a:t>
            </a:r>
            <a:endParaRPr lang="en-US" sz="2200" dirty="0"/>
          </a:p>
        </p:txBody>
      </p:sp>
      <p:sp>
        <p:nvSpPr>
          <p:cNvPr id="7" name="Text 5"/>
          <p:cNvSpPr/>
          <p:nvPr/>
        </p:nvSpPr>
        <p:spPr>
          <a:xfrm>
            <a:off x="502920" y="1207008"/>
            <a:ext cx="8229600" cy="685800"/>
          </a:xfrm>
          <a:prstGeom prst="rect">
            <a:avLst/>
          </a:prstGeom>
          <a:noFill/>
          <a:ln/>
        </p:spPr>
        <p:txBody>
          <a:bodyPr wrap="square" lIns="0" tIns="0" rIns="0" bIns="0" rtlCol="0" anchor="ctr"/>
          <a:lstStyle/>
          <a:p>
            <a:pPr algn="ctr" indent="0" marL="0">
              <a:buNone/>
            </a:pPr>
            <a:r>
              <a:rPr lang="en-US" sz="4800" b="1" dirty="0">
                <a:solidFill>
                  <a:srgbClr val="F8FAFC"/>
                </a:solidFill>
              </a:rPr>
              <a:t>DataQuality AI</a:t>
            </a:r>
            <a:endParaRPr lang="en-US" sz="4800" dirty="0"/>
          </a:p>
        </p:txBody>
      </p:sp>
      <p:sp>
        <p:nvSpPr>
          <p:cNvPr id="8" name="Text 6"/>
          <p:cNvSpPr/>
          <p:nvPr/>
        </p:nvSpPr>
        <p:spPr>
          <a:xfrm>
            <a:off x="502920" y="1920240"/>
            <a:ext cx="8229600" cy="475488"/>
          </a:xfrm>
          <a:prstGeom prst="rect">
            <a:avLst/>
          </a:prstGeom>
          <a:noFill/>
          <a:ln/>
        </p:spPr>
        <p:txBody>
          <a:bodyPr wrap="square" lIns="0" tIns="0" rIns="0" bIns="0" rtlCol="0" anchor="ctr"/>
          <a:lstStyle/>
          <a:p>
            <a:pPr algn="ctr" indent="0" marL="0">
              <a:buNone/>
            </a:pPr>
            <a:r>
              <a:rPr lang="en-US" sz="2000" dirty="0">
                <a:solidFill>
                  <a:srgbClr val="06B6D4"/>
                </a:solidFill>
              </a:rPr>
              <a:t>Find problems before they find you.</a:t>
            </a:r>
            <a:endParaRPr lang="en-US" sz="2000" dirty="0"/>
          </a:p>
        </p:txBody>
      </p:sp>
      <p:sp>
        <p:nvSpPr>
          <p:cNvPr id="9" name="Text 7"/>
          <p:cNvSpPr/>
          <p:nvPr/>
        </p:nvSpPr>
        <p:spPr>
          <a:xfrm>
            <a:off x="1371600" y="2633472"/>
            <a:ext cx="6400800" cy="685800"/>
          </a:xfrm>
          <a:prstGeom prst="rect">
            <a:avLst/>
          </a:prstGeom>
          <a:noFill/>
          <a:ln/>
        </p:spPr>
        <p:txBody>
          <a:bodyPr wrap="square" lIns="0" tIns="0" rIns="0" bIns="0" rtlCol="0" anchor="ctr"/>
          <a:lstStyle/>
          <a:p>
            <a:pPr algn="ctr" indent="0" marL="0">
              <a:lnSpc>
                <a:spcPts val="2000"/>
              </a:lnSpc>
              <a:buNone/>
            </a:pPr>
            <a:r>
              <a:rPr lang="en-US" sz="1300" dirty="0">
                <a:solidFill>
                  <a:srgbClr val="94A3B8"/>
                </a:solidFill>
              </a:rPr>
              <a:t>Most companies only discover bad data when something has already gone wrong.</a:t>
            </a:r>
            <a:endParaRPr lang="en-US" sz="1300" dirty="0"/>
          </a:p>
          <a:p>
            <a:pPr algn="ctr" indent="0" marL="0">
              <a:lnSpc>
                <a:spcPts val="2000"/>
              </a:lnSpc>
              <a:buNone/>
            </a:pPr>
            <a:r>
              <a:rPr lang="en-US" sz="1300" dirty="0">
                <a:solidFill>
                  <a:srgbClr val="94A3B8"/>
                </a:solidFill>
              </a:rPr>
              <a:t>This platform finds it first — and shows you exactly how to fix it.</a:t>
            </a:r>
            <a:endParaRPr lang="en-US" sz="1300" dirty="0"/>
          </a:p>
        </p:txBody>
      </p:sp>
      <p:sp>
        <p:nvSpPr>
          <p:cNvPr id="10" name="Text 8"/>
          <p:cNvSpPr/>
          <p:nvPr/>
        </p:nvSpPr>
        <p:spPr>
          <a:xfrm>
            <a:off x="1371600" y="3611880"/>
            <a:ext cx="2103120" cy="475488"/>
          </a:xfrm>
          <a:prstGeom prst="rect">
            <a:avLst/>
          </a:prstGeom>
          <a:noFill/>
          <a:ln/>
        </p:spPr>
        <p:txBody>
          <a:bodyPr wrap="square" lIns="0" tIns="0" rIns="0" bIns="0" rtlCol="0" anchor="ctr"/>
          <a:lstStyle/>
          <a:p>
            <a:pPr algn="ctr" indent="0" marL="0">
              <a:buNone/>
            </a:pPr>
            <a:r>
              <a:rPr lang="en-US" sz="2600" b="1" dirty="0">
                <a:solidFill>
                  <a:srgbClr val="4F46E5"/>
                </a:solidFill>
              </a:rPr>
              <a:t>500+</a:t>
            </a:r>
            <a:endParaRPr lang="en-US" sz="2600" dirty="0"/>
          </a:p>
        </p:txBody>
      </p:sp>
      <p:sp>
        <p:nvSpPr>
          <p:cNvPr id="11" name="Text 9"/>
          <p:cNvSpPr/>
          <p:nvPr/>
        </p:nvSpPr>
        <p:spPr>
          <a:xfrm>
            <a:off x="1371600" y="4114800"/>
            <a:ext cx="2103120" cy="274320"/>
          </a:xfrm>
          <a:prstGeom prst="rect">
            <a:avLst/>
          </a:prstGeom>
          <a:noFill/>
          <a:ln/>
        </p:spPr>
        <p:txBody>
          <a:bodyPr wrap="square" lIns="0" tIns="0" rIns="0" bIns="0" rtlCol="0" anchor="ctr"/>
          <a:lstStyle/>
          <a:p>
            <a:pPr algn="ctr" indent="0" marL="0">
              <a:buNone/>
            </a:pPr>
            <a:r>
              <a:rPr lang="en-US" sz="1050" dirty="0">
                <a:solidFill>
                  <a:srgbClr val="94A3B8"/>
                </a:solidFill>
              </a:rPr>
              <a:t>Companies using it</a:t>
            </a:r>
            <a:endParaRPr lang="en-US" sz="1050" dirty="0"/>
          </a:p>
        </p:txBody>
      </p:sp>
      <p:sp>
        <p:nvSpPr>
          <p:cNvPr id="12" name="Text 10"/>
          <p:cNvSpPr/>
          <p:nvPr/>
        </p:nvSpPr>
        <p:spPr>
          <a:xfrm>
            <a:off x="3703320" y="3611880"/>
            <a:ext cx="2103120" cy="475488"/>
          </a:xfrm>
          <a:prstGeom prst="rect">
            <a:avLst/>
          </a:prstGeom>
          <a:noFill/>
          <a:ln/>
        </p:spPr>
        <p:txBody>
          <a:bodyPr wrap="square" lIns="0" tIns="0" rIns="0" bIns="0" rtlCol="0" anchor="ctr"/>
          <a:lstStyle/>
          <a:p>
            <a:pPr algn="ctr" indent="0" marL="0">
              <a:buNone/>
            </a:pPr>
            <a:r>
              <a:rPr lang="en-US" sz="2600" b="1" dirty="0">
                <a:solidFill>
                  <a:srgbClr val="4F46E5"/>
                </a:solidFill>
              </a:rPr>
              <a:t>2.1B+</a:t>
            </a:r>
            <a:endParaRPr lang="en-US" sz="2600" dirty="0"/>
          </a:p>
        </p:txBody>
      </p:sp>
      <p:sp>
        <p:nvSpPr>
          <p:cNvPr id="13" name="Text 11"/>
          <p:cNvSpPr/>
          <p:nvPr/>
        </p:nvSpPr>
        <p:spPr>
          <a:xfrm>
            <a:off x="3703320" y="4114800"/>
            <a:ext cx="2103120" cy="274320"/>
          </a:xfrm>
          <a:prstGeom prst="rect">
            <a:avLst/>
          </a:prstGeom>
          <a:noFill/>
          <a:ln/>
        </p:spPr>
        <p:txBody>
          <a:bodyPr wrap="square" lIns="0" tIns="0" rIns="0" bIns="0" rtlCol="0" anchor="ctr"/>
          <a:lstStyle/>
          <a:p>
            <a:pPr algn="ctr" indent="0" marL="0">
              <a:buNone/>
            </a:pPr>
            <a:r>
              <a:rPr lang="en-US" sz="1050" dirty="0">
                <a:solidFill>
                  <a:srgbClr val="94A3B8"/>
                </a:solidFill>
              </a:rPr>
              <a:t>Records scanned</a:t>
            </a:r>
            <a:endParaRPr lang="en-US" sz="1050" dirty="0"/>
          </a:p>
        </p:txBody>
      </p:sp>
      <p:sp>
        <p:nvSpPr>
          <p:cNvPr id="14" name="Text 12"/>
          <p:cNvSpPr/>
          <p:nvPr/>
        </p:nvSpPr>
        <p:spPr>
          <a:xfrm>
            <a:off x="6035040" y="3611880"/>
            <a:ext cx="2103120" cy="475488"/>
          </a:xfrm>
          <a:prstGeom prst="rect">
            <a:avLst/>
          </a:prstGeom>
          <a:noFill/>
          <a:ln/>
        </p:spPr>
        <p:txBody>
          <a:bodyPr wrap="square" lIns="0" tIns="0" rIns="0" bIns="0" rtlCol="0" anchor="ctr"/>
          <a:lstStyle/>
          <a:p>
            <a:pPr algn="ctr" indent="0" marL="0">
              <a:buNone/>
            </a:pPr>
            <a:r>
              <a:rPr lang="en-US" sz="2600" b="1" dirty="0">
                <a:solidFill>
                  <a:srgbClr val="4F46E5"/>
                </a:solidFill>
              </a:rPr>
              <a:t>99.9%</a:t>
            </a:r>
            <a:endParaRPr lang="en-US" sz="2600" dirty="0"/>
          </a:p>
        </p:txBody>
      </p:sp>
      <p:sp>
        <p:nvSpPr>
          <p:cNvPr id="15" name="Text 13"/>
          <p:cNvSpPr/>
          <p:nvPr/>
        </p:nvSpPr>
        <p:spPr>
          <a:xfrm>
            <a:off x="6035040" y="4114800"/>
            <a:ext cx="2103120" cy="274320"/>
          </a:xfrm>
          <a:prstGeom prst="rect">
            <a:avLst/>
          </a:prstGeom>
          <a:noFill/>
          <a:ln/>
        </p:spPr>
        <p:txBody>
          <a:bodyPr wrap="square" lIns="0" tIns="0" rIns="0" bIns="0" rtlCol="0" anchor="ctr"/>
          <a:lstStyle/>
          <a:p>
            <a:pPr algn="ctr" indent="0" marL="0">
              <a:buNone/>
            </a:pPr>
            <a:r>
              <a:rPr lang="en-US" sz="1050" dirty="0">
                <a:solidFill>
                  <a:srgbClr val="94A3B8"/>
                </a:solidFill>
              </a:rPr>
              <a:t>Uptime guaranteed</a:t>
            </a:r>
            <a:endParaRPr lang="en-US" sz="1050" dirty="0"/>
          </a:p>
        </p:txBody>
      </p:sp>
      <p:sp>
        <p:nvSpPr>
          <p:cNvPr id="16" name="Text 14"/>
          <p:cNvSpPr/>
          <p:nvPr/>
        </p:nvSpPr>
        <p:spPr>
          <a:xfrm>
            <a:off x="502920" y="4709160"/>
            <a:ext cx="8229600" cy="256032"/>
          </a:xfrm>
          <a:prstGeom prst="rect">
            <a:avLst/>
          </a:prstGeom>
          <a:noFill/>
          <a:ln/>
        </p:spPr>
        <p:txBody>
          <a:bodyPr wrap="square" lIns="0" tIns="0" rIns="0" bIns="0" rtlCol="0" anchor="ctr"/>
          <a:lstStyle/>
          <a:p>
            <a:pPr algn="ctr" indent="0" marL="0">
              <a:buNone/>
            </a:pPr>
            <a:r>
              <a:rPr lang="en-US" sz="1100" i="1" dirty="0">
                <a:solidFill>
                  <a:srgbClr val="94A3B8"/>
                </a:solidFill>
              </a:rPr>
              <a:t>Thank you — happy to answer any questions.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2026-08-25T00:25:59Z</dcterms:created>
  <dcterms:modified xsi:type="dcterms:W3CDTF">2026-08-25T00:25:59Z</dcterms:modified>
</cp:coreProperties>
</file>